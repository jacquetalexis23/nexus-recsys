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1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1438" autoAdjust="0"/>
  </p:normalViewPr>
  <p:slideViewPr>
    <p:cSldViewPr snapToGrid="0" snapToObjects="1">
      <p:cViewPr varScale="1">
        <p:scale>
          <a:sx n="89" d="100"/>
          <a:sy n="89" d="100"/>
        </p:scale>
        <p:origin x="128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ila Maria Abduca" userId="b2eb59c3-4a0c-4042-a308-940cfd8606aa" providerId="ADAL" clId="{3096589E-A249-4E20-8EE7-251CDCC4F39D}"/>
    <pc:docChg chg="undo custSel modSld">
      <pc:chgData name="Leila Maria Abduca" userId="b2eb59c3-4a0c-4042-a308-940cfd8606aa" providerId="ADAL" clId="{3096589E-A249-4E20-8EE7-251CDCC4F39D}" dt="2026-03-23T21:41:35.968" v="582" actId="108"/>
      <pc:docMkLst>
        <pc:docMk/>
      </pc:docMkLst>
      <pc:sldChg chg="modSp mod">
        <pc:chgData name="Leila Maria Abduca" userId="b2eb59c3-4a0c-4042-a308-940cfd8606aa" providerId="ADAL" clId="{3096589E-A249-4E20-8EE7-251CDCC4F39D}" dt="2026-03-23T15:41:52.502" v="0" actId="6549"/>
        <pc:sldMkLst>
          <pc:docMk/>
          <pc:sldMk cId="0" sldId="257"/>
        </pc:sldMkLst>
        <pc:spChg chg="mod">
          <ac:chgData name="Leila Maria Abduca" userId="b2eb59c3-4a0c-4042-a308-940cfd8606aa" providerId="ADAL" clId="{3096589E-A249-4E20-8EE7-251CDCC4F39D}" dt="2026-03-23T15:41:52.502" v="0" actId="6549"/>
          <ac:spMkLst>
            <pc:docMk/>
            <pc:sldMk cId="0" sldId="257"/>
            <ac:spMk id="22" creationId="{00000000-0000-0000-0000-000000000000}"/>
          </ac:spMkLst>
        </pc:spChg>
      </pc:sldChg>
      <pc:sldChg chg="addSp delSp modSp mod">
        <pc:chgData name="Leila Maria Abduca" userId="b2eb59c3-4a0c-4042-a308-940cfd8606aa" providerId="ADAL" clId="{3096589E-A249-4E20-8EE7-251CDCC4F39D}" dt="2026-03-23T21:41:35.968" v="582" actId="108"/>
        <pc:sldMkLst>
          <pc:docMk/>
          <pc:sldMk cId="0" sldId="258"/>
        </pc:sldMkLst>
        <pc:spChg chg="mod">
          <ac:chgData name="Leila Maria Abduca" userId="b2eb59c3-4a0c-4042-a308-940cfd8606aa" providerId="ADAL" clId="{3096589E-A249-4E20-8EE7-251CDCC4F39D}" dt="2026-03-23T15:43:37.988" v="41" actId="1038"/>
          <ac:spMkLst>
            <pc:docMk/>
            <pc:sldMk cId="0" sldId="258"/>
            <ac:spMk id="2" creationId="{00000000-0000-0000-0000-000000000000}"/>
          </ac:spMkLst>
        </pc:spChg>
        <pc:spChg chg="del">
          <ac:chgData name="Leila Maria Abduca" userId="b2eb59c3-4a0c-4042-a308-940cfd8606aa" providerId="ADAL" clId="{3096589E-A249-4E20-8EE7-251CDCC4F39D}" dt="2026-03-23T15:44:48.193" v="44" actId="478"/>
          <ac:spMkLst>
            <pc:docMk/>
            <pc:sldMk cId="0" sldId="258"/>
            <ac:spMk id="8" creationId="{00000000-0000-0000-0000-000000000000}"/>
          </ac:spMkLst>
        </pc:spChg>
        <pc:spChg chg="mod">
          <ac:chgData name="Leila Maria Abduca" userId="b2eb59c3-4a0c-4042-a308-940cfd8606aa" providerId="ADAL" clId="{3096589E-A249-4E20-8EE7-251CDCC4F39D}" dt="2026-03-23T20:34:49.572" v="422" actId="20577"/>
          <ac:spMkLst>
            <pc:docMk/>
            <pc:sldMk cId="0" sldId="258"/>
            <ac:spMk id="22" creationId="{00000000-0000-0000-0000-000000000000}"/>
          </ac:spMkLst>
        </pc:spChg>
        <pc:spChg chg="mod">
          <ac:chgData name="Leila Maria Abduca" userId="b2eb59c3-4a0c-4042-a308-940cfd8606aa" providerId="ADAL" clId="{3096589E-A249-4E20-8EE7-251CDCC4F39D}" dt="2026-03-23T20:26:23.909" v="394" actId="20577"/>
          <ac:spMkLst>
            <pc:docMk/>
            <pc:sldMk cId="0" sldId="258"/>
            <ac:spMk id="23" creationId="{00000000-0000-0000-0000-000000000000}"/>
          </ac:spMkLst>
        </pc:spChg>
        <pc:spChg chg="mod">
          <ac:chgData name="Leila Maria Abduca" userId="b2eb59c3-4a0c-4042-a308-940cfd8606aa" providerId="ADAL" clId="{3096589E-A249-4E20-8EE7-251CDCC4F39D}" dt="2026-03-23T20:31:12.499" v="421" actId="20577"/>
          <ac:spMkLst>
            <pc:docMk/>
            <pc:sldMk cId="0" sldId="258"/>
            <ac:spMk id="24" creationId="{00000000-0000-0000-0000-000000000000}"/>
          </ac:spMkLst>
        </pc:spChg>
        <pc:spChg chg="mod">
          <ac:chgData name="Leila Maria Abduca" userId="b2eb59c3-4a0c-4042-a308-940cfd8606aa" providerId="ADAL" clId="{3096589E-A249-4E20-8EE7-251CDCC4F39D}" dt="2026-03-23T21:37:42.870" v="504" actId="20577"/>
          <ac:spMkLst>
            <pc:docMk/>
            <pc:sldMk cId="0" sldId="258"/>
            <ac:spMk id="25" creationId="{00000000-0000-0000-0000-000000000000}"/>
          </ac:spMkLst>
        </pc:spChg>
        <pc:spChg chg="mod">
          <ac:chgData name="Leila Maria Abduca" userId="b2eb59c3-4a0c-4042-a308-940cfd8606aa" providerId="ADAL" clId="{3096589E-A249-4E20-8EE7-251CDCC4F39D}" dt="2026-03-23T15:43:37.988" v="41" actId="1038"/>
          <ac:spMkLst>
            <pc:docMk/>
            <pc:sldMk cId="0" sldId="258"/>
            <ac:spMk id="29" creationId="{00000000-0000-0000-0000-000000000000}"/>
          </ac:spMkLst>
        </pc:spChg>
        <pc:spChg chg="mod">
          <ac:chgData name="Leila Maria Abduca" userId="b2eb59c3-4a0c-4042-a308-940cfd8606aa" providerId="ADAL" clId="{3096589E-A249-4E20-8EE7-251CDCC4F39D}" dt="2026-03-23T15:43:37.988" v="41" actId="1038"/>
          <ac:spMkLst>
            <pc:docMk/>
            <pc:sldMk cId="0" sldId="258"/>
            <ac:spMk id="32" creationId="{00000000-0000-0000-0000-000000000000}"/>
          </ac:spMkLst>
        </pc:spChg>
        <pc:spChg chg="mod">
          <ac:chgData name="Leila Maria Abduca" userId="b2eb59c3-4a0c-4042-a308-940cfd8606aa" providerId="ADAL" clId="{3096589E-A249-4E20-8EE7-251CDCC4F39D}" dt="2026-03-23T15:43:37.988" v="41" actId="1038"/>
          <ac:spMkLst>
            <pc:docMk/>
            <pc:sldMk cId="0" sldId="258"/>
            <ac:spMk id="35" creationId="{00000000-0000-0000-0000-000000000000}"/>
          </ac:spMkLst>
        </pc:spChg>
        <pc:spChg chg="mod">
          <ac:chgData name="Leila Maria Abduca" userId="b2eb59c3-4a0c-4042-a308-940cfd8606aa" providerId="ADAL" clId="{3096589E-A249-4E20-8EE7-251CDCC4F39D}" dt="2026-03-23T21:41:06.202" v="579" actId="1076"/>
          <ac:spMkLst>
            <pc:docMk/>
            <pc:sldMk cId="0" sldId="258"/>
            <ac:spMk id="36" creationId="{00000000-0000-0000-0000-000000000000}"/>
          </ac:spMkLst>
        </pc:spChg>
        <pc:spChg chg="mod">
          <ac:chgData name="Leila Maria Abduca" userId="b2eb59c3-4a0c-4042-a308-940cfd8606aa" providerId="ADAL" clId="{3096589E-A249-4E20-8EE7-251CDCC4F39D}" dt="2026-03-23T21:41:35.968" v="582" actId="108"/>
          <ac:spMkLst>
            <pc:docMk/>
            <pc:sldMk cId="0" sldId="258"/>
            <ac:spMk id="39" creationId="{00000000-0000-0000-0000-000000000000}"/>
          </ac:spMkLst>
        </pc:spChg>
        <pc:spChg chg="add mod">
          <ac:chgData name="Leila Maria Abduca" userId="b2eb59c3-4a0c-4042-a308-940cfd8606aa" providerId="ADAL" clId="{3096589E-A249-4E20-8EE7-251CDCC4F39D}" dt="2026-03-23T21:38:11.189" v="516" actId="1076"/>
          <ac:spMkLst>
            <pc:docMk/>
            <pc:sldMk cId="0" sldId="258"/>
            <ac:spMk id="47" creationId="{7B53D529-C7B9-7C6C-085B-0A6EB65E1DDD}"/>
          </ac:spMkLst>
        </pc:spChg>
        <pc:spChg chg="add mod">
          <ac:chgData name="Leila Maria Abduca" userId="b2eb59c3-4a0c-4042-a308-940cfd8606aa" providerId="ADAL" clId="{3096589E-A249-4E20-8EE7-251CDCC4F39D}" dt="2026-03-23T21:40:51.232" v="577" actId="1076"/>
          <ac:spMkLst>
            <pc:docMk/>
            <pc:sldMk cId="0" sldId="258"/>
            <ac:spMk id="49" creationId="{C9546C0B-1849-41B9-E320-7E86027248C2}"/>
          </ac:spMkLst>
        </pc:spChg>
        <pc:picChg chg="add mod">
          <ac:chgData name="Leila Maria Abduca" userId="b2eb59c3-4a0c-4042-a308-940cfd8606aa" providerId="ADAL" clId="{3096589E-A249-4E20-8EE7-251CDCC4F39D}" dt="2026-03-23T21:35:31.754" v="493" actId="1076"/>
          <ac:picMkLst>
            <pc:docMk/>
            <pc:sldMk cId="0" sldId="258"/>
            <ac:picMk id="46" creationId="{0F4E32E8-778B-A395-1C09-6130001C59A3}"/>
          </ac:picMkLst>
        </pc:picChg>
        <pc:picChg chg="add del mod">
          <ac:chgData name="Leila Maria Abduca" userId="b2eb59c3-4a0c-4042-a308-940cfd8606aa" providerId="ADAL" clId="{3096589E-A249-4E20-8EE7-251CDCC4F39D}" dt="2026-03-23T21:36:35.666" v="496" actId="478"/>
          <ac:picMkLst>
            <pc:docMk/>
            <pc:sldMk cId="0" sldId="258"/>
            <ac:picMk id="48" creationId="{78D313B6-50C8-5F0D-E1B3-CEADC7992FAF}"/>
          </ac:picMkLst>
        </pc:picChg>
      </pc:sldChg>
      <pc:sldChg chg="modSp mod">
        <pc:chgData name="Leila Maria Abduca" userId="b2eb59c3-4a0c-4042-a308-940cfd8606aa" providerId="ADAL" clId="{3096589E-A249-4E20-8EE7-251CDCC4F39D}" dt="2026-03-23T15:46:37.502" v="51"/>
        <pc:sldMkLst>
          <pc:docMk/>
          <pc:sldMk cId="0" sldId="259"/>
        </pc:sldMkLst>
        <pc:spChg chg="mod">
          <ac:chgData name="Leila Maria Abduca" userId="b2eb59c3-4a0c-4042-a308-940cfd8606aa" providerId="ADAL" clId="{3096589E-A249-4E20-8EE7-251CDCC4F39D}" dt="2026-03-23T15:46:06.305" v="46" actId="1076"/>
          <ac:spMkLst>
            <pc:docMk/>
            <pc:sldMk cId="0" sldId="259"/>
            <ac:spMk id="21" creationId="{00000000-0000-0000-0000-000000000000}"/>
          </ac:spMkLst>
        </pc:spChg>
        <pc:spChg chg="mod">
          <ac:chgData name="Leila Maria Abduca" userId="b2eb59c3-4a0c-4042-a308-940cfd8606aa" providerId="ADAL" clId="{3096589E-A249-4E20-8EE7-251CDCC4F39D}" dt="2026-03-23T15:46:26.132" v="48" actId="21"/>
          <ac:spMkLst>
            <pc:docMk/>
            <pc:sldMk cId="0" sldId="259"/>
            <ac:spMk id="28" creationId="{00000000-0000-0000-0000-000000000000}"/>
          </ac:spMkLst>
        </pc:spChg>
        <pc:spChg chg="mod">
          <ac:chgData name="Leila Maria Abduca" userId="b2eb59c3-4a0c-4042-a308-940cfd8606aa" providerId="ADAL" clId="{3096589E-A249-4E20-8EE7-251CDCC4F39D}" dt="2026-03-23T15:46:34.701" v="50" actId="21"/>
          <ac:spMkLst>
            <pc:docMk/>
            <pc:sldMk cId="0" sldId="259"/>
            <ac:spMk id="30" creationId="{00000000-0000-0000-0000-000000000000}"/>
          </ac:spMkLst>
        </pc:spChg>
        <pc:spChg chg="mod">
          <ac:chgData name="Leila Maria Abduca" userId="b2eb59c3-4a0c-4042-a308-940cfd8606aa" providerId="ADAL" clId="{3096589E-A249-4E20-8EE7-251CDCC4F39D}" dt="2026-03-23T15:46:37.502" v="51"/>
          <ac:spMkLst>
            <pc:docMk/>
            <pc:sldMk cId="0" sldId="259"/>
            <ac:spMk id="32" creationId="{00000000-0000-0000-0000-000000000000}"/>
          </ac:spMkLst>
        </pc:spChg>
      </pc:sldChg>
      <pc:sldChg chg="modSp mod">
        <pc:chgData name="Leila Maria Abduca" userId="b2eb59c3-4a0c-4042-a308-940cfd8606aa" providerId="ADAL" clId="{3096589E-A249-4E20-8EE7-251CDCC4F39D}" dt="2026-03-23T19:25:55.791" v="62" actId="20577"/>
        <pc:sldMkLst>
          <pc:docMk/>
          <pc:sldMk cId="0" sldId="260"/>
        </pc:sldMkLst>
        <pc:spChg chg="mod">
          <ac:chgData name="Leila Maria Abduca" userId="b2eb59c3-4a0c-4042-a308-940cfd8606aa" providerId="ADAL" clId="{3096589E-A249-4E20-8EE7-251CDCC4F39D}" dt="2026-03-23T19:25:55.791" v="62" actId="20577"/>
          <ac:spMkLst>
            <pc:docMk/>
            <pc:sldMk cId="0" sldId="260"/>
            <ac:spMk id="35" creationId="{00000000-0000-0000-0000-000000000000}"/>
          </ac:spMkLst>
        </pc:spChg>
      </pc:sldChg>
      <pc:sldChg chg="modSp mod">
        <pc:chgData name="Leila Maria Abduca" userId="b2eb59c3-4a0c-4042-a308-940cfd8606aa" providerId="ADAL" clId="{3096589E-A249-4E20-8EE7-251CDCC4F39D}" dt="2026-03-23T19:38:54.147" v="363" actId="20577"/>
        <pc:sldMkLst>
          <pc:docMk/>
          <pc:sldMk cId="0" sldId="261"/>
        </pc:sldMkLst>
        <pc:spChg chg="mod">
          <ac:chgData name="Leila Maria Abduca" userId="b2eb59c3-4a0c-4042-a308-940cfd8606aa" providerId="ADAL" clId="{3096589E-A249-4E20-8EE7-251CDCC4F39D}" dt="2026-03-23T19:35:19.554" v="346" actId="20577"/>
          <ac:spMkLst>
            <pc:docMk/>
            <pc:sldMk cId="0" sldId="261"/>
            <ac:spMk id="2" creationId="{00000000-0000-0000-0000-000000000000}"/>
          </ac:spMkLst>
        </pc:spChg>
        <pc:spChg chg="mod">
          <ac:chgData name="Leila Maria Abduca" userId="b2eb59c3-4a0c-4042-a308-940cfd8606aa" providerId="ADAL" clId="{3096589E-A249-4E20-8EE7-251CDCC4F39D}" dt="2026-03-23T19:35:23.128" v="357" actId="20577"/>
          <ac:spMkLst>
            <pc:docMk/>
            <pc:sldMk cId="0" sldId="261"/>
            <ac:spMk id="7" creationId="{00000000-0000-0000-0000-000000000000}"/>
          </ac:spMkLst>
        </pc:spChg>
        <pc:spChg chg="mod">
          <ac:chgData name="Leila Maria Abduca" userId="b2eb59c3-4a0c-4042-a308-940cfd8606aa" providerId="ADAL" clId="{3096589E-A249-4E20-8EE7-251CDCC4F39D}" dt="2026-03-23T19:29:17.932" v="96" actId="20577"/>
          <ac:spMkLst>
            <pc:docMk/>
            <pc:sldMk cId="0" sldId="261"/>
            <ac:spMk id="16" creationId="{00000000-0000-0000-0000-000000000000}"/>
          </ac:spMkLst>
        </pc:spChg>
        <pc:spChg chg="mod">
          <ac:chgData name="Leila Maria Abduca" userId="b2eb59c3-4a0c-4042-a308-940cfd8606aa" providerId="ADAL" clId="{3096589E-A249-4E20-8EE7-251CDCC4F39D}" dt="2026-03-23T19:27:09.710" v="95" actId="20577"/>
          <ac:spMkLst>
            <pc:docMk/>
            <pc:sldMk cId="0" sldId="261"/>
            <ac:spMk id="17" creationId="{00000000-0000-0000-0000-000000000000}"/>
          </ac:spMkLst>
        </pc:spChg>
        <pc:spChg chg="mod">
          <ac:chgData name="Leila Maria Abduca" userId="b2eb59c3-4a0c-4042-a308-940cfd8606aa" providerId="ADAL" clId="{3096589E-A249-4E20-8EE7-251CDCC4F39D}" dt="2026-03-23T19:31:13.405" v="270" actId="20577"/>
          <ac:spMkLst>
            <pc:docMk/>
            <pc:sldMk cId="0" sldId="261"/>
            <ac:spMk id="25" creationId="{00000000-0000-0000-0000-000000000000}"/>
          </ac:spMkLst>
        </pc:spChg>
        <pc:spChg chg="mod">
          <ac:chgData name="Leila Maria Abduca" userId="b2eb59c3-4a0c-4042-a308-940cfd8606aa" providerId="ADAL" clId="{3096589E-A249-4E20-8EE7-251CDCC4F39D}" dt="2026-03-23T19:30:31.087" v="196" actId="20577"/>
          <ac:spMkLst>
            <pc:docMk/>
            <pc:sldMk cId="0" sldId="261"/>
            <ac:spMk id="29" creationId="{00000000-0000-0000-0000-000000000000}"/>
          </ac:spMkLst>
        </pc:spChg>
        <pc:spChg chg="mod">
          <ac:chgData name="Leila Maria Abduca" userId="b2eb59c3-4a0c-4042-a308-940cfd8606aa" providerId="ADAL" clId="{3096589E-A249-4E20-8EE7-251CDCC4F39D}" dt="2026-03-23T19:38:54.147" v="363" actId="20577"/>
          <ac:spMkLst>
            <pc:docMk/>
            <pc:sldMk cId="0" sldId="261"/>
            <ac:spMk id="33" creationId="{00000000-0000-0000-0000-000000000000}"/>
          </ac:spMkLst>
        </pc:spChg>
        <pc:spChg chg="mod">
          <ac:chgData name="Leila Maria Abduca" userId="b2eb59c3-4a0c-4042-a308-940cfd8606aa" providerId="ADAL" clId="{3096589E-A249-4E20-8EE7-251CDCC4F39D}" dt="2026-03-23T19:26:27.859" v="63" actId="20577"/>
          <ac:spMkLst>
            <pc:docMk/>
            <pc:sldMk cId="0" sldId="261"/>
            <ac:spMk id="40" creationId="{00000000-0000-0000-0000-000000000000}"/>
          </ac:spMkLst>
        </pc:spChg>
        <pc:spChg chg="mod">
          <ac:chgData name="Leila Maria Abduca" userId="b2eb59c3-4a0c-4042-a308-940cfd8606aa" providerId="ADAL" clId="{3096589E-A249-4E20-8EE7-251CDCC4F39D}" dt="2026-03-23T19:26:36.152" v="64" actId="20577"/>
          <ac:spMkLst>
            <pc:docMk/>
            <pc:sldMk cId="0" sldId="261"/>
            <ac:spMk id="4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03208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 TÉCNICA. Resaltar: 25+ modelos, 15 notebooks, resultado final NDCG@10=0.0431 (+50.8%). Dataset real de e-commerce.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estructura. Este deck es técnico — enfocado en datos, metodología, modelos y resultados.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NB01: 2.75M eventos, 3 tipos. NB02: power law en ítems — 5% concentra 80% interacciones. NB03: funnel VIEW→ADDTOCART→TRANSACTION, conversión 1.4%. La sparsidad 99.999% es el desafío técnico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Estos tres desafíos son los que determinan qué familia de modelos funciona. La sparsidad extrema es por qué el deep learning falla — no hay suficiente señal para que los gradientes sean útiles. El feedback implícito requiere ponderación especial. El sesgo de popularidad se mitiga con RP3beta (β-penalización).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NB04: pipeline que une 3 fuentes de datos — eventos + propiedades de ítems (20M registros) + árbol de categorías. Feature clave: interaction_strength (view=1, cart=2, transaction=3). NB05: demographics sintéticos para LightGBM. NB06: 47 features de usuario, ítem e interacción. El split es TEMPORAL (corte 2015-08-22) — no aleatorio, para evitar data leakage.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el split temporal: todo antes del 2015-08-22 es train, todo después es test. No hay data leakage posible. Se evalúa sobre 3000 usuarios 'warm' (tienen ítems en train Y en test). NDCG es la métrica principal porque queremos que el ítem correcto aparezca en la posición 1, no en la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modelos evaluados. SVD básico (k=50) es el ganador de NB07 — supera incluso al híbrido SVD+CB porque el CB añade ruido para usuarios con poco historial. NMF falla completamente por la sparsidad. LightGBM es sorprendentemente bajo — las features no compensan la falta de señal colaborativa.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NB08 añade TD (Temporal Decay λ=0.03) e IPS (Inverse Propensity Score γ=0.4). SVD+TD+IPS obtiene NDCG@10=0.0093 (+15% sobre NB07). El ConvLift@10=1749× significa que el sistema es 1749 veces mejor que recomendar al azar para generar compras. El fairness audit muestra que el híbrido es mejor para usuarios warm (+30%), pero peor para cold.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NB09 es el slide más importante técnicamente. RP3beta salta de 0.0093 a 0.0258 (+176%). EASE^R también brilla (+108%). El deep learning falla por 3 razones: sparsidad extrema, limitación de CPU y error de protocolo en SASRec. Citar Dacrema et al. 2019: 'métodos clásicos bien optimizados superan a deep learning en datasets sparse'.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NB10: Mult-VAE^PR muy competitivo (-1.2% de RP3beta) pero requiere 7091s de entrenamiento vs 6s de RP3beta — no viable en producción. NB12 corrige SASRec: filtra usuarios con ≥5 ítems, usa leave-one-out temporal y arquitectura completa. NB11 analiza sensibilidad: con filtro ≥10 el NDCG sube 112%, confirmando que la limitación es la sparsidad del dataset, no el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slide muestra la evolución completa. Los puntos clave: 1) Deep learning (BPR, NCF, SASRec) fracasa. 2) RP3beta y EASE^R son el gran salto en NB09. 3) El ensemble final supera al mejor modelo individual en +50.8%. La historia es de selección de algoritmos + combinación inteligente.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clave del ensemble es la COMPLEMENTARIEDAD: EASE^R tiene ρ=0.216 con los demás modelos. Cuando un modelo ve el espacio diferente, el ensemble gana. Los 100 trials de Optuna (vs 40 en NB14) encuentran mejores pesos y suben el NDCG de 0.04069 a 0.04310. La exploración NB15 confirma que el trío original es óptimo — más modelos no ayudan.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CORRECCIÓN CLAVE: el protagonista es el ENSEMBLE, no RP3beta. RP3beta individual llega a 0.0286. El ensemble llega a 0.0431 (+50.8%). La diferencia la hace la COMPLEMENTARIEDAD con EASE^R (ρ=0.216). Ningún modelo individual alcanza ese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Arquitectura 2-stages estándar en producción. Stage 1 (FAISS): recuperar 100 candidatos en &lt;10ms. Stage 2 (LightGBM): re-rankear con features contextuales (hora, dispositivo, recencia). RP3beta permite actualización incremental diaria sin re-entrenar desde cero.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— La narrativa correcta: el ensemble ES el modelo ganador. No RP3beta. El ensemble combina 3 componentes con señales complementarias (ρ=0.216 entre EASE^R y RP3) y alcanza 0.0431 vs 0.0286 individual. Ese es el logro central del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4.png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15.png"/><Relationship Id="rId4" Type="http://schemas.openxmlformats.org/officeDocument/2006/relationships/image" Target="../media/image7.png"/><Relationship Id="rId9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-914400"/>
            <a:ext cx="5486400" cy="5486400"/>
          </a:xfrm>
          <a:prstGeom prst="ellipse">
            <a:avLst/>
          </a:prstGeom>
          <a:solidFill>
            <a:srgbClr val="0D2A55">
              <a:alpha val="40000"/>
            </a:srgbClr>
          </a:solidFill>
          <a:ln w="12700">
            <a:solidFill>
              <a:srgbClr val="0D2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1828800"/>
            <a:ext cx="4572000" cy="4572000"/>
          </a:xfrm>
          <a:prstGeom prst="ellipse">
            <a:avLst/>
          </a:prstGeom>
          <a:solidFill>
            <a:srgbClr val="001535">
              <a:alpha val="30000"/>
            </a:srgbClr>
          </a:solidFill>
          <a:ln w="12700">
            <a:solidFill>
              <a:srgbClr val="0015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320" y="274320"/>
            <a:ext cx="1737360" cy="1737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6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DATA CO.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2578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Recomendación de Productos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457200" y="32186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Técnica · Entrega Final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200400" y="3703320"/>
            <a:ext cx="2743200" cy="27432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RetailRocket · 2.75M eventos · 25+ modelos · 15 notebooks · NDCG@10 = 0.0431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Técnica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bloques · 20 minutos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20040" y="1188720"/>
            <a:ext cx="2697480" cy="1691640"/>
          </a:xfrm>
          <a:prstGeom prst="rect">
            <a:avLst/>
          </a:prstGeom>
          <a:solidFill>
            <a:srgbClr val="080F1E"/>
          </a:solidFill>
          <a:ln w="12700">
            <a:solidFill>
              <a:srgbClr val="0EA5DC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20040" y="1188720"/>
            <a:ext cx="2697480" cy="54864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" y="128016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411480" y="170078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&amp;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2377440"/>
            <a:ext cx="2331720" cy="365760"/>
          </a:xfrm>
          <a:prstGeom prst="rect">
            <a:avLst/>
          </a:prstGeom>
          <a:solidFill>
            <a:srgbClr val="1A3A6A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Int. 1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200400" y="1188720"/>
            <a:ext cx="2697480" cy="1691640"/>
          </a:xfrm>
          <a:prstGeom prst="rect">
            <a:avLst/>
          </a:prstGeom>
          <a:solidFill>
            <a:srgbClr val="080F1E"/>
          </a:solidFill>
          <a:ln w="12700">
            <a:solidFill>
              <a:srgbClr val="0EA5DC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00400" y="1188720"/>
            <a:ext cx="2697480" cy="54864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200400" y="128016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3291840" y="170078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&amp;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Procesado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383280" y="2377440"/>
            <a:ext cx="2331720" cy="365760"/>
          </a:xfrm>
          <a:prstGeom prst="rect">
            <a:avLst/>
          </a:prstGeom>
          <a:solidFill>
            <a:srgbClr val="1A3A6A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38328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Int. 1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080760" y="1188720"/>
            <a:ext cx="2697480" cy="1691640"/>
          </a:xfrm>
          <a:prstGeom prst="rect">
            <a:avLst/>
          </a:prstGeom>
          <a:solidFill>
            <a:srgbClr val="080F1E"/>
          </a:solidFill>
          <a:ln w="12700">
            <a:solidFill>
              <a:srgbClr val="9B59B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080760" y="1188720"/>
            <a:ext cx="2697480" cy="54864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080760" y="128016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6172200" y="170078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263640" y="2377440"/>
            <a:ext cx="2331720" cy="365760"/>
          </a:xfrm>
          <a:prstGeom prst="rect">
            <a:avLst/>
          </a:prstGeom>
          <a:solidFill>
            <a:srgbClr val="1A3A6A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26364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Int. 2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20040" y="3108960"/>
            <a:ext cx="2697480" cy="1691640"/>
          </a:xfrm>
          <a:prstGeom prst="rect">
            <a:avLst/>
          </a:prstGeom>
          <a:solidFill>
            <a:srgbClr val="080F1E"/>
          </a:solidFill>
          <a:ln w="12700">
            <a:solidFill>
              <a:srgbClr val="FF8C0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20040" y="3108960"/>
            <a:ext cx="2697480" cy="54864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20040" y="32004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411480" y="362102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Avanzados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02920" y="4297680"/>
            <a:ext cx="2331720" cy="365760"/>
          </a:xfrm>
          <a:prstGeom prst="rect">
            <a:avLst/>
          </a:prstGeom>
          <a:solidFill>
            <a:srgbClr val="1A3A6A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02920" y="42976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Int. 3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200400" y="3108960"/>
            <a:ext cx="2697480" cy="1691640"/>
          </a:xfrm>
          <a:prstGeom prst="rect">
            <a:avLst/>
          </a:prstGeom>
          <a:solidFill>
            <a:srgbClr val="080F1E"/>
          </a:solidFill>
          <a:ln w="12700">
            <a:solidFill>
              <a:srgbClr val="00E5A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3200400" y="3108960"/>
            <a:ext cx="2697480" cy="54864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200400" y="32004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3291840" y="362102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&amp;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Ganador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3383280" y="4297680"/>
            <a:ext cx="2331720" cy="365760"/>
          </a:xfrm>
          <a:prstGeom prst="rect">
            <a:avLst/>
          </a:prstGeom>
          <a:solidFill>
            <a:srgbClr val="1A3A6A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3383280" y="42976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Int. 4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6080760" y="3108960"/>
            <a:ext cx="2697480" cy="1691640"/>
          </a:xfrm>
          <a:prstGeom prst="rect">
            <a:avLst/>
          </a:prstGeom>
          <a:solidFill>
            <a:srgbClr val="080F1E"/>
          </a:solidFill>
          <a:ln w="12700">
            <a:solidFill>
              <a:srgbClr val="FFC04D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080760" y="3108960"/>
            <a:ext cx="2697480" cy="54864"/>
          </a:xfrm>
          <a:prstGeom prst="rect">
            <a:avLst/>
          </a:prstGeom>
          <a:solidFill>
            <a:srgbClr val="FFC04D"/>
          </a:solidFill>
          <a:ln w="12700">
            <a:solidFill>
              <a:srgbClr val="FFC04D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080760" y="32004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C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40" name="Text 37"/>
          <p:cNvSpPr/>
          <p:nvPr/>
        </p:nvSpPr>
        <p:spPr>
          <a:xfrm>
            <a:off x="6172200" y="362102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&amp;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263640" y="4297680"/>
            <a:ext cx="2331720" cy="365760"/>
          </a:xfrm>
          <a:prstGeom prst="rect">
            <a:avLst/>
          </a:prstGeom>
          <a:solidFill>
            <a:srgbClr val="1A3A6A"/>
          </a:solidFill>
          <a:ln w="12700">
            <a:solidFill>
              <a:srgbClr val="FFC04D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263640" y="42976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C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Int. 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9750" y="4572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EDA · INTEGRANTE 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RetailRocket (Kaggle)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320040" y="1261872"/>
            <a:ext cx="2011680" cy="1234440"/>
          </a:xfrm>
          <a:prstGeom prst="rect">
            <a:avLst/>
          </a:prstGeom>
          <a:solidFill>
            <a:srgbClr val="041530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20040" y="1298448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2.75M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320040" y="1901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totales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" y="217627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/ addtocart / transaction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468880" y="1261872"/>
            <a:ext cx="2011680" cy="1234440"/>
          </a:xfrm>
          <a:prstGeom prst="rect">
            <a:avLst/>
          </a:prstGeom>
          <a:solidFill>
            <a:srgbClr val="041530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2468880" y="1298448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1.4M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2468880" y="1901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únicos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514600" y="217627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al menos 1 interacción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617720" y="1261872"/>
            <a:ext cx="2011680" cy="1234440"/>
          </a:xfrm>
          <a:prstGeom prst="rect">
            <a:avLst/>
          </a:prstGeom>
          <a:solidFill>
            <a:srgbClr val="041530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617720" y="1298448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235K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4617720" y="1901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Ítems en catálogo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663440" y="217627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417K en catálogo completo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766560" y="1261872"/>
            <a:ext cx="2011680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F8C0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6766560" y="1298448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99.8%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6766560" y="1901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Propiedades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hasheadas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812280" y="217627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</a:t>
            </a:r>
            <a:r>
              <a:rPr lang="en-US" sz="900" i="1" dirty="0" err="1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descartan</a:t>
            </a:r>
            <a:r>
              <a:rPr lang="en-US" sz="9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r>
              <a:rPr lang="en-US" sz="9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basados</a:t>
            </a:r>
            <a:r>
              <a:rPr lang="en-US" sz="9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9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301752" y="2624328"/>
            <a:ext cx="4206240" cy="2368296"/>
          </a:xfrm>
          <a:prstGeom prst="rect">
            <a:avLst/>
          </a:prstGeom>
          <a:solidFill>
            <a:srgbClr val="060D1A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AR" dirty="0"/>
          </a:p>
        </p:txBody>
      </p:sp>
      <p:sp>
        <p:nvSpPr>
          <p:cNvPr id="26" name="Text 23"/>
          <p:cNvSpPr/>
          <p:nvPr/>
        </p:nvSpPr>
        <p:spPr>
          <a:xfrm>
            <a:off x="457200" y="27432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de Eventos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57200" y="31272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1783080" y="3163824"/>
            <a:ext cx="2214585" cy="201168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047510" y="313587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89.7%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57200" y="36758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addtocart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1783080" y="3712464"/>
            <a:ext cx="185166" cy="20116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047510" y="368451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457200" y="422452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1783080" y="4261104"/>
            <a:ext cx="69129" cy="201168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047510" y="423315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2.8%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645152" y="2651760"/>
            <a:ext cx="4069080" cy="2340864"/>
          </a:xfrm>
          <a:prstGeom prst="rect">
            <a:avLst/>
          </a:prstGeom>
          <a:solidFill>
            <a:srgbClr val="060D1A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4892040" y="27432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Clave del EDA</a:t>
            </a:r>
            <a:endParaRPr lang="en-US" sz="1300" dirty="0"/>
          </a:p>
        </p:txBody>
      </p:sp>
      <p:pic>
        <p:nvPicPr>
          <p:cNvPr id="3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127248"/>
            <a:ext cx="256032" cy="256032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5193792" y="310896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AR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89.8% de usuarios son </a:t>
            </a:r>
            <a:r>
              <a:rPr lang="es-AR" sz="1100" dirty="0" err="1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r>
              <a:rPr lang="es-AR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-time</a:t>
            </a:r>
          </a:p>
          <a:p>
            <a:pPr marL="0" indent="0">
              <a:buNone/>
            </a:pPr>
            <a:endParaRPr lang="en-US" sz="1100" dirty="0"/>
          </a:p>
        </p:txBody>
      </p:sp>
      <p:pic>
        <p:nvPicPr>
          <p:cNvPr id="4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639312"/>
            <a:ext cx="256032" cy="256032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5193792" y="3621024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de ítems concentran el 80% de interacciones (power law)</a:t>
            </a:r>
            <a:endParaRPr lang="en-US" sz="1100" dirty="0"/>
          </a:p>
        </p:txBody>
      </p:sp>
      <p:pic>
        <p:nvPicPr>
          <p:cNvPr id="4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4151376"/>
            <a:ext cx="256032" cy="256032"/>
          </a:xfrm>
          <a:prstGeom prst="rect">
            <a:avLst/>
          </a:prstGeom>
        </p:spPr>
      </p:pic>
      <p:sp>
        <p:nvSpPr>
          <p:cNvPr id="43" name="Text 37"/>
          <p:cNvSpPr/>
          <p:nvPr/>
        </p:nvSpPr>
        <p:spPr>
          <a:xfrm>
            <a:off x="5193792" y="413308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con ≥3 visitas convierten 4× más</a:t>
            </a:r>
            <a:endParaRPr lang="en-US" sz="1100" dirty="0"/>
          </a:p>
        </p:txBody>
      </p:sp>
      <p:pic>
        <p:nvPicPr>
          <p:cNvPr id="44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4663440"/>
            <a:ext cx="256032" cy="256032"/>
          </a:xfrm>
          <a:prstGeom prst="rect">
            <a:avLst/>
          </a:prstGeom>
        </p:spPr>
      </p:pic>
      <p:sp>
        <p:nvSpPr>
          <p:cNvPr id="45" name="Text 38"/>
          <p:cNvSpPr/>
          <p:nvPr/>
        </p:nvSpPr>
        <p:spPr>
          <a:xfrm>
            <a:off x="5193792" y="46451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ítems por usuario = 1 (cold start masivo)</a:t>
            </a:r>
            <a:endParaRPr lang="en-US" sz="1100" dirty="0"/>
          </a:p>
        </p:txBody>
      </p:sp>
      <p:pic>
        <p:nvPicPr>
          <p:cNvPr id="46" name="Image 1" descr="preencoded.png">
            <a:extLst>
              <a:ext uri="{FF2B5EF4-FFF2-40B4-BE49-F238E27FC236}">
                <a16:creationId xmlns:a16="http://schemas.microsoft.com/office/drawing/2014/main" id="{0F4E32E8-778B-A395-1C09-6130001C59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666" y="4734710"/>
            <a:ext cx="210255" cy="210255"/>
          </a:xfrm>
          <a:prstGeom prst="rect">
            <a:avLst/>
          </a:prstGeom>
        </p:spPr>
      </p:pic>
      <p:sp>
        <p:nvSpPr>
          <p:cNvPr id="47" name="Text 35">
            <a:extLst>
              <a:ext uri="{FF2B5EF4-FFF2-40B4-BE49-F238E27FC236}">
                <a16:creationId xmlns:a16="http://schemas.microsoft.com/office/drawing/2014/main" id="{7B53D529-C7B9-7C6C-085B-0A6EB65E1DDD}"/>
              </a:ext>
            </a:extLst>
          </p:cNvPr>
          <p:cNvSpPr/>
          <p:nvPr/>
        </p:nvSpPr>
        <p:spPr>
          <a:xfrm>
            <a:off x="630361" y="4691335"/>
            <a:ext cx="1940496" cy="285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</a:t>
            </a:r>
            <a:r>
              <a:rPr lang="en-US" sz="1100" dirty="0" err="1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view </a:t>
            </a: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 </a:t>
            </a:r>
            <a:r>
              <a:rPr lang="en-US" sz="1100" dirty="0" err="1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addtocart</a:t>
            </a: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: </a:t>
            </a:r>
            <a:r>
              <a:rPr lang="es-A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2.7%</a:t>
            </a:r>
            <a:endParaRPr lang="en-US" sz="1100" dirty="0"/>
          </a:p>
        </p:txBody>
      </p:sp>
      <p:sp>
        <p:nvSpPr>
          <p:cNvPr id="49" name="Text 35">
            <a:extLst>
              <a:ext uri="{FF2B5EF4-FFF2-40B4-BE49-F238E27FC236}">
                <a16:creationId xmlns:a16="http://schemas.microsoft.com/office/drawing/2014/main" id="{C9546C0B-1849-41B9-E320-7E86027248C2}"/>
              </a:ext>
            </a:extLst>
          </p:cNvPr>
          <p:cNvSpPr/>
          <p:nvPr/>
        </p:nvSpPr>
        <p:spPr>
          <a:xfrm>
            <a:off x="2662297" y="4667054"/>
            <a:ext cx="1940496" cy="285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1.4% de view </a:t>
            </a:r>
            <a:r>
              <a:rPr lang="en-US" sz="1100" dirty="0" err="1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terminan</a:t>
            </a: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</a:t>
            </a:r>
            <a:r>
              <a:rPr lang="en-US" sz="11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EDA · INTEGRANTE 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 Críticas del Dataset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desafíos que definen la arquitectura del sistema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92608" y="1261872"/>
            <a:ext cx="2788920" cy="3520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F8C0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92608" y="1261872"/>
            <a:ext cx="2788920" cy="64008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3896" y="141732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6616" y="1938528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Sparsidad Extrema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56616" y="2331720"/>
            <a:ext cx="2660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99.9994%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356616" y="2788920"/>
            <a:ext cx="2660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pares user-item vacíos</a:t>
            </a:r>
            <a:endParaRPr lang="en-US" sz="10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3127248"/>
            <a:ext cx="201168" cy="20116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58368" y="309067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de ítems/usuario: 1.52</a:t>
            </a:r>
            <a:endParaRPr lang="en-US" sz="10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3566160"/>
            <a:ext cx="201168" cy="2011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58368" y="352958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 75 = exactamente 1 ítem</a:t>
            </a:r>
            <a:endParaRPr lang="en-US" sz="10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4005072"/>
            <a:ext cx="201168" cy="20116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58368" y="3968496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57.5% de usuarios: solo 1 ítem en train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3218688" y="1261872"/>
            <a:ext cx="2788920" cy="3520440"/>
          </a:xfrm>
          <a:prstGeom prst="rect">
            <a:avLst/>
          </a:prstGeom>
          <a:solidFill>
            <a:srgbClr val="0A001A"/>
          </a:solidFill>
          <a:ln w="12700">
            <a:solidFill>
              <a:srgbClr val="9B59B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Shape 15"/>
          <p:cNvSpPr/>
          <p:nvPr/>
        </p:nvSpPr>
        <p:spPr>
          <a:xfrm>
            <a:off x="3218688" y="1261872"/>
            <a:ext cx="2788920" cy="6400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9976" y="1417320"/>
            <a:ext cx="457200" cy="45720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3282696" y="1938528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Implícito</a:t>
            </a:r>
            <a:endParaRPr lang="en-US" sz="1400" dirty="0"/>
          </a:p>
        </p:txBody>
      </p:sp>
      <p:sp>
        <p:nvSpPr>
          <p:cNvPr id="25" name="Text 17"/>
          <p:cNvSpPr/>
          <p:nvPr/>
        </p:nvSpPr>
        <p:spPr>
          <a:xfrm>
            <a:off x="3282696" y="2331720"/>
            <a:ext cx="2660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26" name="Text 18"/>
          <p:cNvSpPr/>
          <p:nvPr/>
        </p:nvSpPr>
        <p:spPr>
          <a:xfrm>
            <a:off x="3282696" y="2788920"/>
            <a:ext cx="2660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explícitos</a:t>
            </a:r>
            <a:endParaRPr lang="en-US" sz="1000" dirty="0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8416" y="3127248"/>
            <a:ext cx="201168" cy="201168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3584448" y="309067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 err="1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</a:t>
            </a: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ponderación</a:t>
            </a: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000" dirty="0" err="1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</a:t>
            </a:r>
            <a:endParaRPr lang="en-US" sz="1000" dirty="0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8416" y="3566160"/>
            <a:ext cx="201168" cy="20116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3584448" y="352958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= 1 punto, Cart = 2, Transaction = 3</a:t>
            </a:r>
            <a:endParaRPr lang="en-US" sz="1000" dirty="0"/>
          </a:p>
        </p:txBody>
      </p:sp>
      <p:pic>
        <p:nvPicPr>
          <p:cNvPr id="31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8416" y="4005072"/>
            <a:ext cx="201168" cy="201168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3584448" y="3968496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</a:t>
            </a: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000" dirty="0" err="1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confianza</a:t>
            </a: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 </a:t>
            </a:r>
            <a:r>
              <a:rPr lang="en-US" sz="1000" dirty="0" err="1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preferencia</a:t>
            </a: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directa</a:t>
            </a:r>
            <a:endParaRPr lang="en-US" sz="1000" dirty="0"/>
          </a:p>
        </p:txBody>
      </p:sp>
      <p:sp>
        <p:nvSpPr>
          <p:cNvPr id="33" name="Shape 22"/>
          <p:cNvSpPr/>
          <p:nvPr/>
        </p:nvSpPr>
        <p:spPr>
          <a:xfrm>
            <a:off x="6144768" y="1261872"/>
            <a:ext cx="2788920" cy="3520440"/>
          </a:xfrm>
          <a:prstGeom prst="rect">
            <a:avLst/>
          </a:prstGeom>
          <a:solidFill>
            <a:srgbClr val="001A0A"/>
          </a:solidFill>
          <a:ln w="12700">
            <a:solidFill>
              <a:srgbClr val="00E5A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4" name="Shape 23"/>
          <p:cNvSpPr/>
          <p:nvPr/>
        </p:nvSpPr>
        <p:spPr>
          <a:xfrm>
            <a:off x="6144768" y="1261872"/>
            <a:ext cx="2788920" cy="64008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pic>
        <p:nvPicPr>
          <p:cNvPr id="35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6056" y="1417320"/>
            <a:ext cx="457200" cy="457200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6208776" y="1938528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Sesgo de Popularidad</a:t>
            </a:r>
            <a:endParaRPr lang="en-US" sz="1400" dirty="0"/>
          </a:p>
        </p:txBody>
      </p:sp>
      <p:sp>
        <p:nvSpPr>
          <p:cNvPr id="37" name="Text 25"/>
          <p:cNvSpPr/>
          <p:nvPr/>
        </p:nvSpPr>
        <p:spPr>
          <a:xfrm>
            <a:off x="6208776" y="2331720"/>
            <a:ext cx="2660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Law</a:t>
            </a:r>
            <a:endParaRPr lang="en-US" sz="2200" dirty="0"/>
          </a:p>
        </p:txBody>
      </p:sp>
      <p:sp>
        <p:nvSpPr>
          <p:cNvPr id="38" name="Text 26"/>
          <p:cNvSpPr/>
          <p:nvPr/>
        </p:nvSpPr>
        <p:spPr>
          <a:xfrm>
            <a:off x="6208776" y="2788920"/>
            <a:ext cx="2660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de ítems</a:t>
            </a:r>
            <a:endParaRPr lang="en-US" sz="1000" dirty="0"/>
          </a:p>
        </p:txBody>
      </p:sp>
      <p:pic>
        <p:nvPicPr>
          <p:cNvPr id="3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6" y="3127248"/>
            <a:ext cx="201168" cy="201168"/>
          </a:xfrm>
          <a:prstGeom prst="rect">
            <a:avLst/>
          </a:prstGeom>
        </p:spPr>
      </p:pic>
      <p:sp>
        <p:nvSpPr>
          <p:cNvPr id="40" name="Text 27"/>
          <p:cNvSpPr/>
          <p:nvPr/>
        </p:nvSpPr>
        <p:spPr>
          <a:xfrm>
            <a:off x="6510528" y="309067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 de ítems más populares &gt; 50% interacciones</a:t>
            </a:r>
            <a:endParaRPr lang="en-US" sz="1000" dirty="0"/>
          </a:p>
        </p:txBody>
      </p:sp>
      <p:pic>
        <p:nvPicPr>
          <p:cNvPr id="41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6" y="3566160"/>
            <a:ext cx="201168" cy="201168"/>
          </a:xfrm>
          <a:prstGeom prst="rect">
            <a:avLst/>
          </a:prstGeom>
        </p:spPr>
      </p:pic>
      <p:sp>
        <p:nvSpPr>
          <p:cNvPr id="42" name="Text 28"/>
          <p:cNvSpPr/>
          <p:nvPr/>
        </p:nvSpPr>
        <p:spPr>
          <a:xfrm>
            <a:off x="6510528" y="352958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filter bubble</a:t>
            </a:r>
            <a:endParaRPr lang="en-US" sz="1000" dirty="0"/>
          </a:p>
        </p:txBody>
      </p:sp>
      <p:pic>
        <p:nvPicPr>
          <p:cNvPr id="43" name="Image 1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6" y="4005072"/>
            <a:ext cx="201168" cy="201168"/>
          </a:xfrm>
          <a:prstGeom prst="rect">
            <a:avLst/>
          </a:prstGeom>
        </p:spPr>
      </p:pic>
      <p:sp>
        <p:nvSpPr>
          <p:cNvPr id="44" name="Text 29"/>
          <p:cNvSpPr/>
          <p:nvPr/>
        </p:nvSpPr>
        <p:spPr>
          <a:xfrm>
            <a:off x="6510528" y="3968496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β-penalización en RP3beta mitiga esto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PIPELINE · INTEGRANTE 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Datos (NB04–NB06)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eventos crudos a features listos para modelado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" y="1234440"/>
            <a:ext cx="2697480" cy="1600200"/>
          </a:xfrm>
          <a:prstGeom prst="rect">
            <a:avLst/>
          </a:prstGeom>
          <a:solidFill>
            <a:srgbClr val="041530"/>
          </a:solidFill>
          <a:ln w="12700">
            <a:solidFill>
              <a:srgbClr val="0EA5DC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" y="1234440"/>
            <a:ext cx="2697480" cy="54864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5608" y="137160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84048" y="1901952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384048" y="2286000"/>
            <a:ext cx="2569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events.csv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item_props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category_tree</a:t>
            </a:r>
            <a:endParaRPr lang="en-US" sz="10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4952" y="1984248"/>
            <a:ext cx="164592" cy="16459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3200400" y="1234440"/>
            <a:ext cx="2697480" cy="1600200"/>
          </a:xfrm>
          <a:prstGeom prst="rect">
            <a:avLst/>
          </a:prstGeom>
          <a:solidFill>
            <a:srgbClr val="0A0018"/>
          </a:solidFill>
          <a:ln w="12700">
            <a:solidFill>
              <a:srgbClr val="9B59B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3200400" y="1234440"/>
            <a:ext cx="2697480" cy="54864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5968" y="1371600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3264408" y="1901952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(NB04)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3264408" y="2286000"/>
            <a:ext cx="2569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events +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+ categories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2.14M rows</a:t>
            </a:r>
            <a:endParaRPr lang="en-US" sz="100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2" y="1984248"/>
            <a:ext cx="164592" cy="164592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080760" y="1234440"/>
            <a:ext cx="2697480" cy="1600200"/>
          </a:xfrm>
          <a:prstGeom prst="rect">
            <a:avLst/>
          </a:prstGeom>
          <a:solidFill>
            <a:srgbClr val="0A0018"/>
          </a:solidFill>
          <a:ln w="12700">
            <a:solidFill>
              <a:srgbClr val="9B59B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Shape 15"/>
          <p:cNvSpPr/>
          <p:nvPr/>
        </p:nvSpPr>
        <p:spPr>
          <a:xfrm>
            <a:off x="6080760" y="1234440"/>
            <a:ext cx="2697480" cy="54864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6328" y="1371600"/>
            <a:ext cx="457200" cy="45720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6144768" y="1901952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Ponderación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(NB04)</a:t>
            </a:r>
            <a:endParaRPr lang="en-US" sz="1200" dirty="0"/>
          </a:p>
        </p:txBody>
      </p:sp>
      <p:sp>
        <p:nvSpPr>
          <p:cNvPr id="25" name="Text 17"/>
          <p:cNvSpPr/>
          <p:nvPr/>
        </p:nvSpPr>
        <p:spPr>
          <a:xfrm>
            <a:off x="6144768" y="2286000"/>
            <a:ext cx="2569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view=1, cart=2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transaction=3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interaction_strength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320040" y="3017520"/>
            <a:ext cx="2697480" cy="1600200"/>
          </a:xfrm>
          <a:prstGeom prst="rect">
            <a:avLst/>
          </a:prstGeom>
          <a:solidFill>
            <a:srgbClr val="041530"/>
          </a:solidFill>
          <a:ln w="12700">
            <a:solidFill>
              <a:srgbClr val="0EA5DC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20040" y="3017520"/>
            <a:ext cx="2697480" cy="54864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35608" y="3154680"/>
            <a:ext cx="457200" cy="45720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84048" y="3685032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Eng.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(NB06)</a:t>
            </a:r>
            <a:endParaRPr lang="en-US" sz="1200" dirty="0"/>
          </a:p>
        </p:txBody>
      </p:sp>
      <p:sp>
        <p:nvSpPr>
          <p:cNvPr id="30" name="Text 21"/>
          <p:cNvSpPr/>
          <p:nvPr/>
        </p:nvSpPr>
        <p:spPr>
          <a:xfrm>
            <a:off x="384048" y="4069080"/>
            <a:ext cx="2569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features: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recencia, frecuencia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diversidad categ.</a:t>
            </a:r>
            <a:endParaRPr lang="en-US" sz="1000" dirty="0"/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4952" y="3767328"/>
            <a:ext cx="164592" cy="164592"/>
          </a:xfrm>
          <a:prstGeom prst="rect">
            <a:avLst/>
          </a:prstGeom>
        </p:spPr>
      </p:pic>
      <p:sp>
        <p:nvSpPr>
          <p:cNvPr id="32" name="Shape 22"/>
          <p:cNvSpPr/>
          <p:nvPr/>
        </p:nvSpPr>
        <p:spPr>
          <a:xfrm>
            <a:off x="3200400" y="3017520"/>
            <a:ext cx="2697480" cy="1600200"/>
          </a:xfrm>
          <a:prstGeom prst="rect">
            <a:avLst/>
          </a:prstGeom>
          <a:solidFill>
            <a:srgbClr val="0A1A00"/>
          </a:solidFill>
          <a:ln w="12700">
            <a:solidFill>
              <a:srgbClr val="00E5A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3" name="Shape 23"/>
          <p:cNvSpPr/>
          <p:nvPr/>
        </p:nvSpPr>
        <p:spPr>
          <a:xfrm>
            <a:off x="3200400" y="3017520"/>
            <a:ext cx="2697480" cy="54864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pic>
        <p:nvPicPr>
          <p:cNvPr id="34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15968" y="3154680"/>
            <a:ext cx="457200" cy="457200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3264408" y="3685032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</a:t>
            </a:r>
            <a:endParaRPr lang="en-US" sz="1200" dirty="0"/>
          </a:p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36" name="Text 25"/>
          <p:cNvSpPr/>
          <p:nvPr/>
        </p:nvSpPr>
        <p:spPr>
          <a:xfrm>
            <a:off x="3264408" y="4069080"/>
            <a:ext cx="2569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User-Item Matrix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1.4M × 235K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top-20K filtrado</a:t>
            </a:r>
            <a:endParaRPr lang="en-US" sz="1000" dirty="0"/>
          </a:p>
        </p:txBody>
      </p:sp>
      <p:pic>
        <p:nvPicPr>
          <p:cNvPr id="37" name="Image 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2" y="3767328"/>
            <a:ext cx="164592" cy="164592"/>
          </a:xfrm>
          <a:prstGeom prst="rect">
            <a:avLst/>
          </a:prstGeom>
        </p:spPr>
      </p:pic>
      <p:sp>
        <p:nvSpPr>
          <p:cNvPr id="38" name="Shape 26"/>
          <p:cNvSpPr/>
          <p:nvPr/>
        </p:nvSpPr>
        <p:spPr>
          <a:xfrm>
            <a:off x="6080760" y="3017520"/>
            <a:ext cx="2697480" cy="1600200"/>
          </a:xfrm>
          <a:prstGeom prst="rect">
            <a:avLst/>
          </a:prstGeom>
          <a:solidFill>
            <a:srgbClr val="1A0A00"/>
          </a:solidFill>
          <a:ln w="12700">
            <a:solidFill>
              <a:srgbClr val="FF8C0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9" name="Shape 27"/>
          <p:cNvSpPr/>
          <p:nvPr/>
        </p:nvSpPr>
        <p:spPr>
          <a:xfrm>
            <a:off x="6080760" y="3017520"/>
            <a:ext cx="2697480" cy="54864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96328" y="3154680"/>
            <a:ext cx="457200" cy="457200"/>
          </a:xfrm>
          <a:prstGeom prst="rect">
            <a:avLst/>
          </a:prstGeom>
        </p:spPr>
      </p:pic>
      <p:sp>
        <p:nvSpPr>
          <p:cNvPr id="41" name="Text 28"/>
          <p:cNvSpPr/>
          <p:nvPr/>
        </p:nvSpPr>
        <p:spPr>
          <a:xfrm>
            <a:off x="6144768" y="3685032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Temporal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2015-08-22</a:t>
            </a:r>
            <a:endParaRPr lang="en-US" sz="1200" dirty="0"/>
          </a:p>
        </p:txBody>
      </p:sp>
      <p:sp>
        <p:nvSpPr>
          <p:cNvPr id="42" name="Text 29"/>
          <p:cNvSpPr/>
          <p:nvPr/>
        </p:nvSpPr>
        <p:spPr>
          <a:xfrm>
            <a:off x="6144768" y="4069080"/>
            <a:ext cx="2569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Train: 82.2%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17.8%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leakage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  <p:txBody>
          <a:bodyPr/>
          <a:lstStyle/>
          <a:p>
            <a:endParaRPr lang="es-AR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METODOLOGÍA · INTEGRANTE 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 de </a:t>
            </a:r>
            <a:r>
              <a:rPr lang="en-US" sz="2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</a:t>
            </a: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2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temporal · 3000 usuarios warm · 6 métricas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" y="1234440"/>
            <a:ext cx="4114800" cy="1188720"/>
          </a:xfrm>
          <a:prstGeom prst="rect">
            <a:avLst/>
          </a:prstGeom>
          <a:solidFill>
            <a:srgbClr val="040C18"/>
          </a:solidFill>
          <a:ln w="12700">
            <a:solidFill>
              <a:srgbClr val="0EA5DC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57200" y="12984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Temporal — Corte: 2015-08-22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1691640"/>
            <a:ext cx="3200400" cy="274320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691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5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 82.2%  (1.76M eventos)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657600" y="1691640"/>
            <a:ext cx="685800" cy="274320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57600" y="169164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5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17.8%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639312" y="1600200"/>
            <a:ext cx="3657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" y="2542032"/>
            <a:ext cx="8503920" cy="2331720"/>
          </a:xfrm>
          <a:prstGeom prst="rect">
            <a:avLst/>
          </a:prstGeom>
          <a:solidFill>
            <a:srgbClr val="040C18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AR" dirty="0"/>
          </a:p>
        </p:txBody>
      </p:sp>
      <p:sp>
        <p:nvSpPr>
          <p:cNvPr id="17" name="Text 14"/>
          <p:cNvSpPr/>
          <p:nvPr/>
        </p:nvSpPr>
        <p:spPr>
          <a:xfrm>
            <a:off x="457200" y="262432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de </a:t>
            </a: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primeras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 </a:t>
            </a: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7200" y="2990088"/>
            <a:ext cx="1874520" cy="292608"/>
          </a:xfrm>
          <a:prstGeom prst="rect">
            <a:avLst/>
          </a:prstGeom>
          <a:solidFill>
            <a:srgbClr val="0A1A2E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7200" y="29900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NDCG@K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423160" y="300837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Penaliza aciertos en posiciones bajas del ranking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669280" y="300837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Métrica principal — captura calidad de ordenamiento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57200" y="3374136"/>
            <a:ext cx="1874520" cy="292608"/>
          </a:xfrm>
          <a:prstGeom prst="rect">
            <a:avLst/>
          </a:prstGeom>
          <a:solidFill>
            <a:srgbClr val="0A1A2E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7200" y="337413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2423160" y="339242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Fracción de top-K que son ítems relevantes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669280" y="339242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Aciertos</a:t>
            </a: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de </a:t>
            </a:r>
            <a:r>
              <a:rPr lang="en-US" sz="1000" dirty="0" err="1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</a:t>
            </a: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recomendados</a:t>
            </a: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00" dirty="0" err="1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cuántos</a:t>
            </a: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eligió</a:t>
            </a: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.?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57200" y="3758184"/>
            <a:ext cx="1874520" cy="292608"/>
          </a:xfrm>
          <a:prstGeom prst="rect">
            <a:avLst/>
          </a:prstGeom>
          <a:solidFill>
            <a:srgbClr val="0A1A2E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200" y="375818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Recall@K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2423160" y="377647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Fracción de relevantes capturados en top-K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669280" y="37764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de preferencias del Usuario. De </a:t>
            </a:r>
            <a:r>
              <a:rPr lang="en-US" sz="1000" dirty="0" err="1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</a:t>
            </a: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elegidos</a:t>
            </a: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00" dirty="0" err="1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cuántos</a:t>
            </a: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fueron</a:t>
            </a: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recimendados</a:t>
            </a: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4142232"/>
            <a:ext cx="1874520" cy="292608"/>
          </a:xfrm>
          <a:prstGeom prst="rect">
            <a:avLst/>
          </a:prstGeom>
          <a:solidFill>
            <a:srgbClr val="0A1A2E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7200" y="414223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2423160" y="41605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del catálogo recomendado al menos una vez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5669280" y="41605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Anti-filter bubble — </a:t>
            </a:r>
            <a:r>
              <a:rPr lang="en-US" sz="1000" dirty="0" err="1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garantiza</a:t>
            </a: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diversidad</a:t>
            </a: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Sistema. </a:t>
            </a:r>
            <a:r>
              <a:rPr lang="en-US" sz="1000" dirty="0" err="1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Variedad</a:t>
            </a: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000" dirty="0" err="1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recomendación</a:t>
            </a: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 Total </a:t>
            </a:r>
            <a:r>
              <a:rPr lang="en-US" sz="1000" dirty="0" err="1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</a:t>
            </a: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57200" y="4526280"/>
            <a:ext cx="1874520" cy="292608"/>
          </a:xfrm>
          <a:prstGeom prst="rect">
            <a:avLst/>
          </a:prstGeom>
          <a:solidFill>
            <a:srgbClr val="0A1A2E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57200" y="452628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ConvLift@K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2423160" y="45445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Revenue@K / p_baseline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5669280" y="454456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1749× — veces mejor que recomendación aleatoria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4526280" y="1261872"/>
            <a:ext cx="4297680" cy="1143000"/>
          </a:xfrm>
          <a:prstGeom prst="rect">
            <a:avLst/>
          </a:prstGeom>
          <a:solidFill>
            <a:srgbClr val="080F1E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3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371600"/>
            <a:ext cx="292608" cy="29260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5047488" y="12984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</a:t>
            </a:r>
            <a:r>
              <a:rPr lang="en-US" sz="1100" b="1" dirty="0" err="1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</a:t>
            </a:r>
            <a:r>
              <a:rPr lang="en-US" sz="11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NDCG?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4663440" y="1618488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un problema de ranking,. NDCG mide si los ítems relevantes aparecen primero.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MODELOS BASE · INTEGRANTE 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Base — NB07 (8 modelos)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fase de evaluación · Algoritmos clásicos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" y="1234440"/>
            <a:ext cx="8503920" cy="3566160"/>
          </a:xfrm>
          <a:prstGeom prst="rect">
            <a:avLst/>
          </a:prstGeom>
          <a:solidFill>
            <a:srgbClr val="040A1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" y="1234440"/>
            <a:ext cx="8503920" cy="347472"/>
          </a:xfrm>
          <a:prstGeom prst="rect">
            <a:avLst/>
          </a:prstGeom>
          <a:solidFill>
            <a:srgbClr val="1A3A6A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1480" y="126187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154680" y="126187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NDCG@5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023360" y="126187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892040" y="126187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MAP@10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715000" y="12618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949440" y="126187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Time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20040" y="1609344"/>
            <a:ext cx="8503920" cy="356616"/>
          </a:xfrm>
          <a:prstGeom prst="rect">
            <a:avLst/>
          </a:prstGeom>
          <a:solidFill>
            <a:srgbClr val="08203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1645920"/>
            <a:ext cx="2651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(k=50) ★ MEJOR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154680" y="1645920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0.0074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023360" y="1645920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0.0081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892040" y="1645920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0.0059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715000" y="1645920"/>
            <a:ext cx="1097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0.41%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949440" y="164592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" y="1984248"/>
            <a:ext cx="8503920" cy="356616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11480" y="2020824"/>
            <a:ext cx="2651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Opt (k=90)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154680" y="2020824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0.0071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023360" y="2020824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0.0080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892040" y="2020824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0.0055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715000" y="2020824"/>
            <a:ext cx="1097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0.63%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949440" y="2020824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18.9s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20040" y="2359152"/>
            <a:ext cx="8503920" cy="356616"/>
          </a:xfrm>
          <a:prstGeom prst="rect">
            <a:avLst/>
          </a:prstGeom>
          <a:solidFill>
            <a:srgbClr val="060D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11480" y="2395728"/>
            <a:ext cx="2651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Híbrido (α=0.5)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3154680" y="2395728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0.0064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023360" y="2395728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0.0068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4892040" y="2395728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0.0048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5715000" y="2395728"/>
            <a:ext cx="1097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4.04%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6949440" y="2395728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32.4s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320040" y="2734056"/>
            <a:ext cx="8503920" cy="356616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11480" y="2770632"/>
            <a:ext cx="2651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Opt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3154680" y="2770632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0.0040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4023360" y="2770632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0.0049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4892040" y="2770632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0.0028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5715000" y="2770632"/>
            <a:ext cx="1097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0.03%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6949440" y="2770632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9.4s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320040" y="3108960"/>
            <a:ext cx="8503920" cy="356616"/>
          </a:xfrm>
          <a:prstGeom prst="rect">
            <a:avLst/>
          </a:prstGeom>
          <a:solidFill>
            <a:srgbClr val="060D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11480" y="3145536"/>
            <a:ext cx="2651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LTR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154680" y="3145536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0.0027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4023360" y="3145536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0.0041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4892040" y="3145536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0.0025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5715000" y="3145536"/>
            <a:ext cx="1097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0.03%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6949440" y="3145536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6.8s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320040" y="3483864"/>
            <a:ext cx="8503920" cy="356616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411480" y="3520440"/>
            <a:ext cx="2651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Popularity Baseline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3154680" y="3520440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0.0018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4023360" y="3520440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0.0024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4892040" y="3520440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0.0016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5715000" y="3520440"/>
            <a:ext cx="1097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0.005%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6949440" y="352044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0.4s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320040" y="3858768"/>
            <a:ext cx="8503920" cy="356616"/>
          </a:xfrm>
          <a:prstGeom prst="rect">
            <a:avLst/>
          </a:prstGeom>
          <a:solidFill>
            <a:srgbClr val="060D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411480" y="3895344"/>
            <a:ext cx="2651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Item-CF (SVD emb.)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3154680" y="3895344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</a:t>
            </a:r>
            <a:endParaRPr lang="en-US" sz="1000" dirty="0"/>
          </a:p>
        </p:txBody>
      </p:sp>
      <p:sp>
        <p:nvSpPr>
          <p:cNvPr id="62" name="Text 59"/>
          <p:cNvSpPr/>
          <p:nvPr/>
        </p:nvSpPr>
        <p:spPr>
          <a:xfrm>
            <a:off x="4023360" y="3895344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0.0019</a:t>
            </a:r>
            <a:endParaRPr lang="en-US" sz="1000" dirty="0"/>
          </a:p>
        </p:txBody>
      </p:sp>
      <p:sp>
        <p:nvSpPr>
          <p:cNvPr id="63" name="Text 60"/>
          <p:cNvSpPr/>
          <p:nvPr/>
        </p:nvSpPr>
        <p:spPr>
          <a:xfrm>
            <a:off x="4892040" y="3895344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</a:t>
            </a:r>
            <a:endParaRPr lang="en-US" sz="1000" dirty="0"/>
          </a:p>
        </p:txBody>
      </p:sp>
      <p:sp>
        <p:nvSpPr>
          <p:cNvPr id="64" name="Text 61"/>
          <p:cNvSpPr/>
          <p:nvPr/>
        </p:nvSpPr>
        <p:spPr>
          <a:xfrm>
            <a:off x="5715000" y="3895344"/>
            <a:ext cx="1097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9.24%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6949440" y="3895344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0.04s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320040" y="4233672"/>
            <a:ext cx="8503920" cy="356616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411480" y="4270248"/>
            <a:ext cx="2651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Content-Based Filtering</a:t>
            </a:r>
            <a:endParaRPr lang="en-US" sz="1000" dirty="0"/>
          </a:p>
        </p:txBody>
      </p:sp>
      <p:sp>
        <p:nvSpPr>
          <p:cNvPr id="68" name="Text 65"/>
          <p:cNvSpPr/>
          <p:nvPr/>
        </p:nvSpPr>
        <p:spPr>
          <a:xfrm>
            <a:off x="3154680" y="4270248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0.0013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4023360" y="4270248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0.0017</a:t>
            </a:r>
            <a:endParaRPr lang="en-US" sz="1000" dirty="0"/>
          </a:p>
        </p:txBody>
      </p:sp>
      <p:sp>
        <p:nvSpPr>
          <p:cNvPr id="70" name="Text 67"/>
          <p:cNvSpPr/>
          <p:nvPr/>
        </p:nvSpPr>
        <p:spPr>
          <a:xfrm>
            <a:off x="4892040" y="4270248"/>
            <a:ext cx="777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5715000" y="4270248"/>
            <a:ext cx="1097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8.32%</a:t>
            </a:r>
            <a:endParaRPr lang="en-US" sz="1000" dirty="0"/>
          </a:p>
        </p:txBody>
      </p:sp>
      <p:sp>
        <p:nvSpPr>
          <p:cNvPr id="72" name="Text 69"/>
          <p:cNvSpPr/>
          <p:nvPr/>
        </p:nvSpPr>
        <p:spPr>
          <a:xfrm>
            <a:off x="6949440" y="4270248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1.6s</a:t>
            </a:r>
            <a:endParaRPr lang="en-US" sz="1000" dirty="0"/>
          </a:p>
        </p:txBody>
      </p:sp>
      <p:sp>
        <p:nvSpPr>
          <p:cNvPr id="73" name="Shape 70"/>
          <p:cNvSpPr/>
          <p:nvPr/>
        </p:nvSpPr>
        <p:spPr>
          <a:xfrm>
            <a:off x="0" y="4800600"/>
            <a:ext cx="9144000" cy="338328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365760" y="48188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NMF produce solución degenerada (Coverage≈0.000043) con sparsidad 99.9994% — excluido. SVD supera al Híbrido porque el 57.5% de usuarios son cold, donde el CB añade ruido.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MÉTRICAS NEGOCIO · INTEGRANTE 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NB08 — Métricas de Negocio &amp; ROI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Nuevas métricas + mejoras con TD e IPS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" y="1234440"/>
            <a:ext cx="2377440" cy="2606040"/>
          </a:xfrm>
          <a:prstGeom prst="rect">
            <a:avLst/>
          </a:prstGeom>
          <a:solidFill>
            <a:srgbClr val="001A10"/>
          </a:solidFill>
          <a:ln w="12700">
            <a:solidFill>
              <a:srgbClr val="00E5A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" y="1234440"/>
            <a:ext cx="2377440" cy="64008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20040" y="1371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ConvLift@10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20040" y="17373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1749×</a:t>
            </a:r>
            <a:endParaRPr lang="en-US" sz="4800" dirty="0"/>
          </a:p>
        </p:txBody>
      </p:sp>
      <p:sp>
        <p:nvSpPr>
          <p:cNvPr id="13" name="Text 10"/>
          <p:cNvSpPr/>
          <p:nvPr/>
        </p:nvSpPr>
        <p:spPr>
          <a:xfrm>
            <a:off x="32004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que recomendar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ítems aleatorios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20040" y="30632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Revenue@K / p_baseline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834640" y="1234440"/>
            <a:ext cx="5989320" cy="2606040"/>
          </a:xfrm>
          <a:prstGeom prst="rect">
            <a:avLst/>
          </a:prstGeom>
          <a:solidFill>
            <a:srgbClr val="040A1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834640" y="1234440"/>
            <a:ext cx="5989320" cy="347472"/>
          </a:xfrm>
          <a:prstGeom prst="rect">
            <a:avLst/>
          </a:prstGeom>
          <a:solidFill>
            <a:srgbClr val="1A3A6A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26080" y="12618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349240" y="1261872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NDCG@5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172200" y="1261872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995160" y="1261872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CTR@10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818120" y="12618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2834640" y="1609344"/>
            <a:ext cx="5989320" cy="402336"/>
          </a:xfrm>
          <a:prstGeom prst="rect">
            <a:avLst/>
          </a:prstGeom>
          <a:solidFill>
            <a:srgbClr val="08203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926080" y="1655064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+ TD + IPS ★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349240" y="1655064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0.0088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172200" y="1655064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0.0093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995160" y="1655064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0.0025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7818120" y="165506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1.15%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2834640" y="2029968"/>
            <a:ext cx="5989320" cy="402336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926080" y="207568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+ IPS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5349240" y="2075688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0.0081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172200" y="2075688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0.0088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995160" y="2075688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818120" y="207568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1.06%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2834640" y="2450592"/>
            <a:ext cx="5989320" cy="402336"/>
          </a:xfrm>
          <a:prstGeom prst="rect">
            <a:avLst/>
          </a:prstGeom>
          <a:solidFill>
            <a:srgbClr val="060D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2926080" y="249631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+ TD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5349240" y="2496312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0.0070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6172200" y="2496312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0.0081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6995160" y="2496312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0.0027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7818120" y="24963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0.59%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2834640" y="2871216"/>
            <a:ext cx="5989320" cy="402336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2926080" y="291693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Opt (NB07)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5349240" y="2916936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0.0071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172200" y="2916936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0.0080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6995160" y="2916936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0.0024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7818120" y="29169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0.63%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2834640" y="3291840"/>
            <a:ext cx="5989320" cy="402336"/>
          </a:xfrm>
          <a:prstGeom prst="rect">
            <a:avLst/>
          </a:prstGeom>
          <a:solidFill>
            <a:srgbClr val="060D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2926080" y="333756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Híbrido Adapt.+TD+IPS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5349240" y="3337560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0.0074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6172200" y="3337560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0.0079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6995160" y="3337560"/>
            <a:ext cx="749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0.0023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7818120" y="33375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4.52%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320040" y="3977640"/>
            <a:ext cx="8503920" cy="896112"/>
          </a:xfrm>
          <a:prstGeom prst="rect">
            <a:avLst/>
          </a:prstGeom>
          <a:solidFill>
            <a:srgbClr val="050A10"/>
          </a:solidFill>
          <a:ln w="12700">
            <a:solidFill>
              <a:srgbClr val="7D3C98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3" name="Text 50"/>
          <p:cNvSpPr/>
          <p:nvPr/>
        </p:nvSpPr>
        <p:spPr>
          <a:xfrm>
            <a:off x="457200" y="4023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Audit — Performance por segmento: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411480" y="4343400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(≤1 ítem)  57.5%</a:t>
            </a:r>
            <a:endParaRPr lang="en-US" sz="900" dirty="0"/>
          </a:p>
        </p:txBody>
      </p:sp>
      <p:sp>
        <p:nvSpPr>
          <p:cNvPr id="55" name="Text 52"/>
          <p:cNvSpPr/>
          <p:nvPr/>
        </p:nvSpPr>
        <p:spPr>
          <a:xfrm>
            <a:off x="411480" y="457200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gana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3200400" y="4343400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Tepid (2-4 ítems) 29.8%</a:t>
            </a:r>
            <a:endParaRPr lang="en-US" sz="900" dirty="0"/>
          </a:p>
        </p:txBody>
      </p:sp>
      <p:sp>
        <p:nvSpPr>
          <p:cNvPr id="57" name="Text 54"/>
          <p:cNvSpPr/>
          <p:nvPr/>
        </p:nvSpPr>
        <p:spPr>
          <a:xfrm>
            <a:off x="3200400" y="457200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Híbrido +11.7%</a:t>
            </a:r>
            <a:endParaRPr lang="en-US" sz="900" dirty="0"/>
          </a:p>
        </p:txBody>
      </p:sp>
      <p:sp>
        <p:nvSpPr>
          <p:cNvPr id="58" name="Text 55"/>
          <p:cNvSpPr/>
          <p:nvPr/>
        </p:nvSpPr>
        <p:spPr>
          <a:xfrm>
            <a:off x="5989320" y="4343400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(5+ ítems) 12.7%</a:t>
            </a:r>
            <a:endParaRPr lang="en-US" sz="900" dirty="0"/>
          </a:p>
        </p:txBody>
      </p:sp>
      <p:sp>
        <p:nvSpPr>
          <p:cNvPr id="59" name="Text 56"/>
          <p:cNvSpPr/>
          <p:nvPr/>
        </p:nvSpPr>
        <p:spPr>
          <a:xfrm>
            <a:off x="5989320" y="457200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Híbrido +30.4%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MODELOS AVANZADOS · INTEGRANTE 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NB09 — Modelos Avanzados CF (7 modelos)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gran salto: RP3beta +176% · Deep Learning decepciona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" y="1234440"/>
            <a:ext cx="8503920" cy="2514600"/>
          </a:xfrm>
          <a:prstGeom prst="rect">
            <a:avLst/>
          </a:prstGeom>
          <a:solidFill>
            <a:srgbClr val="040A1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" y="1234440"/>
            <a:ext cx="8503920" cy="347472"/>
          </a:xfrm>
          <a:prstGeom prst="rect">
            <a:avLst/>
          </a:prstGeom>
          <a:solidFill>
            <a:srgbClr val="1A3A6A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1480" y="1261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77240" y="12618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251960" y="126187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074920" y="12618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Precision@10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989320" y="12618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995160" y="12618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vs NB08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20040" y="1609344"/>
            <a:ext cx="8503920" cy="283464"/>
          </a:xfrm>
          <a:prstGeom prst="rect">
            <a:avLst/>
          </a:prstGeom>
          <a:solidFill>
            <a:srgbClr val="091A0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1627632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77240" y="1627632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RP3beta (α=0.85, β=0.25) ★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251960" y="1627632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0.0258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074920" y="1627632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0.00607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89320" y="162763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6.0%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995160" y="1627632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+175.9%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" y="1911096"/>
            <a:ext cx="8503920" cy="283464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11480" y="1929384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77240" y="192938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EASE^R (λ=500, top-20K)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251960" y="1929384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0.0193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074920" y="1929384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0.00477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989320" y="192938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4.96%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995160" y="1929384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+107.7%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20040" y="2212848"/>
            <a:ext cx="8503920" cy="283464"/>
          </a:xfrm>
          <a:prstGeom prst="rect">
            <a:avLst/>
          </a:prstGeom>
          <a:solidFill>
            <a:srgbClr val="060D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11480" y="2231136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77240" y="223113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SVD+TD+IPS (NB08 best)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251960" y="2231136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0.0093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074920" y="2231136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0.00253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5989320" y="223113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1.91%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6995160" y="2231136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320040" y="2514600"/>
            <a:ext cx="8503920" cy="283464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11480" y="2532888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777240" y="253288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BPR-MF (k=64, SGD vect.)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4251960" y="2532888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5074920" y="2532888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0.00047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5989320" y="253288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0.17%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6995160" y="253288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320040" y="2816352"/>
            <a:ext cx="8503920" cy="283464"/>
          </a:xfrm>
          <a:prstGeom prst="rect">
            <a:avLst/>
          </a:prstGeom>
          <a:solidFill>
            <a:srgbClr val="060D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11480" y="2834640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777240" y="283464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SASRec-lite (Transformer)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4251960" y="2834640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0.0005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5074920" y="2834640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0.00013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5989320" y="283464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0.16%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6995160" y="2834640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320040" y="3118104"/>
            <a:ext cx="8503920" cy="283464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411480" y="3136392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777240" y="3136392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(TDIPS+EASE+BPR)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4251960" y="3136392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0.0004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5074920" y="3136392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0.00023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5989320" y="313639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1.38%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6995160" y="3136392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320040" y="3419856"/>
            <a:ext cx="8503920" cy="283464"/>
          </a:xfrm>
          <a:prstGeom prst="rect">
            <a:avLst/>
          </a:prstGeom>
          <a:solidFill>
            <a:srgbClr val="060D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411480" y="3438144"/>
            <a:ext cx="292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777240" y="34381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NCF (NeuMF, PyTorch CPU)</a:t>
            </a:r>
            <a:endParaRPr lang="en-US" sz="1000" dirty="0"/>
          </a:p>
        </p:txBody>
      </p:sp>
      <p:sp>
        <p:nvSpPr>
          <p:cNvPr id="62" name="Text 59"/>
          <p:cNvSpPr/>
          <p:nvPr/>
        </p:nvSpPr>
        <p:spPr>
          <a:xfrm>
            <a:off x="4251960" y="3438144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0.0002</a:t>
            </a:r>
            <a:endParaRPr lang="en-US" sz="1000" dirty="0"/>
          </a:p>
        </p:txBody>
      </p:sp>
      <p:sp>
        <p:nvSpPr>
          <p:cNvPr id="63" name="Text 60"/>
          <p:cNvSpPr/>
          <p:nvPr/>
        </p:nvSpPr>
        <p:spPr>
          <a:xfrm>
            <a:off x="5074920" y="3438144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0.00010</a:t>
            </a:r>
            <a:endParaRPr lang="en-US" sz="1000" dirty="0"/>
          </a:p>
        </p:txBody>
      </p:sp>
      <p:sp>
        <p:nvSpPr>
          <p:cNvPr id="64" name="Text 61"/>
          <p:cNvSpPr/>
          <p:nvPr/>
        </p:nvSpPr>
        <p:spPr>
          <a:xfrm>
            <a:off x="5989320" y="343814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1.63%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6995160" y="3438144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320040" y="3886200"/>
            <a:ext cx="4114800" cy="1051560"/>
          </a:xfrm>
          <a:prstGeom prst="rect">
            <a:avLst/>
          </a:prstGeom>
          <a:solidFill>
            <a:srgbClr val="1A0005"/>
          </a:solidFill>
          <a:ln w="12700">
            <a:solidFill>
              <a:srgbClr val="E74C3C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7" name="Text 64"/>
          <p:cNvSpPr/>
          <p:nvPr/>
        </p:nvSpPr>
        <p:spPr>
          <a:xfrm>
            <a:off x="457200" y="39502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falla el Deep Learning?</a:t>
            </a:r>
            <a:endParaRPr lang="en-US" sz="1200" dirty="0"/>
          </a:p>
        </p:txBody>
      </p:sp>
      <p:pic>
        <p:nvPicPr>
          <p:cNvPr id="6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270248"/>
            <a:ext cx="182880" cy="182880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713232" y="424281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57.5% de usuarios solo tiene 1 ítem en train → gradiente cuasi-nulo</a:t>
            </a:r>
            <a:endParaRPr lang="en-US" sz="1000" dirty="0"/>
          </a:p>
        </p:txBody>
      </p:sp>
      <p:pic>
        <p:nvPicPr>
          <p:cNvPr id="7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71416"/>
            <a:ext cx="182880" cy="182880"/>
          </a:xfrm>
          <a:prstGeom prst="rect">
            <a:avLst/>
          </a:prstGeom>
        </p:spPr>
      </p:pic>
      <p:sp>
        <p:nvSpPr>
          <p:cNvPr id="71" name="Text 66"/>
          <p:cNvSpPr/>
          <p:nvPr/>
        </p:nvSpPr>
        <p:spPr>
          <a:xfrm>
            <a:off x="713232" y="444398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NCF tarda 1300s/10 epochs en CPU → sub-entrenado</a:t>
            </a:r>
            <a:endParaRPr lang="en-US" sz="1000" dirty="0"/>
          </a:p>
        </p:txBody>
      </p:sp>
      <p:pic>
        <p:nvPicPr>
          <p:cNvPr id="7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672584"/>
            <a:ext cx="182880" cy="182880"/>
          </a:xfrm>
          <a:prstGeom prst="rect">
            <a:avLst/>
          </a:prstGeom>
        </p:spPr>
      </p:pic>
      <p:sp>
        <p:nvSpPr>
          <p:cNvPr id="73" name="Text 67"/>
          <p:cNvSpPr/>
          <p:nvPr/>
        </p:nvSpPr>
        <p:spPr>
          <a:xfrm>
            <a:off x="713232" y="46451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SASRec: split aleatorio + sin causal mask → error de protocolo</a:t>
            </a:r>
            <a:endParaRPr lang="en-US" sz="1000" dirty="0"/>
          </a:p>
        </p:txBody>
      </p:sp>
      <p:sp>
        <p:nvSpPr>
          <p:cNvPr id="74" name="Shape 68"/>
          <p:cNvSpPr/>
          <p:nvPr/>
        </p:nvSpPr>
        <p:spPr>
          <a:xfrm>
            <a:off x="4572000" y="3886200"/>
            <a:ext cx="4251960" cy="1051560"/>
          </a:xfrm>
          <a:prstGeom prst="rect">
            <a:avLst/>
          </a:prstGeom>
          <a:solidFill>
            <a:srgbClr val="0A1800"/>
          </a:solidFill>
          <a:ln w="12700">
            <a:solidFill>
              <a:srgbClr val="FF8C0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5" name="Text 69"/>
          <p:cNvSpPr/>
          <p:nvPr/>
        </p:nvSpPr>
        <p:spPr>
          <a:xfrm>
            <a:off x="4709160" y="39502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RP3beta es el mejor individual?</a:t>
            </a:r>
            <a:endParaRPr lang="en-US" sz="1200" dirty="0"/>
          </a:p>
        </p:txBody>
      </p:sp>
      <p:pic>
        <p:nvPicPr>
          <p:cNvPr id="7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4270248"/>
            <a:ext cx="182880" cy="182880"/>
          </a:xfrm>
          <a:prstGeom prst="rect">
            <a:avLst/>
          </a:prstGeom>
        </p:spPr>
      </p:pic>
      <p:sp>
        <p:nvSpPr>
          <p:cNvPr id="77" name="Text 70"/>
          <p:cNvSpPr/>
          <p:nvPr/>
        </p:nvSpPr>
        <p:spPr>
          <a:xfrm>
            <a:off x="4956048" y="42428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walk sobre grafo user-item → captura co-ocurrencia de 2° orden</a:t>
            </a:r>
            <a:endParaRPr lang="en-US" sz="1000" dirty="0"/>
          </a:p>
        </p:txBody>
      </p:sp>
      <p:pic>
        <p:nvPicPr>
          <p:cNvPr id="78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4471416"/>
            <a:ext cx="182880" cy="182880"/>
          </a:xfrm>
          <a:prstGeom prst="rect">
            <a:avLst/>
          </a:prstGeom>
        </p:spPr>
      </p:pic>
      <p:sp>
        <p:nvSpPr>
          <p:cNvPr id="79" name="Text 71"/>
          <p:cNvSpPr/>
          <p:nvPr/>
        </p:nvSpPr>
        <p:spPr>
          <a:xfrm>
            <a:off x="4956048" y="44439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β-penalización de popularidad → evita filter bubble</a:t>
            </a:r>
            <a:endParaRPr lang="en-US" sz="1000" dirty="0"/>
          </a:p>
        </p:txBody>
      </p:sp>
      <p:pic>
        <p:nvPicPr>
          <p:cNvPr id="80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4672584"/>
            <a:ext cx="182880" cy="182880"/>
          </a:xfrm>
          <a:prstGeom prst="rect">
            <a:avLst/>
          </a:prstGeom>
        </p:spPr>
      </p:pic>
      <p:sp>
        <p:nvSpPr>
          <p:cNvPr id="81" name="Text 72"/>
          <p:cNvSpPr/>
          <p:nvPr/>
        </p:nvSpPr>
        <p:spPr>
          <a:xfrm>
            <a:off x="4956048" y="46451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gradient descent → estable con sparsidad extrema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MODELOS AVANZADOS · INTEGRANTE 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NB10-12 — Challengers Avanzados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Mult-VAE^PR · SASRec corregido · Análisis de sensiblidad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" y="1234440"/>
            <a:ext cx="4114800" cy="2286000"/>
          </a:xfrm>
          <a:prstGeom prst="rect">
            <a:avLst/>
          </a:prstGeom>
          <a:solidFill>
            <a:srgbClr val="0A0018"/>
          </a:solidFill>
          <a:ln w="12700">
            <a:solidFill>
              <a:srgbClr val="9B59B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" y="1234440"/>
            <a:ext cx="4114800" cy="6400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533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NB10 — Mult-VAE^PR (VAE Generativo)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11480" y="1719072"/>
            <a:ext cx="3931920" cy="384048"/>
          </a:xfrm>
          <a:prstGeom prst="rect">
            <a:avLst/>
          </a:prstGeom>
          <a:solidFill>
            <a:srgbClr val="0A1A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176479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RP3beta (NB09) — reval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108960" y="176479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0.0258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794760" y="17647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Campeón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11480" y="2157984"/>
            <a:ext cx="3931920" cy="384048"/>
          </a:xfrm>
          <a:prstGeom prst="rect">
            <a:avLst/>
          </a:prstGeom>
          <a:solidFill>
            <a:srgbClr val="05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7200" y="2203704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Mult-VAE^PR (enc=[600,200], z=64)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108960" y="2203704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0.0255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94760" y="220370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11480" y="2596896"/>
            <a:ext cx="3931920" cy="384048"/>
          </a:xfrm>
          <a:prstGeom prst="rect">
            <a:avLst/>
          </a:prstGeom>
          <a:solidFill>
            <a:srgbClr val="05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7200" y="2642616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EASE^R (λ=500) — NB09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3108960" y="264261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0.0193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3794760" y="264261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-25.2%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11480" y="3035808"/>
            <a:ext cx="3931920" cy="384048"/>
          </a:xfrm>
          <a:prstGeom prst="rect">
            <a:avLst/>
          </a:prstGeom>
          <a:solidFill>
            <a:srgbClr val="05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7200" y="308152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SVD+TD+IPS — NB08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108960" y="30815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0.0093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794760" y="308152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-64%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11480" y="33832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 Dacrema 2019 confirmada: VAE bien calibrado compite pero no supera RP3beta.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572000" y="1234440"/>
            <a:ext cx="4251960" cy="2286000"/>
          </a:xfrm>
          <a:prstGeom prst="rect">
            <a:avLst/>
          </a:prstGeom>
          <a:solidFill>
            <a:srgbClr val="0A0805"/>
          </a:solidFill>
          <a:ln w="12700">
            <a:solidFill>
              <a:srgbClr val="FFC04D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4572000" y="1234440"/>
            <a:ext cx="4251960" cy="64008"/>
          </a:xfrm>
          <a:prstGeom prst="rect">
            <a:avLst/>
          </a:prstGeom>
          <a:solidFill>
            <a:srgbClr val="FFC04D"/>
          </a:solidFill>
          <a:ln w="12700">
            <a:solidFill>
              <a:srgbClr val="FFC04D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709160" y="135331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C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NB12 — SASRec Corregido (3 fixes)</a:t>
            </a:r>
            <a:endParaRPr lang="en-US" sz="1200" dirty="0"/>
          </a:p>
        </p:txBody>
      </p:sp>
      <p:pic>
        <p:nvPicPr>
          <p:cNvPr id="3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1755648"/>
            <a:ext cx="201168" cy="20116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4983480" y="173736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NB09: Sin filtrar usuarios (1 ítem mín.)</a:t>
            </a:r>
            <a:endParaRPr lang="en-US" sz="1000" dirty="0"/>
          </a:p>
        </p:txBody>
      </p:sp>
      <p:pic>
        <p:nvPicPr>
          <p:cNvPr id="3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2011680"/>
            <a:ext cx="201168" cy="201168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4983480" y="199339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NB12: Filtro ≥5 ítems en historial</a:t>
            </a:r>
            <a:endParaRPr lang="en-US" sz="1000" dirty="0"/>
          </a:p>
        </p:txBody>
      </p:sp>
      <p:pic>
        <p:nvPicPr>
          <p:cNvPr id="3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2322576"/>
            <a:ext cx="201168" cy="201168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4983480" y="2304288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NB09: Split aleatorio</a:t>
            </a:r>
            <a:endParaRPr lang="en-US" sz="1000" dirty="0"/>
          </a:p>
        </p:txBody>
      </p:sp>
      <p:pic>
        <p:nvPicPr>
          <p:cNvPr id="3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2578608"/>
            <a:ext cx="201168" cy="201168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4983480" y="256032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NB12: Leave-one-out temporal</a:t>
            </a:r>
            <a:endParaRPr lang="en-US" sz="1000" dirty="0"/>
          </a:p>
        </p:txBody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2889504"/>
            <a:ext cx="201168" cy="201168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4983480" y="287121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NB09: Sin causal mask ni FFN</a:t>
            </a:r>
            <a:endParaRPr lang="en-US" sz="1000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3145536"/>
            <a:ext cx="201168" cy="201168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4983480" y="3127248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NB12: Arquitectura completa (paper)</a:t>
            </a:r>
            <a:endParaRPr lang="en-US" sz="1000" dirty="0"/>
          </a:p>
        </p:txBody>
      </p:sp>
      <p:sp>
        <p:nvSpPr>
          <p:cNvPr id="44" name="Shape 35"/>
          <p:cNvSpPr/>
          <p:nvPr/>
        </p:nvSpPr>
        <p:spPr>
          <a:xfrm>
            <a:off x="320040" y="3657600"/>
            <a:ext cx="8503920" cy="1234440"/>
          </a:xfrm>
          <a:prstGeom prst="rect">
            <a:avLst/>
          </a:prstGeom>
          <a:solidFill>
            <a:srgbClr val="040A1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5" name="Text 36"/>
          <p:cNvSpPr/>
          <p:nvPr/>
        </p:nvSpPr>
        <p:spPr>
          <a:xfrm>
            <a:off x="457200" y="37216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NB11 — Análisis de Sensibilidad al Protocolo</a:t>
            </a:r>
            <a:endParaRPr lang="en-US" sz="1200" dirty="0"/>
          </a:p>
        </p:txBody>
      </p:sp>
      <p:sp>
        <p:nvSpPr>
          <p:cNvPr id="46" name="Text 37"/>
          <p:cNvSpPr/>
          <p:nvPr/>
        </p:nvSpPr>
        <p:spPr>
          <a:xfrm>
            <a:off x="411480" y="40416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usuarios</a:t>
            </a:r>
            <a:endParaRPr lang="en-US" sz="1000" dirty="0"/>
          </a:p>
        </p:txBody>
      </p:sp>
      <p:sp>
        <p:nvSpPr>
          <p:cNvPr id="47" name="Text 38"/>
          <p:cNvSpPr/>
          <p:nvPr/>
        </p:nvSpPr>
        <p:spPr>
          <a:xfrm>
            <a:off x="2423160" y="40416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RP3beta</a:t>
            </a:r>
            <a:endParaRPr lang="en-US" sz="1000" dirty="0"/>
          </a:p>
        </p:txBody>
      </p:sp>
      <p:sp>
        <p:nvSpPr>
          <p:cNvPr id="48" name="Text 39"/>
          <p:cNvSpPr/>
          <p:nvPr/>
        </p:nvSpPr>
        <p:spPr>
          <a:xfrm>
            <a:off x="4023360" y="404164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vs ≥1 int.</a:t>
            </a:r>
            <a:endParaRPr lang="en-US" sz="1000" dirty="0"/>
          </a:p>
        </p:txBody>
      </p:sp>
      <p:sp>
        <p:nvSpPr>
          <p:cNvPr id="49" name="Text 40"/>
          <p:cNvSpPr/>
          <p:nvPr/>
        </p:nvSpPr>
        <p:spPr>
          <a:xfrm>
            <a:off x="5120640" y="40416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Interpretación</a:t>
            </a:r>
            <a:endParaRPr lang="en-US" sz="1000" dirty="0"/>
          </a:p>
        </p:txBody>
      </p:sp>
      <p:sp>
        <p:nvSpPr>
          <p:cNvPr id="50" name="Text 41"/>
          <p:cNvSpPr/>
          <p:nvPr/>
        </p:nvSpPr>
        <p:spPr>
          <a:xfrm>
            <a:off x="411480" y="43159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≥1 interacción (estándar)</a:t>
            </a:r>
            <a:endParaRPr lang="en-US" sz="1000" dirty="0"/>
          </a:p>
        </p:txBody>
      </p:sp>
      <p:sp>
        <p:nvSpPr>
          <p:cNvPr id="51" name="Text 42"/>
          <p:cNvSpPr/>
          <p:nvPr/>
        </p:nvSpPr>
        <p:spPr>
          <a:xfrm>
            <a:off x="2423160" y="431596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0.0258</a:t>
            </a:r>
            <a:endParaRPr lang="en-US" sz="1000" dirty="0"/>
          </a:p>
        </p:txBody>
      </p:sp>
      <p:sp>
        <p:nvSpPr>
          <p:cNvPr id="52" name="Text 43"/>
          <p:cNvSpPr/>
          <p:nvPr/>
        </p:nvSpPr>
        <p:spPr>
          <a:xfrm>
            <a:off x="4023360" y="43159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53" name="Text 44"/>
          <p:cNvSpPr/>
          <p:nvPr/>
        </p:nvSpPr>
        <p:spPr>
          <a:xfrm>
            <a:off x="5120640" y="43159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estándar del proyecto</a:t>
            </a:r>
            <a:endParaRPr lang="en-US" sz="1000" dirty="0"/>
          </a:p>
        </p:txBody>
      </p:sp>
      <p:sp>
        <p:nvSpPr>
          <p:cNvPr id="54" name="Text 45"/>
          <p:cNvSpPr/>
          <p:nvPr/>
        </p:nvSpPr>
        <p:spPr>
          <a:xfrm>
            <a:off x="411480" y="45902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≥10 interacciones</a:t>
            </a:r>
            <a:endParaRPr lang="en-US" sz="1000" dirty="0"/>
          </a:p>
        </p:txBody>
      </p:sp>
      <p:sp>
        <p:nvSpPr>
          <p:cNvPr id="55" name="Text 46"/>
          <p:cNvSpPr/>
          <p:nvPr/>
        </p:nvSpPr>
        <p:spPr>
          <a:xfrm>
            <a:off x="2423160" y="459028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0.0546</a:t>
            </a:r>
            <a:endParaRPr lang="en-US" sz="1000" dirty="0"/>
          </a:p>
        </p:txBody>
      </p:sp>
      <p:sp>
        <p:nvSpPr>
          <p:cNvPr id="56" name="Text 47"/>
          <p:cNvSpPr/>
          <p:nvPr/>
        </p:nvSpPr>
        <p:spPr>
          <a:xfrm>
            <a:off x="4023360" y="459028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+112%</a:t>
            </a:r>
            <a:endParaRPr lang="en-US" sz="1000" dirty="0"/>
          </a:p>
        </p:txBody>
      </p:sp>
      <p:sp>
        <p:nvSpPr>
          <p:cNvPr id="57" name="Text 48"/>
          <p:cNvSpPr/>
          <p:nvPr/>
        </p:nvSpPr>
        <p:spPr>
          <a:xfrm>
            <a:off x="5120640" y="45902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más activos — dataset más denso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4128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COMPARATIVA · INTEGRANTE 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NDCG@10 — 18+ Modelos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Progresión desde popularidad hasta ensemble final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4073" y="127101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Popularity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88280" y="1234440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27633" y="1261872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3562191" y="1271016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22838" y="1271016"/>
            <a:ext cx="280048" cy="219456"/>
          </a:xfrm>
          <a:prstGeom prst="rect">
            <a:avLst/>
          </a:prstGeom>
          <a:solidFill>
            <a:srgbClr val="6B8CA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840253" y="125272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0.0024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262397" y="158191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279917" y="1563624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279917" y="1591056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3514485" y="1600200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514485" y="1600200"/>
            <a:ext cx="571765" cy="219456"/>
          </a:xfrm>
          <a:prstGeom prst="rect">
            <a:avLst/>
          </a:prstGeom>
          <a:solidFill>
            <a:srgbClr val="6B8CA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131970" y="158191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0.0049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262397" y="191109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(k=50)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279917" y="1892808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279917" y="1920240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3514485" y="1929384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514485" y="1929384"/>
            <a:ext cx="945163" cy="219456"/>
          </a:xfrm>
          <a:prstGeom prst="rect">
            <a:avLst/>
          </a:prstGeom>
          <a:solidFill>
            <a:srgbClr val="0EA5D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05368" y="191109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0.0081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262397" y="224028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SVD+TD+IPS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3279917" y="2221992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279917" y="2249424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514485" y="2258568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514485" y="2258568"/>
            <a:ext cx="1085187" cy="219456"/>
          </a:xfrm>
          <a:prstGeom prst="rect">
            <a:avLst/>
          </a:prstGeom>
          <a:solidFill>
            <a:srgbClr val="0EA5D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645392" y="224028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0.0093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262397" y="25694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BPR-MF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3279917" y="2551176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3279917" y="2578608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3514485" y="2587752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489448" y="2603754"/>
            <a:ext cx="140024" cy="219456"/>
          </a:xfrm>
          <a:prstGeom prst="rect">
            <a:avLst/>
          </a:prstGeom>
          <a:solidFill>
            <a:srgbClr val="E74C3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700229" y="2569464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262397" y="28986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NCF / SASRec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3279917" y="2880360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279917" y="2907792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3514485" y="2916936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522838" y="2932938"/>
            <a:ext cx="58343" cy="219456"/>
          </a:xfrm>
          <a:prstGeom prst="rect">
            <a:avLst/>
          </a:prstGeom>
          <a:solidFill>
            <a:srgbClr val="E74C3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3618548" y="289864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0.0005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262397" y="32278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EASE^R (λ=500)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3279917" y="3209544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3279917" y="3236976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3514485" y="3246120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3514485" y="3246120"/>
            <a:ext cx="2252055" cy="219456"/>
          </a:xfrm>
          <a:prstGeom prst="rect">
            <a:avLst/>
          </a:prstGeom>
          <a:solidFill>
            <a:srgbClr val="9B59B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812260" y="322783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0.0193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262397" y="355701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Mult-VAE^PR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3279917" y="3538728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3279917" y="3566160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3514485" y="3575304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3514485" y="3575304"/>
            <a:ext cx="2975513" cy="219456"/>
          </a:xfrm>
          <a:prstGeom prst="rect">
            <a:avLst/>
          </a:prstGeom>
          <a:solidFill>
            <a:srgbClr val="7D3C9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6535718" y="355701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D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0.0255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262397" y="38862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RP3beta original</a:t>
            </a:r>
            <a:endParaRPr lang="en-US" sz="1000" dirty="0"/>
          </a:p>
        </p:txBody>
      </p:sp>
      <p:sp>
        <p:nvSpPr>
          <p:cNvPr id="58" name="Shape 55"/>
          <p:cNvSpPr/>
          <p:nvPr/>
        </p:nvSpPr>
        <p:spPr>
          <a:xfrm>
            <a:off x="3279917" y="3867912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3279917" y="3895344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" dirty="0"/>
          </a:p>
        </p:txBody>
      </p:sp>
      <p:sp>
        <p:nvSpPr>
          <p:cNvPr id="60" name="Shape 57"/>
          <p:cNvSpPr/>
          <p:nvPr/>
        </p:nvSpPr>
        <p:spPr>
          <a:xfrm>
            <a:off x="3514485" y="3904488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3514485" y="3904488"/>
            <a:ext cx="3010519" cy="219456"/>
          </a:xfrm>
          <a:prstGeom prst="rect">
            <a:avLst/>
          </a:prstGeom>
          <a:solidFill>
            <a:srgbClr val="FF8C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570724" y="388620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0.0258</a:t>
            </a:r>
            <a:endParaRPr lang="en-US" sz="1000" dirty="0"/>
          </a:p>
        </p:txBody>
      </p:sp>
      <p:sp>
        <p:nvSpPr>
          <p:cNvPr id="63" name="Text 60"/>
          <p:cNvSpPr/>
          <p:nvPr/>
        </p:nvSpPr>
        <p:spPr>
          <a:xfrm>
            <a:off x="262397" y="42153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RP3+TD (baseline NB13)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3279917" y="4197096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3279917" y="4224528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sp>
        <p:nvSpPr>
          <p:cNvPr id="66" name="Shape 63"/>
          <p:cNvSpPr/>
          <p:nvPr/>
        </p:nvSpPr>
        <p:spPr>
          <a:xfrm>
            <a:off x="3514485" y="4233672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3514485" y="4233672"/>
            <a:ext cx="3337242" cy="219456"/>
          </a:xfrm>
          <a:prstGeom prst="rect">
            <a:avLst/>
          </a:prstGeom>
          <a:solidFill>
            <a:srgbClr val="FF8C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897447" y="4215384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0.0286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262397" y="454456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NB14</a:t>
            </a:r>
            <a:endParaRPr lang="en-US" sz="1100" dirty="0"/>
          </a:p>
        </p:txBody>
      </p:sp>
      <p:sp>
        <p:nvSpPr>
          <p:cNvPr id="70" name="Shape 67"/>
          <p:cNvSpPr/>
          <p:nvPr/>
        </p:nvSpPr>
        <p:spPr>
          <a:xfrm>
            <a:off x="3279917" y="4526280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3279917" y="4553712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  <p:sp>
        <p:nvSpPr>
          <p:cNvPr id="72" name="Shape 69"/>
          <p:cNvSpPr/>
          <p:nvPr/>
        </p:nvSpPr>
        <p:spPr>
          <a:xfrm>
            <a:off x="3514485" y="4562856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3514485" y="4562856"/>
            <a:ext cx="4749152" cy="219456"/>
          </a:xfrm>
          <a:prstGeom prst="rect">
            <a:avLst/>
          </a:prstGeom>
          <a:solidFill>
            <a:srgbClr val="00E5A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8309357" y="454456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0.0407</a:t>
            </a:r>
            <a:endParaRPr lang="en-US" sz="1100" dirty="0"/>
          </a:p>
        </p:txBody>
      </p:sp>
      <p:sp>
        <p:nvSpPr>
          <p:cNvPr id="75" name="Text 72"/>
          <p:cNvSpPr/>
          <p:nvPr/>
        </p:nvSpPr>
        <p:spPr>
          <a:xfrm>
            <a:off x="9013445" y="454456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+42.3%</a:t>
            </a:r>
            <a:endParaRPr lang="en-US" sz="1000" dirty="0"/>
          </a:p>
        </p:txBody>
      </p:sp>
      <p:sp>
        <p:nvSpPr>
          <p:cNvPr id="76" name="Text 73"/>
          <p:cNvSpPr/>
          <p:nvPr/>
        </p:nvSpPr>
        <p:spPr>
          <a:xfrm>
            <a:off x="262397" y="48737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NB15v2 ★</a:t>
            </a:r>
            <a:endParaRPr lang="en-US" sz="1100" dirty="0"/>
          </a:p>
        </p:txBody>
      </p:sp>
      <p:sp>
        <p:nvSpPr>
          <p:cNvPr id="77" name="Shape 74"/>
          <p:cNvSpPr/>
          <p:nvPr/>
        </p:nvSpPr>
        <p:spPr>
          <a:xfrm>
            <a:off x="3295820" y="4855464"/>
            <a:ext cx="201168" cy="292608"/>
          </a:xfrm>
          <a:prstGeom prst="rect">
            <a:avLst/>
          </a:prstGeom>
          <a:solidFill>
            <a:srgbClr val="1A3A6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3279917" y="4882896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sp>
        <p:nvSpPr>
          <p:cNvPr id="79" name="Shape 76"/>
          <p:cNvSpPr/>
          <p:nvPr/>
        </p:nvSpPr>
        <p:spPr>
          <a:xfrm>
            <a:off x="3474720" y="4892040"/>
            <a:ext cx="5029200" cy="219456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522838" y="4901184"/>
            <a:ext cx="5029200" cy="219456"/>
          </a:xfrm>
          <a:prstGeom prst="rect">
            <a:avLst/>
          </a:prstGeom>
          <a:solidFill>
            <a:srgbClr val="00E5A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8549640" y="487375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0.0431</a:t>
            </a:r>
            <a:endParaRPr lang="en-US" sz="1100" dirty="0"/>
          </a:p>
        </p:txBody>
      </p:sp>
      <p:sp>
        <p:nvSpPr>
          <p:cNvPr id="82" name="Text 79"/>
          <p:cNvSpPr/>
          <p:nvPr/>
        </p:nvSpPr>
        <p:spPr>
          <a:xfrm>
            <a:off x="9253728" y="487375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+50.8%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007A50"/>
          </a:solidFill>
          <a:ln w="12700">
            <a:solidFill>
              <a:srgbClr val="007A5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 · ENSEMBLE · INTEGRANTE 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NB14-15 — Estrategia Ensemble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Complementariedad por correlación Spearman · Optuna 100 trials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" y="1234440"/>
            <a:ext cx="4114800" cy="2331720"/>
          </a:xfrm>
          <a:prstGeom prst="rect">
            <a:avLst/>
          </a:prstGeom>
          <a:solidFill>
            <a:srgbClr val="040A14"/>
          </a:solidFill>
          <a:ln w="12700">
            <a:solidFill>
              <a:srgbClr val="00E5A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57200" y="13075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Spearman entre Rankings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16152" y="166420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993392" y="166420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ease_500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770632" y="166420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547872" y="166420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11480" y="198424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1216152" y="1965960"/>
            <a:ext cx="740664" cy="256032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16152" y="1984248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993392" y="1965960"/>
            <a:ext cx="740664" cy="256032"/>
          </a:xfrm>
          <a:prstGeom prst="rect">
            <a:avLst/>
          </a:prstGeom>
          <a:solidFill>
            <a:srgbClr val="00301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993392" y="1984248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0.216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770632" y="1965960"/>
            <a:ext cx="740664" cy="256032"/>
          </a:xfrm>
          <a:prstGeom prst="rect">
            <a:avLst/>
          </a:prstGeom>
          <a:solidFill>
            <a:srgbClr val="0A0005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770632" y="1984248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547872" y="1965960"/>
            <a:ext cx="740664" cy="256032"/>
          </a:xfrm>
          <a:prstGeom prst="rect">
            <a:avLst/>
          </a:prstGeom>
          <a:solidFill>
            <a:srgbClr val="0A0005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547872" y="1984248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0.988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411480" y="227685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ease_500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1216152" y="2258568"/>
            <a:ext cx="740664" cy="256032"/>
          </a:xfrm>
          <a:prstGeom prst="rect">
            <a:avLst/>
          </a:prstGeom>
          <a:solidFill>
            <a:srgbClr val="00301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216152" y="2276856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0.216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1993392" y="2258568"/>
            <a:ext cx="740664" cy="256032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993392" y="2276856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2770632" y="2258568"/>
            <a:ext cx="740664" cy="256032"/>
          </a:xfrm>
          <a:prstGeom prst="rect">
            <a:avLst/>
          </a:prstGeom>
          <a:solidFill>
            <a:srgbClr val="00301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2770632" y="2276856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0.217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547872" y="2258568"/>
            <a:ext cx="740664" cy="256032"/>
          </a:xfrm>
          <a:prstGeom prst="rect">
            <a:avLst/>
          </a:prstGeom>
          <a:solidFill>
            <a:srgbClr val="00301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547872" y="2276856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411480" y="256946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td_ips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1216152" y="2551176"/>
            <a:ext cx="740664" cy="256032"/>
          </a:xfrm>
          <a:prstGeom prst="rect">
            <a:avLst/>
          </a:prstGeom>
          <a:solidFill>
            <a:srgbClr val="0A0005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216152" y="2569464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1993392" y="2551176"/>
            <a:ext cx="740664" cy="256032"/>
          </a:xfrm>
          <a:prstGeom prst="rect">
            <a:avLst/>
          </a:prstGeom>
          <a:solidFill>
            <a:srgbClr val="00301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993392" y="2569464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0.217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2770632" y="2551176"/>
            <a:ext cx="740664" cy="256032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2770632" y="2569464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3547872" y="2551176"/>
            <a:ext cx="740664" cy="256032"/>
          </a:xfrm>
          <a:prstGeom prst="rect">
            <a:avLst/>
          </a:prstGeom>
          <a:solidFill>
            <a:srgbClr val="0A0005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547872" y="2569464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0.988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411480" y="28620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1216152" y="2843784"/>
            <a:ext cx="740664" cy="256032"/>
          </a:xfrm>
          <a:prstGeom prst="rect">
            <a:avLst/>
          </a:prstGeom>
          <a:solidFill>
            <a:srgbClr val="0A0005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1216152" y="2862072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0.988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1993392" y="2843784"/>
            <a:ext cx="740664" cy="256032"/>
          </a:xfrm>
          <a:prstGeom prst="rect">
            <a:avLst/>
          </a:prstGeom>
          <a:solidFill>
            <a:srgbClr val="00301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1993392" y="2862072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0.204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2770632" y="2843784"/>
            <a:ext cx="740664" cy="256032"/>
          </a:xfrm>
          <a:prstGeom prst="rect">
            <a:avLst/>
          </a:prstGeom>
          <a:solidFill>
            <a:srgbClr val="0A0005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2770632" y="2862072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0.988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3547872" y="2843784"/>
            <a:ext cx="740664" cy="256032"/>
          </a:xfrm>
          <a:prstGeom prst="rect">
            <a:avLst/>
          </a:prstGeom>
          <a:solidFill>
            <a:srgbClr val="0A1628"/>
          </a:solidFill>
          <a:ln w="12700">
            <a:solidFill>
              <a:srgbClr val="1A3A6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3547872" y="2862072"/>
            <a:ext cx="74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411480" y="34564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EASE^R ρ≈0.21 con todos → genuinamente complementario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4572000" y="1234440"/>
            <a:ext cx="4251960" cy="2331720"/>
          </a:xfrm>
          <a:prstGeom prst="rect">
            <a:avLst/>
          </a:prstGeom>
          <a:solidFill>
            <a:srgbClr val="040A14"/>
          </a:solidFill>
          <a:ln w="12700">
            <a:solidFill>
              <a:srgbClr val="1A3A6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3" name="Text 50"/>
          <p:cNvSpPr/>
          <p:nvPr/>
        </p:nvSpPr>
        <p:spPr>
          <a:xfrm>
            <a:off x="4709160" y="13075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Optimización de Pesos — Optuna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4663440" y="1664208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5029200" y="166420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5577840" y="166420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w_rp3td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6217920" y="166420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w_ease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6858000" y="166420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w_rp3mb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7498080" y="16642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8275320" y="166420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base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4617720" y="1993392"/>
            <a:ext cx="4160520" cy="393192"/>
          </a:xfrm>
          <a:prstGeom prst="rect">
            <a:avLst/>
          </a:prstGeom>
          <a:solidFill>
            <a:srgbClr val="060D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4663440" y="2039112"/>
            <a:ext cx="320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NB14</a:t>
            </a:r>
            <a:endParaRPr lang="en-US" sz="1000" dirty="0"/>
          </a:p>
        </p:txBody>
      </p:sp>
      <p:sp>
        <p:nvSpPr>
          <p:cNvPr id="63" name="Text 60"/>
          <p:cNvSpPr/>
          <p:nvPr/>
        </p:nvSpPr>
        <p:spPr>
          <a:xfrm>
            <a:off x="5029200" y="2039112"/>
            <a:ext cx="4754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64" name="Text 61"/>
          <p:cNvSpPr/>
          <p:nvPr/>
        </p:nvSpPr>
        <p:spPr>
          <a:xfrm>
            <a:off x="5577840" y="2039112"/>
            <a:ext cx="5669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0.093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6217920" y="2039112"/>
            <a:ext cx="5669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0.148</a:t>
            </a:r>
            <a:endParaRPr lang="en-US" sz="1000" dirty="0"/>
          </a:p>
        </p:txBody>
      </p:sp>
      <p:sp>
        <p:nvSpPr>
          <p:cNvPr id="66" name="Text 63"/>
          <p:cNvSpPr/>
          <p:nvPr/>
        </p:nvSpPr>
        <p:spPr>
          <a:xfrm>
            <a:off x="6858000" y="2039112"/>
            <a:ext cx="5669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0.759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7498080" y="2039112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0.04069</a:t>
            </a:r>
            <a:endParaRPr lang="en-US" sz="1000" dirty="0"/>
          </a:p>
        </p:txBody>
      </p:sp>
      <p:sp>
        <p:nvSpPr>
          <p:cNvPr id="68" name="Text 65"/>
          <p:cNvSpPr/>
          <p:nvPr/>
        </p:nvSpPr>
        <p:spPr>
          <a:xfrm>
            <a:off x="8275320" y="2039112"/>
            <a:ext cx="7498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+42.3%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4617720" y="2432304"/>
            <a:ext cx="4160520" cy="393192"/>
          </a:xfrm>
          <a:prstGeom prst="rect">
            <a:avLst/>
          </a:prstGeom>
          <a:solidFill>
            <a:srgbClr val="08201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4663440" y="2478024"/>
            <a:ext cx="320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NB15v2★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5029200" y="2478024"/>
            <a:ext cx="4754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000" dirty="0"/>
          </a:p>
        </p:txBody>
      </p:sp>
      <p:sp>
        <p:nvSpPr>
          <p:cNvPr id="72" name="Text 69"/>
          <p:cNvSpPr/>
          <p:nvPr/>
        </p:nvSpPr>
        <p:spPr>
          <a:xfrm>
            <a:off x="5577840" y="2478024"/>
            <a:ext cx="5669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0.023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6217920" y="2478024"/>
            <a:ext cx="5669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0.021</a:t>
            </a:r>
            <a:endParaRPr lang="en-US" sz="1000" dirty="0"/>
          </a:p>
        </p:txBody>
      </p:sp>
      <p:sp>
        <p:nvSpPr>
          <p:cNvPr id="74" name="Text 71"/>
          <p:cNvSpPr/>
          <p:nvPr/>
        </p:nvSpPr>
        <p:spPr>
          <a:xfrm>
            <a:off x="6858000" y="2478024"/>
            <a:ext cx="5669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0.956</a:t>
            </a:r>
            <a:endParaRPr lang="en-US" sz="1000" dirty="0"/>
          </a:p>
        </p:txBody>
      </p:sp>
      <p:sp>
        <p:nvSpPr>
          <p:cNvPr id="75" name="Text 72"/>
          <p:cNvSpPr/>
          <p:nvPr/>
        </p:nvSpPr>
        <p:spPr>
          <a:xfrm>
            <a:off x="7498080" y="2478024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0.04310</a:t>
            </a:r>
            <a:endParaRPr lang="en-US" sz="1000" dirty="0"/>
          </a:p>
        </p:txBody>
      </p:sp>
      <p:sp>
        <p:nvSpPr>
          <p:cNvPr id="76" name="Text 73"/>
          <p:cNvSpPr/>
          <p:nvPr/>
        </p:nvSpPr>
        <p:spPr>
          <a:xfrm>
            <a:off x="8275320" y="2478024"/>
            <a:ext cx="7498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+50.8%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4617720" y="251460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NB15 exploración adicional: EASE multi-λ, iALS scipy (ρ≈−0.04 vs CF), Category fallback, Greedy selection → ninguno mejora al trío original.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4617720" y="310896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C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rp3_mb_td dominante (95.6%): captura events multi-tipo (view+cart+trans).</a:t>
            </a:r>
            <a:endParaRPr lang="en-US" sz="1000" dirty="0"/>
          </a:p>
        </p:txBody>
      </p:sp>
      <p:sp>
        <p:nvSpPr>
          <p:cNvPr id="79" name="Shape 76"/>
          <p:cNvSpPr/>
          <p:nvPr/>
        </p:nvSpPr>
        <p:spPr>
          <a:xfrm>
            <a:off x="320040" y="3703320"/>
            <a:ext cx="8503920" cy="1207008"/>
          </a:xfrm>
          <a:prstGeom prst="rect">
            <a:avLst/>
          </a:prstGeom>
          <a:solidFill>
            <a:srgbClr val="001A0A"/>
          </a:solidFill>
          <a:ln w="12700">
            <a:solidFill>
              <a:srgbClr val="00E5A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8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913632"/>
            <a:ext cx="438912" cy="438912"/>
          </a:xfrm>
          <a:prstGeom prst="rect">
            <a:avLst/>
          </a:prstGeom>
        </p:spPr>
      </p:pic>
      <p:sp>
        <p:nvSpPr>
          <p:cNvPr id="81" name="Text 77"/>
          <p:cNvSpPr/>
          <p:nvPr/>
        </p:nvSpPr>
        <p:spPr>
          <a:xfrm>
            <a:off x="1051560" y="37490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GANADOR FINAL</a:t>
            </a:r>
            <a:endParaRPr lang="en-US" sz="1200" dirty="0"/>
          </a:p>
        </p:txBody>
      </p:sp>
      <p:sp>
        <p:nvSpPr>
          <p:cNvPr id="82" name="Text 78"/>
          <p:cNvSpPr/>
          <p:nvPr/>
        </p:nvSpPr>
        <p:spPr>
          <a:xfrm>
            <a:off x="1051560" y="4078224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RP3+TD + EASE^R + RP3+MB+TD  |  Pesos: 0.023 / 0.021 / 0.956  |  NDCG@10 = 0.0431  |  +50.8% vs baseline</a:t>
            </a:r>
            <a:endParaRPr lang="en-US" sz="1300" dirty="0"/>
          </a:p>
        </p:txBody>
      </p:sp>
      <p:sp>
        <p:nvSpPr>
          <p:cNvPr id="83" name="Text 79"/>
          <p:cNvSpPr/>
          <p:nvPr/>
        </p:nvSpPr>
        <p:spPr>
          <a:xfrm>
            <a:off x="1051560" y="4443984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Normalización MinMax por usuario · Split temporal sin leakage · 100 trials Optuna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007A50"/>
          </a:solidFill>
          <a:ln w="12700">
            <a:solidFill>
              <a:srgbClr val="007A5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 · JUSTIFICACIÓN · INTEGRANTE 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Justificación del Modelo Ganador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ganador es el Ensemble — ningún modelo individual llega ahí solo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0040" y="1261872"/>
            <a:ext cx="8503920" cy="841248"/>
          </a:xfrm>
          <a:prstGeom prst="rect">
            <a:avLst/>
          </a:prstGeom>
          <a:solidFill>
            <a:srgbClr val="002010"/>
          </a:solidFill>
          <a:ln w="12700">
            <a:solidFill>
              <a:srgbClr val="00E5A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" y="1261872"/>
            <a:ext cx="8503920" cy="64008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41732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78992" y="130759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GANADOR: Ensemble Optimizado (RP3+TD · EASE^R · RP3+MB+TD)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078992" y="166420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= 0.0431  ·  +50.8% vs baseline individual  ·  Pesos: 0.023 / 0.021 / 0.956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301752" y="2240280"/>
            <a:ext cx="2788920" cy="2103120"/>
          </a:xfrm>
          <a:prstGeom prst="rect">
            <a:avLst/>
          </a:prstGeom>
          <a:solidFill>
            <a:srgbClr val="0A1800"/>
          </a:solidFill>
          <a:ln w="12700">
            <a:solidFill>
              <a:srgbClr val="FF8C0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01752" y="2240280"/>
            <a:ext cx="2788920" cy="54864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65760" y="2331720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RP3+MB+TD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365760" y="2651760"/>
            <a:ext cx="2660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 dominante · peso 0.956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66344" y="2944368"/>
            <a:ext cx="2459736" cy="256032"/>
          </a:xfrm>
          <a:prstGeom prst="rect">
            <a:avLst/>
          </a:prstGeom>
          <a:solidFill>
            <a:srgbClr val="1A3A6A"/>
          </a:solidFill>
          <a:ln w="12700">
            <a:solidFill>
              <a:srgbClr val="060D1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66344" y="2944368"/>
            <a:ext cx="2459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Individual: 0.0286  →  En ensemble: 95.6%</a:t>
            </a:r>
            <a:endParaRPr lang="en-US" sz="95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291840"/>
            <a:ext cx="182880" cy="18288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9224" y="3273552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Multi-evento: view + cart + transaction</a:t>
            </a:r>
            <a:endParaRPr lang="en-US" sz="950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630168"/>
            <a:ext cx="182880" cy="1828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9224" y="3611880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decay → interacciones recientes valen más</a:t>
            </a:r>
            <a:endParaRPr lang="en-US" sz="95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968496"/>
            <a:ext cx="182880" cy="18288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649224" y="3950208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β-penalización de popularidad → no filter bubble</a:t>
            </a:r>
            <a:endParaRPr lang="en-US" sz="950" dirty="0"/>
          </a:p>
        </p:txBody>
      </p:sp>
      <p:sp>
        <p:nvSpPr>
          <p:cNvPr id="26" name="Shape 19"/>
          <p:cNvSpPr/>
          <p:nvPr/>
        </p:nvSpPr>
        <p:spPr>
          <a:xfrm>
            <a:off x="3227832" y="2240280"/>
            <a:ext cx="2788920" cy="2103120"/>
          </a:xfrm>
          <a:prstGeom prst="rect">
            <a:avLst/>
          </a:prstGeom>
          <a:solidFill>
            <a:srgbClr val="0A0018"/>
          </a:solidFill>
          <a:ln w="12700">
            <a:solidFill>
              <a:srgbClr val="9B59B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3227832" y="2240280"/>
            <a:ext cx="2788920" cy="54864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8" name="Text 21"/>
          <p:cNvSpPr/>
          <p:nvPr/>
        </p:nvSpPr>
        <p:spPr>
          <a:xfrm>
            <a:off x="3291840" y="2331720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EASE^R (λ=500)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3291840" y="2651760"/>
            <a:ext cx="2660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 de diversidad · peso 0.021</a:t>
            </a:r>
            <a:endParaRPr lang="en-US" sz="900" dirty="0"/>
          </a:p>
        </p:txBody>
      </p:sp>
      <p:sp>
        <p:nvSpPr>
          <p:cNvPr id="30" name="Shape 23"/>
          <p:cNvSpPr/>
          <p:nvPr/>
        </p:nvSpPr>
        <p:spPr>
          <a:xfrm>
            <a:off x="3392424" y="2944368"/>
            <a:ext cx="2459736" cy="256032"/>
          </a:xfrm>
          <a:prstGeom prst="rect">
            <a:avLst/>
          </a:prstGeom>
          <a:solidFill>
            <a:srgbClr val="1A3A6A"/>
          </a:solidFill>
          <a:ln w="12700">
            <a:solidFill>
              <a:srgbClr val="060D1A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3392424" y="2944368"/>
            <a:ext cx="2459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Individual: 0.0193  →  En ensemble: 2.1%</a:t>
            </a:r>
            <a:endParaRPr lang="en-US" sz="95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7560" y="3291840"/>
            <a:ext cx="182880" cy="18288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3575304" y="3273552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analítica cerrada — sin gradient descent</a:t>
            </a:r>
            <a:endParaRPr lang="en-US" sz="950" dirty="0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7560" y="3630168"/>
            <a:ext cx="182880" cy="182880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3575304" y="3611880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ρ_Spearman=0.216 con RP3 → señal genuinamente distinta</a:t>
            </a:r>
            <a:endParaRPr lang="en-US" sz="950" dirty="0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7560" y="3968496"/>
            <a:ext cx="182880" cy="182880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3575304" y="3950208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Pequeño peso, gran impacto en diversidad del ensemble</a:t>
            </a:r>
            <a:endParaRPr lang="en-US" sz="950" dirty="0"/>
          </a:p>
        </p:txBody>
      </p:sp>
      <p:sp>
        <p:nvSpPr>
          <p:cNvPr id="38" name="Shape 28"/>
          <p:cNvSpPr/>
          <p:nvPr/>
        </p:nvSpPr>
        <p:spPr>
          <a:xfrm>
            <a:off x="6153912" y="2240280"/>
            <a:ext cx="2788920" cy="2103120"/>
          </a:xfrm>
          <a:prstGeom prst="rect">
            <a:avLst/>
          </a:prstGeom>
          <a:solidFill>
            <a:srgbClr val="041530"/>
          </a:solidFill>
          <a:ln w="12700">
            <a:solidFill>
              <a:srgbClr val="0EA5DC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9" name="Shape 29"/>
          <p:cNvSpPr/>
          <p:nvPr/>
        </p:nvSpPr>
        <p:spPr>
          <a:xfrm>
            <a:off x="6153912" y="2240280"/>
            <a:ext cx="2788920" cy="54864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6217920" y="2331720"/>
            <a:ext cx="2660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RP3+TD</a:t>
            </a:r>
            <a:endParaRPr lang="en-US" sz="1300" dirty="0"/>
          </a:p>
        </p:txBody>
      </p:sp>
      <p:sp>
        <p:nvSpPr>
          <p:cNvPr id="41" name="Text 31"/>
          <p:cNvSpPr/>
          <p:nvPr/>
        </p:nvSpPr>
        <p:spPr>
          <a:xfrm>
            <a:off x="6217920" y="2651760"/>
            <a:ext cx="2660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A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Complemento base · peso 0.023</a:t>
            </a:r>
            <a:endParaRPr lang="en-US" sz="900" dirty="0"/>
          </a:p>
        </p:txBody>
      </p:sp>
      <p:sp>
        <p:nvSpPr>
          <p:cNvPr id="42" name="Shape 32"/>
          <p:cNvSpPr/>
          <p:nvPr/>
        </p:nvSpPr>
        <p:spPr>
          <a:xfrm>
            <a:off x="6318504" y="2944368"/>
            <a:ext cx="2459736" cy="256032"/>
          </a:xfrm>
          <a:prstGeom prst="rect">
            <a:avLst/>
          </a:prstGeom>
          <a:solidFill>
            <a:srgbClr val="1A3A6A"/>
          </a:solidFill>
          <a:ln w="12700">
            <a:solidFill>
              <a:srgbClr val="060D1A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6318504" y="2944368"/>
            <a:ext cx="2459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Individual: 0.0286  →  En ensemble: 2.3%</a:t>
            </a:r>
            <a:endParaRPr lang="en-US" sz="950" dirty="0"/>
          </a:p>
        </p:txBody>
      </p:sp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3291840"/>
            <a:ext cx="182880" cy="182880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6501384" y="3273552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score base sin multi-evento</a:t>
            </a:r>
            <a:endParaRPr lang="en-US" sz="950" dirty="0"/>
          </a:p>
        </p:txBody>
      </p:sp>
      <p:pic>
        <p:nvPicPr>
          <p:cNvPr id="46" name="Image 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3630168"/>
            <a:ext cx="182880" cy="182880"/>
          </a:xfrm>
          <a:prstGeom prst="rect">
            <a:avLst/>
          </a:prstGeom>
        </p:spPr>
      </p:pic>
      <p:sp>
        <p:nvSpPr>
          <p:cNvPr id="47" name="Text 35"/>
          <p:cNvSpPr/>
          <p:nvPr/>
        </p:nvSpPr>
        <p:spPr>
          <a:xfrm>
            <a:off x="6501384" y="3611880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Aporta señal temporal desacoplada</a:t>
            </a:r>
            <a:endParaRPr lang="en-US" sz="950" dirty="0"/>
          </a:p>
        </p:txBody>
      </p:sp>
      <p:pic>
        <p:nvPicPr>
          <p:cNvPr id="48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3968496"/>
            <a:ext cx="182880" cy="182880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6501384" y="3950208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Trío óptimo confirmado: +modelos no ayudan (NB15)</a:t>
            </a:r>
            <a:endParaRPr lang="en-US" sz="950" dirty="0"/>
          </a:p>
        </p:txBody>
      </p:sp>
      <p:sp>
        <p:nvSpPr>
          <p:cNvPr id="50" name="Shape 37"/>
          <p:cNvSpPr/>
          <p:nvPr/>
        </p:nvSpPr>
        <p:spPr>
          <a:xfrm>
            <a:off x="0" y="4443984"/>
            <a:ext cx="9144000" cy="694944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51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17720"/>
            <a:ext cx="228600" cy="228600"/>
          </a:xfrm>
          <a:prstGeom prst="rect">
            <a:avLst/>
          </a:prstGeom>
        </p:spPr>
      </p:pic>
      <p:sp>
        <p:nvSpPr>
          <p:cNvPr id="52" name="Text 38"/>
          <p:cNvSpPr/>
          <p:nvPr/>
        </p:nvSpPr>
        <p:spPr>
          <a:xfrm>
            <a:off x="749808" y="448056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el ensemble supera a los individuales? EASE^R ve el espacio diferente (ρ=0.216). Juntos capturan señales complementarias → 0.0431 vs 0.0286 solo. Dacrema et al. (2019): métodos CF clásicos bien combinados superan DL en sparsidad alta.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822960" cy="822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solidFill>
            <a:srgbClr val="007A50"/>
          </a:solidFill>
          <a:ln w="12700">
            <a:solidFill>
              <a:srgbClr val="007A5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9875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6 · PRODUCCIÓN · INTEGRANTE 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645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Producción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0408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Stage 1 + Stage 2 · FastAPI · Streamlit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92608" y="1234440"/>
            <a:ext cx="2788920" cy="1664208"/>
          </a:xfrm>
          <a:prstGeom prst="rect">
            <a:avLst/>
          </a:prstGeom>
          <a:solidFill>
            <a:srgbClr val="041530"/>
          </a:solidFill>
          <a:ln w="12700">
            <a:solidFill>
              <a:srgbClr val="0EA5DC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92608" y="1234440"/>
            <a:ext cx="2788920" cy="54864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3896" y="137160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6616" y="1901952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56616" y="2286000"/>
            <a:ext cx="2660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RetailRocket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nuevas interacciones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(incremental diario)</a:t>
            </a:r>
            <a:endParaRPr lang="en-US" sz="10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8960" y="2057400"/>
            <a:ext cx="164592" cy="16459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3218688" y="1234440"/>
            <a:ext cx="2788920" cy="1664208"/>
          </a:xfrm>
          <a:prstGeom prst="rect">
            <a:avLst/>
          </a:prstGeom>
          <a:solidFill>
            <a:srgbClr val="0A0018"/>
          </a:solidFill>
          <a:ln w="12700">
            <a:solidFill>
              <a:srgbClr val="9B59B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3218688" y="1234440"/>
            <a:ext cx="2788920" cy="54864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9976" y="1371600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3282696" y="1901952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Entrenamiento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3282696" y="2286000"/>
            <a:ext cx="2660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RP3beta (6s)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EASE^R (130s)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weights</a:t>
            </a:r>
            <a:endParaRPr lang="en-US" sz="100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2057400"/>
            <a:ext cx="164592" cy="164592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144768" y="1234440"/>
            <a:ext cx="2788920" cy="1664208"/>
          </a:xfrm>
          <a:prstGeom prst="rect">
            <a:avLst/>
          </a:prstGeom>
          <a:solidFill>
            <a:srgbClr val="1A0800"/>
          </a:solidFill>
          <a:ln w="12700">
            <a:solidFill>
              <a:srgbClr val="FF8C0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Shape 15"/>
          <p:cNvSpPr/>
          <p:nvPr/>
        </p:nvSpPr>
        <p:spPr>
          <a:xfrm>
            <a:off x="6144768" y="1234440"/>
            <a:ext cx="2788920" cy="54864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6056" y="1371600"/>
            <a:ext cx="457200" cy="45720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6208776" y="1901952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300" dirty="0"/>
          </a:p>
        </p:txBody>
      </p:sp>
      <p:sp>
        <p:nvSpPr>
          <p:cNvPr id="25" name="Text 17"/>
          <p:cNvSpPr/>
          <p:nvPr/>
        </p:nvSpPr>
        <p:spPr>
          <a:xfrm>
            <a:off x="6208776" y="2286000"/>
            <a:ext cx="2660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ANN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sub-10ms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Top-100 candidatos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292608" y="3063240"/>
            <a:ext cx="2788920" cy="1664208"/>
          </a:xfrm>
          <a:prstGeom prst="rect">
            <a:avLst/>
          </a:prstGeom>
          <a:solidFill>
            <a:srgbClr val="1A0800"/>
          </a:solidFill>
          <a:ln w="12700">
            <a:solidFill>
              <a:srgbClr val="FF8C0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92608" y="3063240"/>
            <a:ext cx="2788920" cy="54864"/>
          </a:xfrm>
          <a:prstGeom prst="rect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53896" y="3200400"/>
            <a:ext cx="457200" cy="45720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56616" y="3730752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Re-ranking</a:t>
            </a:r>
            <a:endParaRPr lang="en-US" sz="1300" dirty="0"/>
          </a:p>
        </p:txBody>
      </p:sp>
      <p:sp>
        <p:nvSpPr>
          <p:cNvPr id="30" name="Text 21"/>
          <p:cNvSpPr/>
          <p:nvPr/>
        </p:nvSpPr>
        <p:spPr>
          <a:xfrm>
            <a:off x="356616" y="4114800"/>
            <a:ext cx="2660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ctx.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Hora/dispositivo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 final</a:t>
            </a:r>
            <a:endParaRPr lang="en-US" sz="1000" dirty="0"/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8960" y="3886200"/>
            <a:ext cx="164592" cy="164592"/>
          </a:xfrm>
          <a:prstGeom prst="rect">
            <a:avLst/>
          </a:prstGeom>
        </p:spPr>
      </p:pic>
      <p:sp>
        <p:nvSpPr>
          <p:cNvPr id="32" name="Shape 22"/>
          <p:cNvSpPr/>
          <p:nvPr/>
        </p:nvSpPr>
        <p:spPr>
          <a:xfrm>
            <a:off x="3218688" y="3063240"/>
            <a:ext cx="2788920" cy="1664208"/>
          </a:xfrm>
          <a:prstGeom prst="rect">
            <a:avLst/>
          </a:prstGeom>
          <a:solidFill>
            <a:srgbClr val="041530"/>
          </a:solidFill>
          <a:ln w="12700">
            <a:solidFill>
              <a:srgbClr val="0EA5DC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3" name="Shape 23"/>
          <p:cNvSpPr/>
          <p:nvPr/>
        </p:nvSpPr>
        <p:spPr>
          <a:xfrm>
            <a:off x="3218688" y="3063240"/>
            <a:ext cx="2788920" cy="54864"/>
          </a:xfrm>
          <a:prstGeom prst="rect">
            <a:avLst/>
          </a:prstGeom>
          <a:solidFill>
            <a:srgbClr val="0EA5DC"/>
          </a:solidFill>
          <a:ln w="12700">
            <a:solidFill>
              <a:srgbClr val="0EA5DC"/>
            </a:solidFill>
            <a:prstDash val="solid"/>
          </a:ln>
        </p:spPr>
      </p:sp>
      <p:pic>
        <p:nvPicPr>
          <p:cNvPr id="34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79976" y="3200400"/>
            <a:ext cx="457200" cy="457200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3282696" y="3730752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300" dirty="0"/>
          </a:p>
        </p:txBody>
      </p:sp>
      <p:sp>
        <p:nvSpPr>
          <p:cNvPr id="36" name="Text 25"/>
          <p:cNvSpPr/>
          <p:nvPr/>
        </p:nvSpPr>
        <p:spPr>
          <a:xfrm>
            <a:off x="3282696" y="4114800"/>
            <a:ext cx="2660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/recommend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Top-N por user_id</a:t>
            </a:r>
            <a:endParaRPr lang="en-US" sz="1000" dirty="0"/>
          </a:p>
        </p:txBody>
      </p:sp>
      <p:pic>
        <p:nvPicPr>
          <p:cNvPr id="37" name="Image 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3886200"/>
            <a:ext cx="164592" cy="164592"/>
          </a:xfrm>
          <a:prstGeom prst="rect">
            <a:avLst/>
          </a:prstGeom>
        </p:spPr>
      </p:pic>
      <p:sp>
        <p:nvSpPr>
          <p:cNvPr id="38" name="Shape 26"/>
          <p:cNvSpPr/>
          <p:nvPr/>
        </p:nvSpPr>
        <p:spPr>
          <a:xfrm>
            <a:off x="6144768" y="3063240"/>
            <a:ext cx="2788920" cy="1664208"/>
          </a:xfrm>
          <a:prstGeom prst="rect">
            <a:avLst/>
          </a:prstGeom>
          <a:solidFill>
            <a:srgbClr val="001A0A"/>
          </a:solidFill>
          <a:ln w="12700">
            <a:solidFill>
              <a:srgbClr val="00E5A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9" name="Shape 27"/>
          <p:cNvSpPr/>
          <p:nvPr/>
        </p:nvSpPr>
        <p:spPr>
          <a:xfrm>
            <a:off x="6144768" y="3063240"/>
            <a:ext cx="2788920" cy="54864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06056" y="3200400"/>
            <a:ext cx="457200" cy="457200"/>
          </a:xfrm>
          <a:prstGeom prst="rect">
            <a:avLst/>
          </a:prstGeom>
        </p:spPr>
      </p:pic>
      <p:sp>
        <p:nvSpPr>
          <p:cNvPr id="41" name="Text 28"/>
          <p:cNvSpPr/>
          <p:nvPr/>
        </p:nvSpPr>
        <p:spPr>
          <a:xfrm>
            <a:off x="6208776" y="3730752"/>
            <a:ext cx="2660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208776" y="4114800"/>
            <a:ext cx="2660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Power BI</a:t>
            </a:r>
            <a:endParaRPr lang="en-US" sz="1000" dirty="0"/>
          </a:p>
        </p:txBody>
      </p:sp>
      <p:sp>
        <p:nvSpPr>
          <p:cNvPr id="43" name="Shape 30"/>
          <p:cNvSpPr/>
          <p:nvPr/>
        </p:nvSpPr>
        <p:spPr>
          <a:xfrm>
            <a:off x="0" y="4892040"/>
            <a:ext cx="9144000" cy="246888"/>
          </a:xfrm>
          <a:prstGeom prst="rect">
            <a:avLst/>
          </a:prstGeom>
          <a:solidFill>
            <a:srgbClr val="040A14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Text 31"/>
          <p:cNvSpPr/>
          <p:nvPr/>
        </p:nvSpPr>
        <p:spPr>
          <a:xfrm>
            <a:off x="457200" y="49103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paso: A/B test — CTR y conversion rate del nuevo sistema vs. baseline de popularidad actual · Pipeline incremental: actualización diaria sin re-entrenar desde cero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D1A"/>
          </a:solidFill>
          <a:ln w="12700">
            <a:solidFill>
              <a:srgbClr val="050D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914400" y="-914400"/>
            <a:ext cx="4572000" cy="4572000"/>
          </a:xfrm>
          <a:prstGeom prst="ellipse">
            <a:avLst/>
          </a:prstGeom>
          <a:solidFill>
            <a:srgbClr val="001535">
              <a:alpha val="50000"/>
            </a:srgbClr>
          </a:solidFill>
          <a:ln w="12700">
            <a:solidFill>
              <a:srgbClr val="0015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0" y="1828800"/>
            <a:ext cx="4572000" cy="4572000"/>
          </a:xfrm>
          <a:prstGeom prst="ellipse">
            <a:avLst/>
          </a:prstGeom>
          <a:solidFill>
            <a:srgbClr val="001535">
              <a:alpha val="40000"/>
            </a:srgbClr>
          </a:solidFill>
          <a:ln w="12700">
            <a:solidFill>
              <a:srgbClr val="001535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320" y="182880"/>
            <a:ext cx="1737360" cy="1737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19933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25+ modelos. 15 notebooks. Dataset real.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395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deep learning falló — los métodos clásicos ganaron.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279806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clave no fue el mejor modelo individual...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200400" y="3291840"/>
            <a:ext cx="2743200" cy="4572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34015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...sino combinarlos inteligentemente.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1371600" y="3977640"/>
            <a:ext cx="6400800" cy="868680"/>
          </a:xfrm>
          <a:prstGeom prst="rect">
            <a:avLst/>
          </a:prstGeom>
          <a:solidFill>
            <a:srgbClr val="001A0A"/>
          </a:solidFill>
          <a:ln w="12700">
            <a:solidFill>
              <a:srgbClr val="00E5A0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2768" y="411480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084832" y="40233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Optimizado  ·  NDCG@10 = 0.0431  ·  +50.8% vs baseline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2084832" y="44348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RP3+TD · EASE^R · RP3+MB+TD  |  Pesos: 0.023 / 0.021 / 0.956  |  Spearman ρ=0.216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369</TotalTime>
  <Words>2842</Words>
  <Application>Microsoft Office PowerPoint</Application>
  <PresentationFormat>Presentación en pantalla (16:9)</PresentationFormat>
  <Paragraphs>520</Paragraphs>
  <Slides>15</Slides>
  <Notes>15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9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Nexus RecSys — Presentación Técnica Final</dc:title>
  <dc:subject>PptxGenJS Presentation</dc:subject>
  <dc:creator>PptxGenJS</dc:creator>
  <cp:lastModifiedBy>Leila Maria Abduca</cp:lastModifiedBy>
  <cp:revision>2</cp:revision>
  <dcterms:created xsi:type="dcterms:W3CDTF">2026-03-22T04:11:45Z</dcterms:created>
  <dcterms:modified xsi:type="dcterms:W3CDTF">2026-03-23T21:41:41Z</dcterms:modified>
</cp:coreProperties>
</file>