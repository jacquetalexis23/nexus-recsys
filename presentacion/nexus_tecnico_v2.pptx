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38" autoAdjust="0"/>
  </p:normalViewPr>
  <p:slideViewPr>
    <p:cSldViewPr snapToGrid="0" snapToObjects="1">
      <p:cViewPr varScale="1">
        <p:scale>
          <a:sx n="89" d="100"/>
          <a:sy n="89" d="100"/>
        </p:scale>
        <p:origin x="12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Maria Abduca" userId="b2eb59c3-4a0c-4042-a308-940cfd8606aa" providerId="ADAL" clId="{3096589E-A249-4E20-8EE7-251CDCC4F39D}"/>
    <pc:docChg chg="undo custSel modSld">
      <pc:chgData name="Leila Maria Abduca" userId="b2eb59c3-4a0c-4042-a308-940cfd8606aa" providerId="ADAL" clId="{3096589E-A249-4E20-8EE7-251CDCC4F39D}" dt="2026-03-24T00:00:21.859" v="1036" actId="6549"/>
      <pc:docMkLst>
        <pc:docMk/>
      </pc:docMkLst>
      <pc:sldChg chg="modSp mod">
        <pc:chgData name="Leila Maria Abduca" userId="b2eb59c3-4a0c-4042-a308-940cfd8606aa" providerId="ADAL" clId="{3096589E-A249-4E20-8EE7-251CDCC4F39D}" dt="2026-03-23T22:06:56.412" v="700" actId="6549"/>
        <pc:sldMkLst>
          <pc:docMk/>
          <pc:sldMk cId="0" sldId="256"/>
        </pc:sldMkLst>
        <pc:spChg chg="mod">
          <ac:chgData name="Leila Maria Abduca" userId="b2eb59c3-4a0c-4042-a308-940cfd8606aa" providerId="ADAL" clId="{3096589E-A249-4E20-8EE7-251CDCC4F39D}" dt="2026-03-23T22:06:56.412" v="700" actId="6549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Leila Maria Abduca" userId="b2eb59c3-4a0c-4042-a308-940cfd8606aa" providerId="ADAL" clId="{3096589E-A249-4E20-8EE7-251CDCC4F39D}" dt="2026-03-23T15:41:52.502" v="0" actId="6549"/>
        <pc:sldMkLst>
          <pc:docMk/>
          <pc:sldMk cId="0" sldId="257"/>
        </pc:sldMkLst>
        <pc:spChg chg="mod">
          <ac:chgData name="Leila Maria Abduca" userId="b2eb59c3-4a0c-4042-a308-940cfd8606aa" providerId="ADAL" clId="{3096589E-A249-4E20-8EE7-251CDCC4F39D}" dt="2026-03-23T15:41:52.502" v="0" actId="6549"/>
          <ac:spMkLst>
            <pc:docMk/>
            <pc:sldMk cId="0" sldId="257"/>
            <ac:spMk id="22" creationId="{00000000-0000-0000-0000-000000000000}"/>
          </ac:spMkLst>
        </pc:spChg>
      </pc:sldChg>
      <pc:sldChg chg="addSp delSp modSp mod">
        <pc:chgData name="Leila Maria Abduca" userId="b2eb59c3-4a0c-4042-a308-940cfd8606aa" providerId="ADAL" clId="{3096589E-A249-4E20-8EE7-251CDCC4F39D}" dt="2026-03-23T23:46:35.842" v="860" actId="20577"/>
        <pc:sldMkLst>
          <pc:docMk/>
          <pc:sldMk cId="0" sldId="258"/>
        </pc:sldMkLst>
        <pc:spChg chg="mod">
          <ac:chgData name="Leila Maria Abduca" userId="b2eb59c3-4a0c-4042-a308-940cfd8606aa" providerId="ADAL" clId="{3096589E-A249-4E20-8EE7-251CDCC4F39D}" dt="2026-03-23T15:43:37.988" v="41" actId="1038"/>
          <ac:spMkLst>
            <pc:docMk/>
            <pc:sldMk cId="0" sldId="258"/>
            <ac:spMk id="2" creationId="{00000000-0000-0000-0000-000000000000}"/>
          </ac:spMkLst>
        </pc:spChg>
        <pc:spChg chg="del">
          <ac:chgData name="Leila Maria Abduca" userId="b2eb59c3-4a0c-4042-a308-940cfd8606aa" providerId="ADAL" clId="{3096589E-A249-4E20-8EE7-251CDCC4F39D}" dt="2026-03-23T15:44:48.193" v="44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0:34:49.572" v="422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0:26:23.909" v="394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3:46:35.842" v="860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1:37:42.870" v="504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5:43:37.988" v="41" actId="1038"/>
          <ac:spMkLst>
            <pc:docMk/>
            <pc:sldMk cId="0" sldId="258"/>
            <ac:spMk id="29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5:43:37.988" v="41" actId="1038"/>
          <ac:spMkLst>
            <pc:docMk/>
            <pc:sldMk cId="0" sldId="258"/>
            <ac:spMk id="32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5:43:37.988" v="41" actId="1038"/>
          <ac:spMkLst>
            <pc:docMk/>
            <pc:sldMk cId="0" sldId="258"/>
            <ac:spMk id="35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2:02:54.574" v="583" actId="20577"/>
          <ac:spMkLst>
            <pc:docMk/>
            <pc:sldMk cId="0" sldId="258"/>
            <ac:spMk id="36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2:06:37.671" v="699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2:05:00.445" v="642" actId="103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2:04:53.911" v="625" actId="103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2:04:47.475" v="614" actId="1036"/>
          <ac:spMkLst>
            <pc:docMk/>
            <pc:sldMk cId="0" sldId="258"/>
            <ac:spMk id="45" creationId="{00000000-0000-0000-0000-000000000000}"/>
          </ac:spMkLst>
        </pc:spChg>
        <pc:spChg chg="add mod">
          <ac:chgData name="Leila Maria Abduca" userId="b2eb59c3-4a0c-4042-a308-940cfd8606aa" providerId="ADAL" clId="{3096589E-A249-4E20-8EE7-251CDCC4F39D}" dt="2026-03-23T21:38:11.189" v="516" actId="1076"/>
          <ac:spMkLst>
            <pc:docMk/>
            <pc:sldMk cId="0" sldId="258"/>
            <ac:spMk id="47" creationId="{7B53D529-C7B9-7C6C-085B-0A6EB65E1DDD}"/>
          </ac:spMkLst>
        </pc:spChg>
        <pc:spChg chg="add mod">
          <ac:chgData name="Leila Maria Abduca" userId="b2eb59c3-4a0c-4042-a308-940cfd8606aa" providerId="ADAL" clId="{3096589E-A249-4E20-8EE7-251CDCC4F39D}" dt="2026-03-23T22:05:43.838" v="680" actId="1076"/>
          <ac:spMkLst>
            <pc:docMk/>
            <pc:sldMk cId="0" sldId="258"/>
            <ac:spMk id="48" creationId="{B08D81BA-66F5-5414-B56E-74506C3983F2}"/>
          </ac:spMkLst>
        </pc:spChg>
        <pc:spChg chg="add mod">
          <ac:chgData name="Leila Maria Abduca" userId="b2eb59c3-4a0c-4042-a308-940cfd8606aa" providerId="ADAL" clId="{3096589E-A249-4E20-8EE7-251CDCC4F39D}" dt="2026-03-23T21:40:51.232" v="577" actId="1076"/>
          <ac:spMkLst>
            <pc:docMk/>
            <pc:sldMk cId="0" sldId="258"/>
            <ac:spMk id="49" creationId="{C9546C0B-1849-41B9-E320-7E86027248C2}"/>
          </ac:spMkLst>
        </pc:spChg>
        <pc:picChg chg="add mod">
          <ac:chgData name="Leila Maria Abduca" userId="b2eb59c3-4a0c-4042-a308-940cfd8606aa" providerId="ADAL" clId="{3096589E-A249-4E20-8EE7-251CDCC4F39D}" dt="2026-03-23T22:05:07.391" v="644" actId="1076"/>
          <ac:picMkLst>
            <pc:docMk/>
            <pc:sldMk cId="0" sldId="258"/>
            <ac:picMk id="8" creationId="{8F9E0AFB-6F56-E8C5-C42B-7326A2A8E939}"/>
          </ac:picMkLst>
        </pc:picChg>
        <pc:picChg chg="mod">
          <ac:chgData name="Leila Maria Abduca" userId="b2eb59c3-4a0c-4042-a308-940cfd8606aa" providerId="ADAL" clId="{3096589E-A249-4E20-8EE7-251CDCC4F39D}" dt="2026-03-23T22:05:00.445" v="642" actId="1036"/>
          <ac:picMkLst>
            <pc:docMk/>
            <pc:sldMk cId="0" sldId="258"/>
            <ac:picMk id="40" creationId="{00000000-0000-0000-0000-000000000000}"/>
          </ac:picMkLst>
        </pc:picChg>
        <pc:picChg chg="mod">
          <ac:chgData name="Leila Maria Abduca" userId="b2eb59c3-4a0c-4042-a308-940cfd8606aa" providerId="ADAL" clId="{3096589E-A249-4E20-8EE7-251CDCC4F39D}" dt="2026-03-23T22:04:53.911" v="625" actId="1036"/>
          <ac:picMkLst>
            <pc:docMk/>
            <pc:sldMk cId="0" sldId="258"/>
            <ac:picMk id="42" creationId="{00000000-0000-0000-0000-000000000000}"/>
          </ac:picMkLst>
        </pc:picChg>
        <pc:picChg chg="mod">
          <ac:chgData name="Leila Maria Abduca" userId="b2eb59c3-4a0c-4042-a308-940cfd8606aa" providerId="ADAL" clId="{3096589E-A249-4E20-8EE7-251CDCC4F39D}" dt="2026-03-23T22:04:47.475" v="614" actId="1036"/>
          <ac:picMkLst>
            <pc:docMk/>
            <pc:sldMk cId="0" sldId="258"/>
            <ac:picMk id="44" creationId="{00000000-0000-0000-0000-000000000000}"/>
          </ac:picMkLst>
        </pc:picChg>
        <pc:picChg chg="add mod">
          <ac:chgData name="Leila Maria Abduca" userId="b2eb59c3-4a0c-4042-a308-940cfd8606aa" providerId="ADAL" clId="{3096589E-A249-4E20-8EE7-251CDCC4F39D}" dt="2026-03-23T21:35:31.754" v="493" actId="1076"/>
          <ac:picMkLst>
            <pc:docMk/>
            <pc:sldMk cId="0" sldId="258"/>
            <ac:picMk id="46" creationId="{0F4E32E8-778B-A395-1C09-6130001C59A3}"/>
          </ac:picMkLst>
        </pc:picChg>
        <pc:picChg chg="add del mod">
          <ac:chgData name="Leila Maria Abduca" userId="b2eb59c3-4a0c-4042-a308-940cfd8606aa" providerId="ADAL" clId="{3096589E-A249-4E20-8EE7-251CDCC4F39D}" dt="2026-03-23T21:36:35.666" v="496" actId="478"/>
          <ac:picMkLst>
            <pc:docMk/>
            <pc:sldMk cId="0" sldId="258"/>
            <ac:picMk id="48" creationId="{78D313B6-50C8-5F0D-E1B3-CEADC7992FAF}"/>
          </ac:picMkLst>
        </pc:picChg>
      </pc:sldChg>
      <pc:sldChg chg="modSp mod">
        <pc:chgData name="Leila Maria Abduca" userId="b2eb59c3-4a0c-4042-a308-940cfd8606aa" providerId="ADAL" clId="{3096589E-A249-4E20-8EE7-251CDCC4F39D}" dt="2026-03-23T15:46:37.502" v="51"/>
        <pc:sldMkLst>
          <pc:docMk/>
          <pc:sldMk cId="0" sldId="259"/>
        </pc:sldMkLst>
        <pc:spChg chg="mod">
          <ac:chgData name="Leila Maria Abduca" userId="b2eb59c3-4a0c-4042-a308-940cfd8606aa" providerId="ADAL" clId="{3096589E-A249-4E20-8EE7-251CDCC4F39D}" dt="2026-03-23T15:46:06.305" v="46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5:46:26.132" v="48" actId="21"/>
          <ac:spMkLst>
            <pc:docMk/>
            <pc:sldMk cId="0" sldId="259"/>
            <ac:spMk id="28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5:46:34.701" v="50" actId="21"/>
          <ac:spMkLst>
            <pc:docMk/>
            <pc:sldMk cId="0" sldId="259"/>
            <ac:spMk id="30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5:46:37.502" v="51"/>
          <ac:spMkLst>
            <pc:docMk/>
            <pc:sldMk cId="0" sldId="259"/>
            <ac:spMk id="32" creationId="{00000000-0000-0000-0000-000000000000}"/>
          </ac:spMkLst>
        </pc:spChg>
      </pc:sldChg>
      <pc:sldChg chg="modSp mod">
        <pc:chgData name="Leila Maria Abduca" userId="b2eb59c3-4a0c-4042-a308-940cfd8606aa" providerId="ADAL" clId="{3096589E-A249-4E20-8EE7-251CDCC4F39D}" dt="2026-03-23T19:25:55.791" v="62" actId="20577"/>
        <pc:sldMkLst>
          <pc:docMk/>
          <pc:sldMk cId="0" sldId="260"/>
        </pc:sldMkLst>
        <pc:spChg chg="mod">
          <ac:chgData name="Leila Maria Abduca" userId="b2eb59c3-4a0c-4042-a308-940cfd8606aa" providerId="ADAL" clId="{3096589E-A249-4E20-8EE7-251CDCC4F39D}" dt="2026-03-23T19:25:55.791" v="62" actId="20577"/>
          <ac:spMkLst>
            <pc:docMk/>
            <pc:sldMk cId="0" sldId="260"/>
            <ac:spMk id="35" creationId="{00000000-0000-0000-0000-000000000000}"/>
          </ac:spMkLst>
        </pc:spChg>
      </pc:sldChg>
      <pc:sldChg chg="modSp mod">
        <pc:chgData name="Leila Maria Abduca" userId="b2eb59c3-4a0c-4042-a308-940cfd8606aa" providerId="ADAL" clId="{3096589E-A249-4E20-8EE7-251CDCC4F39D}" dt="2026-03-23T23:59:23.192" v="1029" actId="6549"/>
        <pc:sldMkLst>
          <pc:docMk/>
          <pc:sldMk cId="0" sldId="261"/>
        </pc:sldMkLst>
        <pc:spChg chg="mod">
          <ac:chgData name="Leila Maria Abduca" userId="b2eb59c3-4a0c-4042-a308-940cfd8606aa" providerId="ADAL" clId="{3096589E-A249-4E20-8EE7-251CDCC4F39D}" dt="2026-03-23T19:35:19.554" v="346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35:23.128" v="357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29:17.932" v="96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27:09.710" v="95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31:13.405" v="270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30:31.087" v="196" actId="20577"/>
          <ac:spMkLst>
            <pc:docMk/>
            <pc:sldMk cId="0" sldId="261"/>
            <ac:spMk id="29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38:54.147" v="363" actId="20577"/>
          <ac:spMkLst>
            <pc:docMk/>
            <pc:sldMk cId="0" sldId="261"/>
            <ac:spMk id="33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3:59:23.192" v="1029" actId="6549"/>
          <ac:spMkLst>
            <pc:docMk/>
            <pc:sldMk cId="0" sldId="261"/>
            <ac:spMk id="37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26:27.859" v="63" actId="2057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19:26:36.152" v="64" actId="20577"/>
          <ac:spMkLst>
            <pc:docMk/>
            <pc:sldMk cId="0" sldId="261"/>
            <ac:spMk id="41" creationId="{00000000-0000-0000-0000-000000000000}"/>
          </ac:spMkLst>
        </pc:spChg>
      </pc:sldChg>
      <pc:sldChg chg="modSp mod modNotesTx">
        <pc:chgData name="Leila Maria Abduca" userId="b2eb59c3-4a0c-4042-a308-940cfd8606aa" providerId="ADAL" clId="{3096589E-A249-4E20-8EE7-251CDCC4F39D}" dt="2026-03-24T00:00:21.859" v="1036" actId="6549"/>
        <pc:sldMkLst>
          <pc:docMk/>
          <pc:sldMk cId="0" sldId="262"/>
        </pc:sldMkLst>
        <pc:spChg chg="mod">
          <ac:chgData name="Leila Maria Abduca" userId="b2eb59c3-4a0c-4042-a308-940cfd8606aa" providerId="ADAL" clId="{3096589E-A249-4E20-8EE7-251CDCC4F39D}" dt="2026-03-24T00:00:21.859" v="1036" actId="6549"/>
          <ac:spMkLst>
            <pc:docMk/>
            <pc:sldMk cId="0" sldId="262"/>
            <ac:spMk id="7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3:54:40.122" v="995" actId="2057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3:12:59.836" v="701" actId="20577"/>
          <ac:spMkLst>
            <pc:docMk/>
            <pc:sldMk cId="0" sldId="262"/>
            <ac:spMk id="59" creationId="{00000000-0000-0000-0000-000000000000}"/>
          </ac:spMkLst>
        </pc:spChg>
      </pc:sldChg>
      <pc:sldChg chg="modSp mod">
        <pc:chgData name="Leila Maria Abduca" userId="b2eb59c3-4a0c-4042-a308-940cfd8606aa" providerId="ADAL" clId="{3096589E-A249-4E20-8EE7-251CDCC4F39D}" dt="2026-03-23T23:16:53.519" v="713" actId="20577"/>
        <pc:sldMkLst>
          <pc:docMk/>
          <pc:sldMk cId="0" sldId="268"/>
        </pc:sldMkLst>
        <pc:spChg chg="mod">
          <ac:chgData name="Leila Maria Abduca" userId="b2eb59c3-4a0c-4042-a308-940cfd8606aa" providerId="ADAL" clId="{3096589E-A249-4E20-8EE7-251CDCC4F39D}" dt="2026-03-23T23:16:53.519" v="713" actId="20577"/>
          <ac:spMkLst>
            <pc:docMk/>
            <pc:sldMk cId="0" sldId="268"/>
            <ac:spMk id="52" creationId="{00000000-0000-0000-0000-000000000000}"/>
          </ac:spMkLst>
        </pc:spChg>
      </pc:sldChg>
      <pc:sldChg chg="addSp delSp modSp mod">
        <pc:chgData name="Leila Maria Abduca" userId="b2eb59c3-4a0c-4042-a308-940cfd8606aa" providerId="ADAL" clId="{3096589E-A249-4E20-8EE7-251CDCC4F39D}" dt="2026-03-23T23:38:38.192" v="840" actId="207"/>
        <pc:sldMkLst>
          <pc:docMk/>
          <pc:sldMk cId="0" sldId="271"/>
        </pc:sldMkLst>
        <pc:spChg chg="add del mod">
          <ac:chgData name="Leila Maria Abduca" userId="b2eb59c3-4a0c-4042-a308-940cfd8606aa" providerId="ADAL" clId="{3096589E-A249-4E20-8EE7-251CDCC4F39D}" dt="2026-03-23T23:37:18.116" v="779"/>
          <ac:spMkLst>
            <pc:docMk/>
            <pc:sldMk cId="0" sldId="271"/>
            <ac:spMk id="2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3:28:25.071" v="774" actId="6549"/>
          <ac:spMkLst>
            <pc:docMk/>
            <pc:sldMk cId="0" sldId="271"/>
            <ac:spMk id="63" creationId="{00000000-0000-0000-0000-000000000000}"/>
          </ac:spMkLst>
        </pc:spChg>
        <pc:spChg chg="mod">
          <ac:chgData name="Leila Maria Abduca" userId="b2eb59c3-4a0c-4042-a308-940cfd8606aa" providerId="ADAL" clId="{3096589E-A249-4E20-8EE7-251CDCC4F39D}" dt="2026-03-23T23:20:09.759" v="715" actId="6549"/>
          <ac:spMkLst>
            <pc:docMk/>
            <pc:sldMk cId="0" sldId="271"/>
            <ac:spMk id="76" creationId="{00000000-0000-0000-0000-000000000000}"/>
          </ac:spMkLst>
        </pc:spChg>
        <pc:spChg chg="add del mod">
          <ac:chgData name="Leila Maria Abduca" userId="b2eb59c3-4a0c-4042-a308-940cfd8606aa" providerId="ADAL" clId="{3096589E-A249-4E20-8EE7-251CDCC4F39D}" dt="2026-03-23T23:26:22.871" v="763" actId="20577"/>
          <ac:spMkLst>
            <pc:docMk/>
            <pc:sldMk cId="0" sldId="271"/>
            <ac:spMk id="84" creationId="{0F886A24-2147-AAA2-A1FB-4C0E75760265}"/>
          </ac:spMkLst>
        </pc:spChg>
        <pc:spChg chg="add mod">
          <ac:chgData name="Leila Maria Abduca" userId="b2eb59c3-4a0c-4042-a308-940cfd8606aa" providerId="ADAL" clId="{3096589E-A249-4E20-8EE7-251CDCC4F39D}" dt="2026-03-23T23:38:38.192" v="840" actId="207"/>
          <ac:spMkLst>
            <pc:docMk/>
            <pc:sldMk cId="0" sldId="271"/>
            <ac:spMk id="86" creationId="{39549D94-9BBF-FD91-9DE1-C25CF159775F}"/>
          </ac:spMkLst>
        </pc:spChg>
        <pc:picChg chg="add del mod">
          <ac:chgData name="Leila Maria Abduca" userId="b2eb59c3-4a0c-4042-a308-940cfd8606aa" providerId="ADAL" clId="{3096589E-A249-4E20-8EE7-251CDCC4F39D}" dt="2026-03-23T23:26:00.565" v="760" actId="21"/>
          <ac:picMkLst>
            <pc:docMk/>
            <pc:sldMk cId="0" sldId="271"/>
            <ac:picMk id="83" creationId="{12826671-C37C-67EC-A1DC-88E28F7181BB}"/>
          </ac:picMkLst>
        </pc:picChg>
        <pc:picChg chg="add mod">
          <ac:chgData name="Leila Maria Abduca" userId="b2eb59c3-4a0c-4042-a308-940cfd8606aa" providerId="ADAL" clId="{3096589E-A249-4E20-8EE7-251CDCC4F39D}" dt="2026-03-23T23:26:14.852" v="762" actId="1076"/>
          <ac:picMkLst>
            <pc:docMk/>
            <pc:sldMk cId="0" sldId="271"/>
            <ac:picMk id="85" creationId="{1C28CA51-3F11-8002-8560-45F19D675C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320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TÉCNICA. Resaltar: 25+ modelos, 15 notebooks, resultado final NDCG@10=0.0431 (+50.8%). Dataset real de e-commerce.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estructura. Este deck es técnico — enfocado en datos, metodología, modelos y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NB01: 2.75M eventos, 3 tipos. NB02: power law en ítems — 5% concentra 80% interacciones. NB03: funnel VIEW→ADDTOCART→TRANSACTION, conversión 1.4%. La sparsidad 99.999% es el desafío técnico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desafíos son los que determinan qué familia de modelos funciona. La sparsidad extrema es por qué el deep learning falla — no hay suficiente señal para que los gradientes sean útiles. El feedback implícito requiere ponderación especial. El sesgo de popularidad se mitiga con RP3beta (β-penalización).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NB04: pipeline que une 3 fuentes de datos — eventos + propiedades de ítems (20M registros) + árbol de categorías. Feature clave: interaction_strength (view=1, cart=2, transaction=3). NB05: demographics sintéticos para LightGBM. NB06: 47 features de usuario, ítem e interacción. El split es TEMPORAL (corte 2015-08-22) — no aleatorio, para evitar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split temporal: todo antes del 2015-08-22 es train, todo después es test. No hay data leakage posible. Se evalúa sobre 3000 usuarios 'warm' (tienen ítems en train Y en test). NDCG es la métrica principal porque queremos que el ítem correcto aparezca en la posición 1, no en la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modelos evaluados. SVD básico (k=50) es el ganador de NB07 — supera incluso al híbrido SVD+CB porque el CB añade ruido para usuarios con poco historial. NMF falla completamente por la sparsidad. LightGBM es sorprendentemente bajo — las features no compensan la falta de señal </a:t>
            </a:r>
            <a:r>
              <a:rPr lang="en-US" dirty="0" err="1"/>
              <a:t>colaborativa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Filtering: no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semantico</a:t>
            </a: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A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Item</a:t>
            </a:r>
            <a:r>
              <a:rPr lang="es-A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-CF (Filtrado Colaborativo por Ítem)</a:t>
            </a:r>
            <a:r>
              <a:rPr lang="es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AR" sz="1800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Busca ítems similares </a:t>
            </a:r>
            <a:r>
              <a:rPr lang="es-A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s-AR" sz="1800" kern="100" dirty="0">
                <a:solidFill>
                  <a:srgbClr val="00B05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base a quiénes los compraron). </a:t>
            </a:r>
            <a:r>
              <a:rPr lang="es-AR" sz="1800" dirty="0"/>
              <a:t>con datos </a:t>
            </a:r>
            <a:r>
              <a:rPr lang="es-AR" sz="1800" dirty="0" err="1"/>
              <a:t>hasheados</a:t>
            </a:r>
            <a:r>
              <a:rPr lang="es-AR" sz="1800" dirty="0"/>
              <a:t>, el contenido no aporta</a:t>
            </a:r>
            <a:endParaRPr lang="en-US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800" b="1" dirty="0"/>
              <a:t>SVD </a:t>
            </a:r>
            <a:r>
              <a:rPr lang="es-AR" sz="2800" b="1" dirty="0" err="1"/>
              <a:t>Opt</a:t>
            </a:r>
            <a:r>
              <a:rPr lang="es-AR" sz="2800" b="1" dirty="0"/>
              <a:t> no superó a SVD básico: </a:t>
            </a:r>
            <a:r>
              <a:rPr lang="es-AR" sz="2800" dirty="0"/>
              <a:t>Más parámetros no siempre ayudan, datos son tan </a:t>
            </a:r>
            <a:r>
              <a:rPr lang="es-AR" sz="2800" dirty="0" err="1"/>
              <a:t>esparsos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NB08 añade TD (Temporal Decay λ=0.03) e IPS (Inverse Propensity Score γ=0.4). SVD+TD+IPS obtiene NDCG@10=0.0093 (+15% sobre NB07). El ConvLift@10=1749× significa que el sistema es 1749 veces mejor que recomendar al azar para generar compras. El fairness audit muestra que el híbrido es mejor para usuarios warm (+30%), pero peor para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NB09 es el slide más importante técnicamente. RP3beta salta de 0.0093 a 0.0258 (+176%). EASE^R también brilla (+108%). El deep learning falla por 3 razones: sparsidad extrema, limitación de CPU y error de protocolo en SASRec. Citar Dacrema et al. 2019: 'métodos clásicos bien optimizados superan a deep learning en datasets sparse'.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NB10: Mult-VAE^PR muy competitivo (-1.2% de RP3beta) pero requiere 7091s de entrenamiento vs 6s de RP3beta — no viable en producción. NB12 corrige SASRec: filtra usuarios con ≥5 ítems, usa leave-one-out temporal y arquitectura completa. NB11 analiza sensibilidad: con filtro ≥10 el NDCG sube 112%, confirmando que la limitación es la sparsidad del dataset, no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muestra la evolución completa. Los puntos clave: 1) Deep learning (BPR, NCF, SASRec) fracasa. 2) RP3beta y EASE^R son el gran salto en NB09. 3) El ensemble final supera al mejor modelo individual en +50.8%. La historia es de selección de algoritmos + combinación inteligente.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del ensemble es la COMPLEMENTARIEDAD: EASE^R tiene ρ=0.216 con los demás modelos. Cuando un modelo ve el espacio diferente, el ensemble gana. Los 100 trials de Optuna (vs 40 en NB14) encuentran mejores pesos y suben el NDCG de 0.04069 a 0.04310. La exploración NB15 confirma que el trío original es óptimo — más modelos no ayudan.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 CLAVE: el protagonista es el ENSEMBLE, no RP3beta. RP3beta individual llega a 0.0286. El ensemble llega a 0.0431 (+50.8%). La diferencia la hace la COMPLEMENTARIEDAD con EASE^R (ρ=0.216). Ningún modelo individual alcanza ese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2-stages estándar en producción. Stage 1 (FAISS): recuperar 100 candidatos en &lt;10ms. Stage 2 (LightGBM): re-rankear con features contextuales (hora, dispositivo, recencia). RP3beta permite actualización incremental diaria sin re-entrenar desde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— La narrativa correcta: el ensemble ES el modelo ganador. No RP3beta. El ensemble combina 3 componentes con señales complementarias (ρ=0.216 entre EASE^R y RP3) y alcanza 0.0431 vs 0.0286 individual. Ese es el logro central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D2A55">
              <a:alpha val="40000"/>
            </a:srgbClr>
          </a:solidFill>
          <a:ln w="12700">
            <a:solidFill>
              <a:srgbClr val="0D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1535">
              <a:alpha val="30000"/>
            </a:srgbClr>
          </a:solidFill>
          <a:ln w="12700">
            <a:solidFill>
              <a:srgbClr val="001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7432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 CO.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578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Recomendación de Productos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00400" y="3703320"/>
            <a:ext cx="274320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RetailRocket · 2.75M eventos · 25+ modelos · 15 notebooks · NDCG@10 = 0.0431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Técnica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bloques · 20 minutos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280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37744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18872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188720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1280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291840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383280" y="237744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118872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118872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1280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172200" y="17007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310896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3108960"/>
            <a:ext cx="269748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1148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2920" y="429768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0" y="310896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00400" y="3108960"/>
            <a:ext cx="26974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29184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383280" y="429768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8328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4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080760" y="3108960"/>
            <a:ext cx="2697480" cy="1691640"/>
          </a:xfrm>
          <a:prstGeom prst="rect">
            <a:avLst/>
          </a:prstGeom>
          <a:solidFill>
            <a:srgbClr val="080F1E"/>
          </a:solidFill>
          <a:ln w="12700">
            <a:solidFill>
              <a:srgbClr val="FFC04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80760" y="3108960"/>
            <a:ext cx="2697480" cy="54864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3200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6172200" y="3621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263640" y="4297680"/>
            <a:ext cx="2331720" cy="365760"/>
          </a:xfrm>
          <a:prstGeom prst="rect">
            <a:avLst/>
          </a:prstGeom>
          <a:solidFill>
            <a:srgbClr val="1A3A6A"/>
          </a:solidFill>
          <a:ln w="12700">
            <a:solidFill>
              <a:srgbClr val="FFC04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636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9750" y="4572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EDA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RetailRocket (Kaggle)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20040" y="1261872"/>
            <a:ext cx="2011680" cy="1234440"/>
          </a:xfrm>
          <a:prstGeom prst="rect">
            <a:avLst/>
          </a:prstGeom>
          <a:solidFill>
            <a:srgbClr val="041530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004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totales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1762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addtocart / transaction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68880" y="1261872"/>
            <a:ext cx="2011680" cy="1234440"/>
          </a:xfrm>
          <a:prstGeom prst="rect">
            <a:avLst/>
          </a:prstGeom>
          <a:solidFill>
            <a:srgbClr val="041530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6888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46888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únicos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14600" y="21762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 menos 1 interacción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17720" y="1261872"/>
            <a:ext cx="2011680" cy="1234440"/>
          </a:xfrm>
          <a:prstGeom prst="rect">
            <a:avLst/>
          </a:prstGeom>
          <a:solidFill>
            <a:srgbClr val="041530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1772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235K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61772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en catálogo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21762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417K en catálogo completo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766560" y="1261872"/>
            <a:ext cx="2011680" cy="1234440"/>
          </a:xfrm>
          <a:prstGeom prst="rect">
            <a:avLst/>
          </a:prstGeom>
          <a:solidFill>
            <a:srgbClr val="1A0A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66560" y="12984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76656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hasheadas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12280" y="21762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performance de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basados</a:t>
            </a: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01752" y="2624328"/>
            <a:ext cx="4206240" cy="2368296"/>
          </a:xfrm>
          <a:prstGeom prst="rect">
            <a:avLst/>
          </a:prstGeom>
          <a:solidFill>
            <a:srgbClr val="060D1A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26" name="Text 23"/>
          <p:cNvSpPr/>
          <p:nvPr/>
        </p:nvSpPr>
        <p:spPr>
          <a:xfrm>
            <a:off x="457200" y="2743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Eventos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3127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783080" y="3163824"/>
            <a:ext cx="2214585" cy="201168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47510" y="313587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3675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783080" y="3712464"/>
            <a:ext cx="185166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47510" y="368451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224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783080" y="4261104"/>
            <a:ext cx="69129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47510" y="423315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45152" y="2651760"/>
            <a:ext cx="4069080" cy="2340864"/>
          </a:xfrm>
          <a:prstGeom prst="rect">
            <a:avLst/>
          </a:prstGeom>
          <a:solidFill>
            <a:srgbClr val="060D1A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37" name="Text 34"/>
          <p:cNvSpPr/>
          <p:nvPr/>
        </p:nvSpPr>
        <p:spPr>
          <a:xfrm>
            <a:off x="489204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del EDA</a:t>
            </a:r>
            <a:endParaRPr lang="en-US" sz="13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27248"/>
            <a:ext cx="256032" cy="25603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184475" y="3488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de transacciones y 20 % de los `</a:t>
            </a:r>
            <a:r>
              <a:rPr lang="es-AR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</a:t>
            </a:r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 ocurre sin `</a:t>
            </a:r>
            <a:r>
              <a:rPr lang="es-AR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 previo</a:t>
            </a:r>
            <a:endParaRPr lang="en-US" sz="11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89474"/>
            <a:ext cx="256032" cy="25603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193792" y="387118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ítems concentran el 80% de interacciones (power law)</a:t>
            </a:r>
            <a:endParaRPr lang="en-US" sz="11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298023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193792" y="4279735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 ≥3 visitas convierten 4× más</a:t>
            </a:r>
            <a:endParaRPr lang="en-US" sz="11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715196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193792" y="46969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ítems por usuario = 1 (cold start masivo)</a:t>
            </a:r>
            <a:endParaRPr lang="en-US" sz="1100" dirty="0"/>
          </a:p>
        </p:txBody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0F4E32E8-778B-A395-1C09-6130001C5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66" y="4734710"/>
            <a:ext cx="210255" cy="210255"/>
          </a:xfrm>
          <a:prstGeom prst="rect">
            <a:avLst/>
          </a:prstGeom>
        </p:spPr>
      </p:pic>
      <p:sp>
        <p:nvSpPr>
          <p:cNvPr id="47" name="Text 35">
            <a:extLst>
              <a:ext uri="{FF2B5EF4-FFF2-40B4-BE49-F238E27FC236}">
                <a16:creationId xmlns:a16="http://schemas.microsoft.com/office/drawing/2014/main" id="{7B53D529-C7B9-7C6C-085B-0A6EB65E1DDD}"/>
              </a:ext>
            </a:extLst>
          </p:cNvPr>
          <p:cNvSpPr/>
          <p:nvPr/>
        </p:nvSpPr>
        <p:spPr>
          <a:xfrm>
            <a:off x="630361" y="4691335"/>
            <a:ext cx="1940496" cy="285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view 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addtocart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: </a:t>
            </a:r>
            <a:r>
              <a:rPr lang="es-A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2.7%</a:t>
            </a:r>
            <a:endParaRPr lang="en-US" sz="1100" dirty="0"/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C9546C0B-1849-41B9-E320-7E86027248C2}"/>
              </a:ext>
            </a:extLst>
          </p:cNvPr>
          <p:cNvSpPr/>
          <p:nvPr/>
        </p:nvSpPr>
        <p:spPr>
          <a:xfrm>
            <a:off x="2662297" y="4667054"/>
            <a:ext cx="1940496" cy="285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1.4% de view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terminan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8F9E0AFB-6F56-E8C5-C42B-7326A2A8E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637" y="3477479"/>
            <a:ext cx="256032" cy="256032"/>
          </a:xfrm>
          <a:prstGeom prst="rect">
            <a:avLst/>
          </a:prstGeom>
        </p:spPr>
      </p:pic>
      <p:sp>
        <p:nvSpPr>
          <p:cNvPr id="48" name="Text 35">
            <a:extLst>
              <a:ext uri="{FF2B5EF4-FFF2-40B4-BE49-F238E27FC236}">
                <a16:creationId xmlns:a16="http://schemas.microsoft.com/office/drawing/2014/main" id="{B08D81BA-66F5-5414-B56E-74506C3983F2}"/>
              </a:ext>
            </a:extLst>
          </p:cNvPr>
          <p:cNvSpPr/>
          <p:nvPr/>
        </p:nvSpPr>
        <p:spPr>
          <a:xfrm>
            <a:off x="5184475" y="3151015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de usuarios son </a:t>
            </a:r>
            <a:r>
              <a:rPr lang="es-AR" sz="11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s-AR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-time.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EDA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Críticas del Dataset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desafíos que definen la arquitectura del sistema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" y="1261872"/>
            <a:ext cx="2788920" cy="3520440"/>
          </a:xfrm>
          <a:prstGeom prst="rect">
            <a:avLst/>
          </a:prstGeom>
          <a:solidFill>
            <a:srgbClr val="1A0A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261872"/>
            <a:ext cx="278892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19385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Sparsidad Extrema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" y="23317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99.9994%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6616" y="278892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pares user-item vacíos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12724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" y="3090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ítems/usuario: 1.52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56616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75 = exactamente 1 ítem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400507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8368" y="3968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 de usuarios: solo 1 ítem en train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218688" y="1261872"/>
            <a:ext cx="2788920" cy="3520440"/>
          </a:xfrm>
          <a:prstGeom prst="rect">
            <a:avLst/>
          </a:prstGeom>
          <a:solidFill>
            <a:srgbClr val="0A001A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218688" y="1261872"/>
            <a:ext cx="278892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141732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282696" y="19385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Implícito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3282696" y="23317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3282696" y="278892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explícitos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12724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584448" y="3090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566160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584448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= 1 punto, Cart = 2, Transaction = 3</a:t>
            </a:r>
            <a:endParaRPr lang="en-US" sz="10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4005072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584448" y="3968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</a:t>
            </a: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6144768" y="1261872"/>
            <a:ext cx="2788920" cy="3520440"/>
          </a:xfrm>
          <a:prstGeom prst="rect">
            <a:avLst/>
          </a:prstGeom>
          <a:solidFill>
            <a:srgbClr val="001A0A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6144768" y="1261872"/>
            <a:ext cx="278892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1417320"/>
            <a:ext cx="457200" cy="4572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208776" y="1938528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Popularidad</a:t>
            </a:r>
            <a:endParaRPr lang="en-US" sz="1400" dirty="0"/>
          </a:p>
        </p:txBody>
      </p:sp>
      <p:sp>
        <p:nvSpPr>
          <p:cNvPr id="37" name="Text 25"/>
          <p:cNvSpPr/>
          <p:nvPr/>
        </p:nvSpPr>
        <p:spPr>
          <a:xfrm>
            <a:off x="6208776" y="23317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Law</a:t>
            </a:r>
            <a:endParaRPr lang="en-US" sz="2200" dirty="0"/>
          </a:p>
        </p:txBody>
      </p:sp>
      <p:sp>
        <p:nvSpPr>
          <p:cNvPr id="38" name="Text 26"/>
          <p:cNvSpPr/>
          <p:nvPr/>
        </p:nvSpPr>
        <p:spPr>
          <a:xfrm>
            <a:off x="6208776" y="278892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ítems</a:t>
            </a:r>
            <a:endParaRPr lang="en-US" sz="10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3127248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510528" y="3090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de ítems más populares &gt; 50% interacciones</a:t>
            </a:r>
            <a:endParaRPr lang="en-US" sz="10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3566160"/>
            <a:ext cx="201168" cy="20116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510528" y="35295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filter bubble</a:t>
            </a:r>
            <a:endParaRPr lang="en-US" sz="10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4005072"/>
            <a:ext cx="201168" cy="201168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510528" y="3968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β-penalización en RP3beta mitiga esto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PIPELINE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(NB04–NB06)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eventos crudos a features listos para modelado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" y="19019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4048" y="228600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item_props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category_tree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1984248"/>
            <a:ext cx="164592" cy="1645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0" y="1234440"/>
            <a:ext cx="2697480" cy="1600200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00400" y="123444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13716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64408" y="19019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(NB04)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264408" y="228600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events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+ categories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2.14M rows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1984248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080760" y="1234440"/>
            <a:ext cx="2697480" cy="1600200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080760" y="123444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137160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44768" y="190195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(NB04)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144768" y="228600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view=1, cart=2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transaction=3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interaction_strength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320040" y="3017520"/>
            <a:ext cx="2697480" cy="1600200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20040" y="3017520"/>
            <a:ext cx="269748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608" y="315468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84048" y="368503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(NB06)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84048" y="406908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features: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recencia, frecuencia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 categ.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3767328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3200400" y="3017520"/>
            <a:ext cx="2697480" cy="1600200"/>
          </a:xfrm>
          <a:prstGeom prst="rect">
            <a:avLst/>
          </a:prstGeom>
          <a:solidFill>
            <a:srgbClr val="0A1A00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3200400" y="3017520"/>
            <a:ext cx="26974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5968" y="3154680"/>
            <a:ext cx="457200" cy="4572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264408" y="368503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3264408" y="406908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User-Item Matrix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 × 235K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top-20K filtrado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3767328"/>
            <a:ext cx="164592" cy="164592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6080760" y="3017520"/>
            <a:ext cx="2697480" cy="1600200"/>
          </a:xfrm>
          <a:prstGeom prst="rect">
            <a:avLst/>
          </a:prstGeom>
          <a:solidFill>
            <a:srgbClr val="1A0A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6080760" y="3017520"/>
            <a:ext cx="269748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6328" y="3154680"/>
            <a:ext cx="457200" cy="45720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144768" y="3685032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2015-08-22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6144768" y="4069080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82.2%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17.8%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METODOLOGÍA · INTEGRANTE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· 3000 usuarios warm · 6 métricas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4114800" cy="1188720"/>
          </a:xfrm>
          <a:prstGeom prst="rect">
            <a:avLst/>
          </a:prstGeom>
          <a:solidFill>
            <a:srgbClr val="040C18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— Corte: 2015-08-22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3200400" cy="274320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82.2%  (1.76M eventos)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0" y="1691640"/>
            <a:ext cx="685800" cy="274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17.8%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39312" y="1600200"/>
            <a:ext cx="3657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542032"/>
            <a:ext cx="8503920" cy="2331720"/>
          </a:xfrm>
          <a:prstGeom prst="rect">
            <a:avLst/>
          </a:prstGeom>
          <a:solidFill>
            <a:srgbClr val="040C18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17" name="Text 14"/>
          <p:cNvSpPr/>
          <p:nvPr/>
        </p:nvSpPr>
        <p:spPr>
          <a:xfrm>
            <a:off x="457200" y="2624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990088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9900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423160" y="3008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aciertos en posiciones bajas del ranking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0" y="30083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Métrica principal — captura calidad de ordenamiento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374136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3741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23160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de top-K que son ítems relevantes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69280" y="33924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eligió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.?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758184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75818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423160" y="3776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de relevantes capturados en top-K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69280" y="3776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preferencias del Usuario. De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fueron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recimendados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142232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142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42316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catálogo recomendado al menos una vez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66928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Anti-filter bubble —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Sistema.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 Total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526280"/>
            <a:ext cx="1874520" cy="292608"/>
          </a:xfrm>
          <a:prstGeom prst="rect">
            <a:avLst/>
          </a:prstGeom>
          <a:solidFill>
            <a:srgbClr val="0A1A2E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526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ConvLift@K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423160" y="4544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Revenue@K / p_baseline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669280" y="4544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recomendación aleatoria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26280" y="1261872"/>
            <a:ext cx="4297680" cy="1143000"/>
          </a:xfrm>
          <a:prstGeom prst="rect">
            <a:avLst/>
          </a:prstGeom>
          <a:solidFill>
            <a:srgbClr val="080F1E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71600"/>
            <a:ext cx="292608" cy="29260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047488" y="1298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</a:t>
            </a:r>
            <a:r>
              <a:rPr lang="en-US" sz="11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NDCG?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663440" y="161848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un problema de ranking,. NDCG mide si los ítems relevantes aparecen primero.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MODELOS BASE · INTEGRANTE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Base —(8 modelos)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fase de evaluación · Algoritmos clásicos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8503920" cy="3566160"/>
          </a:xfrm>
          <a:prstGeom prst="rect">
            <a:avLst/>
          </a:prstGeom>
          <a:solidFill>
            <a:srgbClr val="040A1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61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5468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9204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1261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1261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609344"/>
            <a:ext cx="8503920" cy="356616"/>
          </a:xfrm>
          <a:prstGeom prst="rect">
            <a:avLst/>
          </a:prstGeom>
          <a:solidFill>
            <a:srgbClr val="08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164592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(k=50) ★ MEJOR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54680" y="16459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023360" y="16459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92040" y="16459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15000" y="164592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49440" y="164592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1984248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25" name="Text 22"/>
          <p:cNvSpPr/>
          <p:nvPr/>
        </p:nvSpPr>
        <p:spPr>
          <a:xfrm>
            <a:off x="411480" y="202082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Opt (k=90)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154680" y="20208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23360" y="20208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92040" y="202082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715000" y="202082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49440" y="2020824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" y="2359152"/>
            <a:ext cx="8503920" cy="35661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239572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(α=0.5)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54680" y="239572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023360" y="239572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92040" y="239572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715000" y="239572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49440" y="2395728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" y="2734056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277063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Opt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154680" y="277063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023360" y="277063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0.0049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892040" y="277063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0.0028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715000" y="277063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49440" y="2770632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20040" y="3108960"/>
            <a:ext cx="8503920" cy="35661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314553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LTR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154680" y="314553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0.0027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023360" y="314553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0.0041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892040" y="314553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0.0025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715000" y="314553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949440" y="3145536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0040" y="3483864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11480" y="352044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Baseline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54680" y="35204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0.0018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023360" y="35204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892040" y="35204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0.0016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715000" y="352044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0.005%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949440" y="35204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0.4s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20040" y="3858768"/>
            <a:ext cx="8503920" cy="35661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60" name="Text 57"/>
          <p:cNvSpPr/>
          <p:nvPr/>
        </p:nvSpPr>
        <p:spPr>
          <a:xfrm>
            <a:off x="411480" y="389534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Item-CF (SVD emb.)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3154680" y="389534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4023360" y="389534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0.0019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4892040" y="389534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715000" y="389534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9.24%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949440" y="3895344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0.04s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20040" y="4233672"/>
            <a:ext cx="8503920" cy="35661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11480" y="427024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3154680" y="42702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0.0013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023360" y="42702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0.0017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4892040" y="42702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5715000" y="42702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8.32%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6949440" y="4270248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1.6s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NMF produce solución degenerada (Coverage≈0.000043) con sparsidad 99.9994% — excluido. SVD supera al Híbrido porque el 57.5% de usuarios son cold, donde el CB añade ruido.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MÉTRICAS NEGOCIO · INTEGRANTE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NB08 — Métricas de Negocio &amp; ROI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métricas + mejoras con TD e IPS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2377440" cy="2606040"/>
          </a:xfrm>
          <a:prstGeom prst="rect">
            <a:avLst/>
          </a:prstGeom>
          <a:solidFill>
            <a:srgbClr val="001A10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237744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ConvLift@10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1749×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2004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que recomendar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aleatorios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Revenue@K / p_baseline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834640" y="1234440"/>
            <a:ext cx="5989320" cy="2606040"/>
          </a:xfrm>
          <a:prstGeom prst="rect">
            <a:avLst/>
          </a:prstGeom>
          <a:solidFill>
            <a:srgbClr val="040A1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34640" y="1234440"/>
            <a:ext cx="5989320" cy="34747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12618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49240" y="126187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126187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95160" y="126187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CTR@10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1812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834640" y="1609344"/>
            <a:ext cx="5989320" cy="402336"/>
          </a:xfrm>
          <a:prstGeom prst="rect">
            <a:avLst/>
          </a:prstGeom>
          <a:solidFill>
            <a:srgbClr val="0820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26080" y="16550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+ TD + IPS ★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49240" y="165506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5506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95160" y="165506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18120" y="16550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834640" y="2029968"/>
            <a:ext cx="5989320" cy="40233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0" y="2075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+ IPS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349240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72200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995160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818120" y="2075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834640" y="2450592"/>
            <a:ext cx="5989320" cy="40233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926080" y="24963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+ TD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349240" y="24963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0.0070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172200" y="24963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995160" y="249631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0.0027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818120" y="2496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0.59%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834640" y="2871216"/>
            <a:ext cx="5989320" cy="402336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926080" y="29169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Opt (NB07)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349240" y="291693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0.0071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72200" y="291693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95160" y="291693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818120" y="2916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834640" y="3291840"/>
            <a:ext cx="5989320" cy="402336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926080" y="3337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Adapt.+TD+IPS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349240" y="333756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0.0074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172200" y="333756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0.0079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995160" y="333756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0.0023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818120" y="3337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4.52%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0040" y="3977640"/>
            <a:ext cx="8503920" cy="896112"/>
          </a:xfrm>
          <a:prstGeom prst="rect">
            <a:avLst/>
          </a:prstGeom>
          <a:solidFill>
            <a:srgbClr val="050A10"/>
          </a:solidFill>
          <a:ln w="12700">
            <a:solidFill>
              <a:srgbClr val="7D3C9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45720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— Performance por segmento: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11480" y="434340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(≤1 ítem)  57.5%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411480" y="4572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gana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3200400" y="434340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Tepid (2-4 ítems) 29.8%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200400" y="4572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+11.7%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5989320" y="434340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(5+ ítems) 12.7%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989320" y="4572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+30.4%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MODELOS AVANZADOS · INTEGRANTE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NB09 — Modelos Avanzados CF (7 modelos)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gran salto: RP3beta +176% · Deep Learning decepciona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8503920" cy="2514600"/>
          </a:xfrm>
          <a:prstGeom prst="rect">
            <a:avLst/>
          </a:prstGeom>
          <a:solidFill>
            <a:srgbClr val="040A1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1261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51960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74920" y="1261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95160" y="12618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NB08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609344"/>
            <a:ext cx="8503920" cy="283464"/>
          </a:xfrm>
          <a:prstGeom prst="rect">
            <a:avLst/>
          </a:prstGeom>
          <a:solidFill>
            <a:srgbClr val="091A0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1627632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162763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RP3beta (α=0.85, β=0.25) 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251960" y="162763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74920" y="162763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0.00607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16276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95160" y="16276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+175.9%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1911096"/>
            <a:ext cx="8503920" cy="28346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1929384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7240" y="192938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(λ=500, top-20K)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51960" y="192938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74920" y="192938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0.00477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989320" y="192938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95160" y="192938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+107.7%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" y="2212848"/>
            <a:ext cx="8503920" cy="283464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2231136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77240" y="223113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SVD+TD+IPS (NB08 best)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251960" y="22311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0.0093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74920" y="22311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0.00253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989320" y="223113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95160" y="223113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0040" y="2514600"/>
            <a:ext cx="8503920" cy="28346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2532888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77240" y="253288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BPR-MF (k=64, SGD vect.)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251960" y="25328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074920" y="253288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989320" y="2532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95160" y="253288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20040" y="2816352"/>
            <a:ext cx="8503920" cy="283464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2834640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77240" y="28346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SASRec-lite (Transformer)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251960" y="28346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074920" y="283464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98932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0.16%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995160" y="28346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0040" y="3118104"/>
            <a:ext cx="8503920" cy="28346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11480" y="3136392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77240" y="313639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(TDIPS+EASE+BPR)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251960" y="313639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074920" y="31363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0.00023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989320" y="3136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1.38%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995160" y="31363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20040" y="3419856"/>
            <a:ext cx="8503920" cy="283464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11480" y="3438144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777240" y="343814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(NeuMF, PyTorch CPU)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4251960" y="343814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5074920" y="343814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0.00010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989320" y="343814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1.63%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995160" y="343814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20040" y="3886200"/>
            <a:ext cx="4114800" cy="1051560"/>
          </a:xfrm>
          <a:prstGeom prst="rect">
            <a:avLst/>
          </a:prstGeom>
          <a:solidFill>
            <a:srgbClr val="1A0005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45720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falla el Deep Learning?</a:t>
            </a:r>
            <a:endParaRPr lang="en-US" sz="1200" dirty="0"/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0248"/>
            <a:ext cx="182880" cy="18288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713232" y="42428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 de usuarios solo tiene 1 ítem en train → gradiente cuasi-nulo</a:t>
            </a:r>
            <a:endParaRPr lang="en-US" sz="1000" dirty="0"/>
          </a:p>
        </p:txBody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71416"/>
            <a:ext cx="182880" cy="182880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713232" y="44439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tarda 1300s/10 epochs en CPU → sub-entrenado</a:t>
            </a:r>
            <a:endParaRPr lang="en-US" sz="1000" dirty="0"/>
          </a:p>
        </p:txBody>
      </p:sp>
      <p:pic>
        <p:nvPicPr>
          <p:cNvPr id="7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72584"/>
            <a:ext cx="182880" cy="182880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713232" y="4645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SASRec: split aleatorio + sin causal mask → error de protocolo</a:t>
            </a:r>
            <a:endParaRPr lang="en-US" sz="1000" dirty="0"/>
          </a:p>
        </p:txBody>
      </p:sp>
      <p:sp>
        <p:nvSpPr>
          <p:cNvPr id="74" name="Shape 68"/>
          <p:cNvSpPr/>
          <p:nvPr/>
        </p:nvSpPr>
        <p:spPr>
          <a:xfrm>
            <a:off x="4572000" y="3886200"/>
            <a:ext cx="4251960" cy="1051560"/>
          </a:xfrm>
          <a:prstGeom prst="rect">
            <a:avLst/>
          </a:prstGeom>
          <a:solidFill>
            <a:srgbClr val="0A18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5" name="Text 69"/>
          <p:cNvSpPr/>
          <p:nvPr/>
        </p:nvSpPr>
        <p:spPr>
          <a:xfrm>
            <a:off x="470916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RP3beta es el mejor individual?</a:t>
            </a:r>
            <a:endParaRPr lang="en-US" sz="1200" dirty="0"/>
          </a:p>
        </p:txBody>
      </p:sp>
      <p:pic>
        <p:nvPicPr>
          <p:cNvPr id="7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70248"/>
            <a:ext cx="182880" cy="182880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4956048" y="4242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 sobre grafo user-item → captura co-ocurrencia de 2° orden</a:t>
            </a:r>
            <a:endParaRPr lang="en-US" sz="1000" dirty="0"/>
          </a:p>
        </p:txBody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471416"/>
            <a:ext cx="182880" cy="182880"/>
          </a:xfrm>
          <a:prstGeom prst="rect">
            <a:avLst/>
          </a:prstGeom>
        </p:spPr>
      </p:pic>
      <p:sp>
        <p:nvSpPr>
          <p:cNvPr id="79" name="Text 71"/>
          <p:cNvSpPr/>
          <p:nvPr/>
        </p:nvSpPr>
        <p:spPr>
          <a:xfrm>
            <a:off x="4956048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β-penalización de popularidad → evita filter bubble</a:t>
            </a:r>
            <a:endParaRPr lang="en-US" sz="1000" dirty="0"/>
          </a:p>
        </p:txBody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672584"/>
            <a:ext cx="182880" cy="182880"/>
          </a:xfrm>
          <a:prstGeom prst="rect">
            <a:avLst/>
          </a:prstGeom>
        </p:spPr>
      </p:pic>
      <p:sp>
        <p:nvSpPr>
          <p:cNvPr id="81" name="Text 72"/>
          <p:cNvSpPr/>
          <p:nvPr/>
        </p:nvSpPr>
        <p:spPr>
          <a:xfrm>
            <a:off x="4956048" y="4645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gradient descent → estable con sparsidad extrema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MODELOS AVANZADOS · INTEGRANTE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NB10-12 — Challengers Avanzados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Mult-VAE^PR · SASRec corregido · Análisis de sensiblidad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4114800" cy="2286000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34440"/>
            <a:ext cx="41148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53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NB10 — Mult-VAE^PR (VAE Generativo)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1719072"/>
            <a:ext cx="3931920" cy="384048"/>
          </a:xfrm>
          <a:prstGeom prst="rect">
            <a:avLst/>
          </a:prstGeom>
          <a:solidFill>
            <a:srgbClr val="0A1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764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RP3beta (NB09) — reval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08960" y="17647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94760" y="1764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Campeón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2157984"/>
            <a:ext cx="3931920" cy="384048"/>
          </a:xfrm>
          <a:prstGeom prst="rect">
            <a:avLst/>
          </a:prstGeom>
          <a:solidFill>
            <a:srgbClr val="05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2037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Mult-VAE^PR (enc=[600,200], z=64)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108960" y="22037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94760" y="22037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2596896"/>
            <a:ext cx="3931920" cy="384048"/>
          </a:xfrm>
          <a:prstGeom prst="rect">
            <a:avLst/>
          </a:prstGeom>
          <a:solidFill>
            <a:srgbClr val="05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6426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(λ=500) — NB09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108960" y="26426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794760" y="2642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-25.2%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11480" y="3035808"/>
            <a:ext cx="3931920" cy="384048"/>
          </a:xfrm>
          <a:prstGeom prst="rect">
            <a:avLst/>
          </a:prstGeom>
          <a:solidFill>
            <a:srgbClr val="05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081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SVD+TD+IPS — NB08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108960" y="30815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794760" y="30815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-64%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1148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Dacrema 2019 confirmada: VAE bien calibrado compite pero no supera RP3beta.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0" y="1234440"/>
            <a:ext cx="4251960" cy="2286000"/>
          </a:xfrm>
          <a:prstGeom prst="rect">
            <a:avLst/>
          </a:prstGeom>
          <a:solidFill>
            <a:srgbClr val="0A0805"/>
          </a:solidFill>
          <a:ln w="12700">
            <a:solidFill>
              <a:srgbClr val="FFC04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0" y="1234440"/>
            <a:ext cx="4251960" cy="64008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09160" y="1353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NB12 — SASRec Corregido (3 fixes)</a:t>
            </a:r>
            <a:endParaRPr lang="en-US" sz="12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755648"/>
            <a:ext cx="201168" cy="2011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983480" y="17373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NB09: Sin filtrar usuarios (1 ítem mín.)</a:t>
            </a:r>
            <a:endParaRPr lang="en-US" sz="10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011680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983480" y="19933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NB12: Filtro ≥5 ítems en historial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322576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983480" y="23042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NB09: Split aleatorio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578608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983480" y="25603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NB12: Leave-one-out temporal</a:t>
            </a:r>
            <a:endParaRPr lang="en-US" sz="10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889504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983480" y="28712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NB09: Sin causal mask ni FFN</a:t>
            </a:r>
            <a:endParaRPr lang="en-US" sz="10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145536"/>
            <a:ext cx="201168" cy="20116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983480" y="31272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NB12: Arquitectura completa (paper)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040A1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457200" y="3721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NB11 — Análisis de Sensibilidad al Protocolo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411480" y="4041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usuarios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2423160" y="4041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RP3beta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4023360" y="4041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≥1 int.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5120640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411480" y="4315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interacción (estándar)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2423160" y="4315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0.0258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402336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12064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estándar del proyecto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411480" y="4590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interacciones</a:t>
            </a:r>
            <a:endParaRPr lang="en-US" sz="1000" dirty="0"/>
          </a:p>
        </p:txBody>
      </p:sp>
      <p:sp>
        <p:nvSpPr>
          <p:cNvPr id="55" name="Text 46"/>
          <p:cNvSpPr/>
          <p:nvPr/>
        </p:nvSpPr>
        <p:spPr>
          <a:xfrm>
            <a:off x="2423160" y="45902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0.0546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4023360" y="4590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+112%</a:t>
            </a:r>
            <a:endParaRPr lang="en-US" sz="1000" dirty="0"/>
          </a:p>
        </p:txBody>
      </p:sp>
      <p:sp>
        <p:nvSpPr>
          <p:cNvPr id="57" name="Text 48"/>
          <p:cNvSpPr/>
          <p:nvPr/>
        </p:nvSpPr>
        <p:spPr>
          <a:xfrm>
            <a:off x="5120640" y="4590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más activos — dataset más denso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4128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  <p:txBody>
          <a:bodyPr/>
          <a:lstStyle/>
          <a:p>
            <a:r>
              <a:rPr lang="es-AR" sz="18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Filtrado colaborativo</a:t>
            </a:r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COMPARATIVA · INTEGRANTE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NDCG@10 — 18+ Modelos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desde popularidad hasta ensemble final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073" y="1271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88280" y="1234440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27633" y="12618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62191" y="1271016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2838" y="1271016"/>
            <a:ext cx="280048" cy="219456"/>
          </a:xfrm>
          <a:prstGeom prst="rect">
            <a:avLst/>
          </a:prstGeom>
          <a:solidFill>
            <a:srgbClr val="6B8CA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253" y="12527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2397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79917" y="1563624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79917" y="15910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514485" y="1600200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14485" y="1600200"/>
            <a:ext cx="571765" cy="219456"/>
          </a:xfrm>
          <a:prstGeom prst="rect">
            <a:avLst/>
          </a:prstGeom>
          <a:solidFill>
            <a:srgbClr val="6B8CA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31970" y="15819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2397" y="1911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(k=50)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79917" y="1892808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79917" y="19202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514485" y="1929384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14485" y="1929384"/>
            <a:ext cx="945163" cy="219456"/>
          </a:xfrm>
          <a:prstGeom prst="rect">
            <a:avLst/>
          </a:prstGeom>
          <a:solidFill>
            <a:srgbClr val="0EA5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05368" y="19110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62397" y="2240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SVD+TD+IPS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79917" y="2221992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79917" y="224942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514485" y="2258568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14485" y="2258568"/>
            <a:ext cx="1085187" cy="219456"/>
          </a:xfrm>
          <a:prstGeom prst="rect">
            <a:avLst/>
          </a:prstGeom>
          <a:solidFill>
            <a:srgbClr val="0EA5D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45392" y="2240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2397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BPR-MF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79917" y="2551176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79917" y="25786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514485" y="2587752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89448" y="2603754"/>
            <a:ext cx="140024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00229" y="25694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62397" y="2898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/ SASRec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79917" y="2880360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79917" y="29077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514485" y="2916936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522838" y="2932938"/>
            <a:ext cx="58343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18548" y="28986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62397" y="3227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(λ=500)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279917" y="3209544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79917" y="32369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3514485" y="3246120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514485" y="3246120"/>
            <a:ext cx="2252055" cy="219456"/>
          </a:xfrm>
          <a:prstGeom prst="rect">
            <a:avLst/>
          </a:prstGeom>
          <a:solidFill>
            <a:srgbClr val="9B59B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12260" y="32278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0.0193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262397" y="3557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Mult-VAE^PR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279917" y="3538728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279917" y="35661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3514485" y="3575304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514485" y="3575304"/>
            <a:ext cx="2975513" cy="219456"/>
          </a:xfrm>
          <a:prstGeom prst="rect">
            <a:avLst/>
          </a:prstGeom>
          <a:solidFill>
            <a:srgbClr val="7D3C9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35718" y="3557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0.0255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262397" y="3886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RP3beta original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3279917" y="3867912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79917" y="38953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3514485" y="3904488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514485" y="3904488"/>
            <a:ext cx="3010519" cy="219456"/>
          </a:xfrm>
          <a:prstGeom prst="rect">
            <a:avLst/>
          </a:prstGeom>
          <a:solidFill>
            <a:srgbClr val="FF8C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70724" y="38862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0.0258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262397" y="42153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RP3+TD 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279917" y="4197096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79917" y="42245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3514485" y="4233672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514485" y="4233672"/>
            <a:ext cx="3337242" cy="219456"/>
          </a:xfrm>
          <a:prstGeom prst="rect">
            <a:avLst/>
          </a:prstGeom>
          <a:solidFill>
            <a:srgbClr val="FF8C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897447" y="42153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0.0286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262397" y="4544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NB14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279917" y="4526280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79917" y="45537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3514485" y="4562856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514485" y="4562856"/>
            <a:ext cx="4749152" cy="219456"/>
          </a:xfrm>
          <a:prstGeom prst="rect">
            <a:avLst/>
          </a:prstGeom>
          <a:solidFill>
            <a:srgbClr val="00E5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309357" y="4544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0.0407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9013445" y="4544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+42.3%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262397" y="4873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</a:t>
            </a:r>
            <a:r>
              <a:rPr lang="en-US" sz="1100" b="1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</a:t>
            </a: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(RP3+TD · EASE^R · RP3+MB+TD)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★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3295820" y="4855464"/>
            <a:ext cx="201168" cy="292608"/>
          </a:xfrm>
          <a:prstGeom prst="rect">
            <a:avLst/>
          </a:prstGeom>
          <a:solidFill>
            <a:srgbClr val="1A3A6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79917" y="48828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3474720" y="4892040"/>
            <a:ext cx="502920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522838" y="4901184"/>
            <a:ext cx="5029200" cy="219456"/>
          </a:xfrm>
          <a:prstGeom prst="rect">
            <a:avLst/>
          </a:prstGeom>
          <a:solidFill>
            <a:srgbClr val="00E5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549640" y="48737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0.0431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9253728" y="4873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+50.8%</a:t>
            </a:r>
            <a:endParaRPr lang="en-US" sz="1000" dirty="0"/>
          </a:p>
        </p:txBody>
      </p:sp>
      <p:pic>
        <p:nvPicPr>
          <p:cNvPr id="83" name="Image 2" descr="preencoded.png">
            <a:extLst>
              <a:ext uri="{FF2B5EF4-FFF2-40B4-BE49-F238E27FC236}">
                <a16:creationId xmlns:a16="http://schemas.microsoft.com/office/drawing/2014/main" id="{12826671-C37C-67EC-A1DC-88E28F718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9" y="3911346"/>
            <a:ext cx="201168" cy="201168"/>
          </a:xfrm>
          <a:prstGeom prst="rect">
            <a:avLst/>
          </a:prstGeom>
        </p:spPr>
      </p:pic>
      <p:sp>
        <p:nvSpPr>
          <p:cNvPr id="84" name="Text 30">
            <a:extLst>
              <a:ext uri="{FF2B5EF4-FFF2-40B4-BE49-F238E27FC236}">
                <a16:creationId xmlns:a16="http://schemas.microsoft.com/office/drawing/2014/main" id="{0F886A24-2147-AAA2-A1FB-4C0E75760265}"/>
              </a:ext>
            </a:extLst>
          </p:cNvPr>
          <p:cNvSpPr/>
          <p:nvPr/>
        </p:nvSpPr>
        <p:spPr>
          <a:xfrm>
            <a:off x="295161" y="3876280"/>
            <a:ext cx="1391728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individual</a:t>
            </a:r>
            <a:endParaRPr lang="en-US" sz="1000" dirty="0"/>
          </a:p>
        </p:txBody>
      </p:sp>
      <p:pic>
        <p:nvPicPr>
          <p:cNvPr id="85" name="Image 2" descr="preencoded.png">
            <a:extLst>
              <a:ext uri="{FF2B5EF4-FFF2-40B4-BE49-F238E27FC236}">
                <a16:creationId xmlns:a16="http://schemas.microsoft.com/office/drawing/2014/main" id="{1C28CA51-3F11-8002-8560-45F19D675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5" y="4817335"/>
            <a:ext cx="201168" cy="201168"/>
          </a:xfrm>
          <a:prstGeom prst="rect">
            <a:avLst/>
          </a:prstGeom>
        </p:spPr>
      </p:pic>
      <p:sp>
        <p:nvSpPr>
          <p:cNvPr id="86" name="Text 30">
            <a:extLst>
              <a:ext uri="{FF2B5EF4-FFF2-40B4-BE49-F238E27FC236}">
                <a16:creationId xmlns:a16="http://schemas.microsoft.com/office/drawing/2014/main" id="{39549D94-9BBF-FD91-9DE1-C25CF159775F}"/>
              </a:ext>
            </a:extLst>
          </p:cNvPr>
          <p:cNvSpPr/>
          <p:nvPr/>
        </p:nvSpPr>
        <p:spPr>
          <a:xfrm>
            <a:off x="167302" y="2260466"/>
            <a:ext cx="2489633" cy="226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w: </a:t>
            </a:r>
            <a:r>
              <a:rPr lang="en-US" sz="100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</a:t>
            </a: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antiguas</a:t>
            </a:r>
            <a:r>
              <a:rPr lang="en-US" sz="1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prod. </a:t>
            </a:r>
            <a:r>
              <a:rPr lang="en-US" sz="100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populares</a:t>
            </a:r>
            <a:endParaRPr lang="en-US" sz="1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ENSEMBLE · INTEGRANTE 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NB14-15 — Estrategia Ensemble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Complementariedad por correlación Spearman · Optuna 100 trials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4114800" cy="2331720"/>
          </a:xfrm>
          <a:prstGeom prst="rect">
            <a:avLst/>
          </a:prstGeom>
          <a:solidFill>
            <a:srgbClr val="040A14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Spearman entre Rankings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1615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99339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ease_500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7063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47872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19842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216152" y="1965960"/>
            <a:ext cx="740664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16152" y="19842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993392" y="1965960"/>
            <a:ext cx="740664" cy="256032"/>
          </a:xfrm>
          <a:prstGeom prst="rect">
            <a:avLst/>
          </a:prstGeom>
          <a:solidFill>
            <a:srgbClr val="00301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9842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0.216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70632" y="1965960"/>
            <a:ext cx="740664" cy="256032"/>
          </a:xfrm>
          <a:prstGeom prst="rect">
            <a:avLst/>
          </a:prstGeom>
          <a:solidFill>
            <a:srgbClr val="0A000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70632" y="19842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547872" y="1965960"/>
            <a:ext cx="740664" cy="256032"/>
          </a:xfrm>
          <a:prstGeom prst="rect">
            <a:avLst/>
          </a:prstGeom>
          <a:solidFill>
            <a:srgbClr val="0A000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47872" y="198424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11480" y="22768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ease_500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16152" y="2258568"/>
            <a:ext cx="740664" cy="256032"/>
          </a:xfrm>
          <a:prstGeom prst="rect">
            <a:avLst/>
          </a:prstGeom>
          <a:solidFill>
            <a:srgbClr val="00301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16152" y="2276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0.216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993392" y="2258568"/>
            <a:ext cx="740664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93392" y="2276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70632" y="2258568"/>
            <a:ext cx="740664" cy="256032"/>
          </a:xfrm>
          <a:prstGeom prst="rect">
            <a:avLst/>
          </a:prstGeom>
          <a:solidFill>
            <a:srgbClr val="00301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70632" y="2276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0.217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547872" y="2258568"/>
            <a:ext cx="740664" cy="256032"/>
          </a:xfrm>
          <a:prstGeom prst="rect">
            <a:avLst/>
          </a:prstGeom>
          <a:solidFill>
            <a:srgbClr val="00301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2276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11480" y="25694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td_ips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216152" y="2551176"/>
            <a:ext cx="740664" cy="256032"/>
          </a:xfrm>
          <a:prstGeom prst="rect">
            <a:avLst/>
          </a:prstGeom>
          <a:solidFill>
            <a:srgbClr val="0A000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16152" y="25694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993392" y="2551176"/>
            <a:ext cx="740664" cy="256032"/>
          </a:xfrm>
          <a:prstGeom prst="rect">
            <a:avLst/>
          </a:prstGeom>
          <a:solidFill>
            <a:srgbClr val="00301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993392" y="25694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0.217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770632" y="2551176"/>
            <a:ext cx="740664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70632" y="25694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547872" y="2551176"/>
            <a:ext cx="740664" cy="256032"/>
          </a:xfrm>
          <a:prstGeom prst="rect">
            <a:avLst/>
          </a:prstGeom>
          <a:solidFill>
            <a:srgbClr val="0A000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547872" y="256946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11480" y="28620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216152" y="2843784"/>
            <a:ext cx="740664" cy="256032"/>
          </a:xfrm>
          <a:prstGeom prst="rect">
            <a:avLst/>
          </a:prstGeom>
          <a:solidFill>
            <a:srgbClr val="0A000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216152" y="286207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1993392" y="2843784"/>
            <a:ext cx="740664" cy="256032"/>
          </a:xfrm>
          <a:prstGeom prst="rect">
            <a:avLst/>
          </a:prstGeom>
          <a:solidFill>
            <a:srgbClr val="00301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993392" y="286207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0.204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770632" y="2843784"/>
            <a:ext cx="740664" cy="256032"/>
          </a:xfrm>
          <a:prstGeom prst="rect">
            <a:avLst/>
          </a:prstGeom>
          <a:solidFill>
            <a:srgbClr val="0A0005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770632" y="286207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547872" y="2843784"/>
            <a:ext cx="740664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547872" y="286207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11480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EASE^R ρ≈0.21 con todos → genuinamente complementario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572000" y="1234440"/>
            <a:ext cx="4251960" cy="2331720"/>
          </a:xfrm>
          <a:prstGeom prst="rect">
            <a:avLst/>
          </a:prstGeom>
          <a:solidFill>
            <a:srgbClr val="040A14"/>
          </a:solidFill>
          <a:ln w="12700">
            <a:solidFill>
              <a:srgbClr val="1A3A6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4709160" y="1307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Pesos — Optuna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4663440" y="1664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5029200" y="16642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577840" y="1664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w_rp3td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217920" y="1664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w_ease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858000" y="1664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w_rp3mb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749808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8275320" y="16642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base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617720" y="1993392"/>
            <a:ext cx="4160520" cy="393192"/>
          </a:xfrm>
          <a:prstGeom prst="rect">
            <a:avLst/>
          </a:prstGeom>
          <a:solidFill>
            <a:srgbClr val="060D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663440" y="203911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NB14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5029200" y="2039112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577840" y="2039112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0.093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217920" y="2039112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0.148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6858000" y="2039112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0.759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7498080" y="203911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0.04069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8275320" y="2039112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+42.3%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617720" y="2432304"/>
            <a:ext cx="4160520" cy="393192"/>
          </a:xfrm>
          <a:prstGeom prst="rect">
            <a:avLst/>
          </a:prstGeom>
          <a:solidFill>
            <a:srgbClr val="0820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663440" y="2478024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NB15v2★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5029200" y="2478024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5577840" y="247802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6217920" y="247802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0.021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6858000" y="247802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7498080" y="247802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0.04310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8275320" y="2478024"/>
            <a:ext cx="749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+50.8%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4617720" y="25146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NB15 exploración adicional: EASE multi-λ, iALS scipy (ρ≈−0.04 vs CF), Category fallback, Greedy selection → ninguno mejora al trío original.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4617720" y="31089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rp3_mb_td dominante (95.6%): captura events multi-tipo (view+cart+trans).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320040" y="3703320"/>
            <a:ext cx="8503920" cy="1207008"/>
          </a:xfrm>
          <a:prstGeom prst="rect">
            <a:avLst/>
          </a:prstGeom>
          <a:solidFill>
            <a:srgbClr val="001A0A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13632"/>
            <a:ext cx="438912" cy="438912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1051560" y="3749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GANADOR FINAL</a:t>
            </a:r>
            <a:endParaRPr lang="en-US" sz="1200" dirty="0"/>
          </a:p>
        </p:txBody>
      </p:sp>
      <p:sp>
        <p:nvSpPr>
          <p:cNvPr id="82" name="Text 78"/>
          <p:cNvSpPr/>
          <p:nvPr/>
        </p:nvSpPr>
        <p:spPr>
          <a:xfrm>
            <a:off x="1051560" y="407822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RP3+TD + EASE^R + RP3+MB+TD  |  Pesos: 0.023 / 0.021 / 0.956  |  NDCG@10 = 0.0431  |  +50.8% vs baseline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1051560" y="44439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MinMax por usuario · Split temporal sin leakage · 100 trials Optuna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JUSTIFICACIÓN · INTEGRANTE 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Modelo Ganador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ganador es el Ensemble — ningún modelo individual llega ahí solo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261872"/>
            <a:ext cx="8503920" cy="841248"/>
          </a:xfrm>
          <a:prstGeom prst="rect">
            <a:avLst/>
          </a:prstGeom>
          <a:solidFill>
            <a:srgbClr val="002010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61872"/>
            <a:ext cx="850392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307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GANADOR: Ensemble Optimizado (RP3+TD · EASE^R · RP3+MB+TD)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78992" y="1664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= 0.0431  ·  +50.8% vs baseline individual  ·  Pesos: 0.023 / 0.021 / 0.956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01752" y="2240280"/>
            <a:ext cx="2788920" cy="2103120"/>
          </a:xfrm>
          <a:prstGeom prst="rect">
            <a:avLst/>
          </a:prstGeom>
          <a:solidFill>
            <a:srgbClr val="0A18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1752" y="2240280"/>
            <a:ext cx="278892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233172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RP3+MB+TD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5760" y="26517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dominante · peso 0.956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" y="2944368"/>
            <a:ext cx="2459736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" y="29443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0.0286  →  En ensemble: 95.6%</a:t>
            </a:r>
            <a:endParaRPr lang="en-US" sz="9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9184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" y="327355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Multi-evento: view + cart + transaction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30168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9224" y="361188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decay → interacciones recientes valen más</a:t>
            </a:r>
            <a:endParaRPr lang="en-US" sz="9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68496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9224" y="39502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β-penalización de popularidad → no filter bubble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227832" y="2240280"/>
            <a:ext cx="2788920" cy="2103120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27832" y="2240280"/>
            <a:ext cx="278892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291840" y="233172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(λ=500)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291840" y="26517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diversidad · peso 0.021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392424" y="2944368"/>
            <a:ext cx="2459736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392424" y="29443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0.0193  →  En ensemble: 2.1%</a:t>
            </a:r>
            <a:endParaRPr lang="en-US" sz="9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9184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75304" y="327355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analítica cerrada — sin gradient descent</a:t>
            </a:r>
            <a:endParaRPr lang="en-US" sz="9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630168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575304" y="361188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ρ_Spearman=0.216 con RP3 → señal genuinamente distinta</a:t>
            </a:r>
            <a:endParaRPr lang="en-US" sz="9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968496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575304" y="39502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 peso, gran impacto en diversidad del ensemble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153912" y="2240280"/>
            <a:ext cx="2788920" cy="2103120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153912" y="2240280"/>
            <a:ext cx="278892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217920" y="233172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RP3+TD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6217920" y="26517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base · peso 0.023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6318504" y="2944368"/>
            <a:ext cx="2459736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6318504" y="29443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0.0286  →  En ensemble: 2.3%</a:t>
            </a:r>
            <a:endParaRPr lang="en-US" sz="95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291840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501384" y="327355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score base sin multi-evento</a:t>
            </a:r>
            <a:endParaRPr lang="en-US" sz="95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630168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501384" y="361188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señal temporal desacoplada</a:t>
            </a:r>
            <a:endParaRPr lang="en-US" sz="95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68496"/>
            <a:ext cx="182880" cy="18288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501384" y="39502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Trío óptimo confirmado: +modelos no ayudan (NB15)</a:t>
            </a:r>
            <a:endParaRPr lang="en-US" sz="950" dirty="0"/>
          </a:p>
        </p:txBody>
      </p:sp>
      <p:sp>
        <p:nvSpPr>
          <p:cNvPr id="50" name="Shape 37"/>
          <p:cNvSpPr/>
          <p:nvPr/>
        </p:nvSpPr>
        <p:spPr>
          <a:xfrm>
            <a:off x="0" y="4443984"/>
            <a:ext cx="9144000" cy="694944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17720"/>
            <a:ext cx="228600" cy="2286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49808" y="4480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ensemble supera a los individuales? EASE^R ve el espacio diferente (ρ=0.216). Juntos capturan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complementarias</a:t>
            </a: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AR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uno se equivoca, el otro suele acertar. </a:t>
            </a:r>
            <a:br>
              <a:rPr lang="es-AR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Dacrema et al. (2019): métodos CF clásicos bien combinados superan DL en sparsidad alta.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solidFill>
            <a:srgbClr val="007A50"/>
          </a:solidFill>
          <a:ln w="12700">
            <a:solidFill>
              <a:srgbClr val="007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PRODUCCIÓN · INTEGRANTE 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645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Producción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04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1 + Stage 2 · FastAPI · Streamlit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" y="1234440"/>
            <a:ext cx="2788920" cy="1664208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234440"/>
            <a:ext cx="278892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190195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" y="2286000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RetailRocket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nuevas interacciones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(incremental diario)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2057400"/>
            <a:ext cx="164592" cy="1645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18688" y="1234440"/>
            <a:ext cx="2788920" cy="1664208"/>
          </a:xfrm>
          <a:prstGeom prst="rect">
            <a:avLst/>
          </a:prstGeom>
          <a:solidFill>
            <a:srgbClr val="0A0018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18688" y="1234440"/>
            <a:ext cx="278892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13716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82696" y="190195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282696" y="2286000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RP3beta (6s)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EASE^R (130s)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weights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057400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44768" y="1234440"/>
            <a:ext cx="2788920" cy="1664208"/>
          </a:xfrm>
          <a:prstGeom prst="rect">
            <a:avLst/>
          </a:prstGeom>
          <a:solidFill>
            <a:srgbClr val="1A08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144768" y="1234440"/>
            <a:ext cx="278892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137160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08776" y="190195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208776" y="2286000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ANN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candidatos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292608" y="3063240"/>
            <a:ext cx="2788920" cy="1664208"/>
          </a:xfrm>
          <a:prstGeom prst="rect">
            <a:avLst/>
          </a:prstGeom>
          <a:solidFill>
            <a:srgbClr val="1A0800"/>
          </a:solidFill>
          <a:ln w="12700">
            <a:solidFill>
              <a:srgbClr val="FF8C0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92608" y="3063240"/>
            <a:ext cx="278892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3896" y="320040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56616" y="373075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356616" y="4114800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ctx.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Hora/dispositivo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final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886200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3218688" y="3063240"/>
            <a:ext cx="2788920" cy="1664208"/>
          </a:xfrm>
          <a:prstGeom prst="rect">
            <a:avLst/>
          </a:prstGeom>
          <a:solidFill>
            <a:srgbClr val="041530"/>
          </a:solidFill>
          <a:ln w="12700">
            <a:solidFill>
              <a:srgbClr val="0EA5D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3218688" y="3063240"/>
            <a:ext cx="2788920" cy="54864"/>
          </a:xfrm>
          <a:prstGeom prst="rect">
            <a:avLst/>
          </a:prstGeom>
          <a:solidFill>
            <a:srgbClr val="0EA5DC"/>
          </a:solidFill>
          <a:ln w="12700">
            <a:solidFill>
              <a:srgbClr val="0EA5DC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9976" y="3200400"/>
            <a:ext cx="457200" cy="4572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282696" y="373075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36" name="Text 25"/>
          <p:cNvSpPr/>
          <p:nvPr/>
        </p:nvSpPr>
        <p:spPr>
          <a:xfrm>
            <a:off x="3282696" y="4114800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/recommend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por user_id</a:t>
            </a:r>
            <a:endParaRPr lang="en-US" sz="10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886200"/>
            <a:ext cx="164592" cy="164592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6144768" y="3063240"/>
            <a:ext cx="2788920" cy="1664208"/>
          </a:xfrm>
          <a:prstGeom prst="rect">
            <a:avLst/>
          </a:prstGeom>
          <a:solidFill>
            <a:srgbClr val="001A0A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6144768" y="3063240"/>
            <a:ext cx="278892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6056" y="3200400"/>
            <a:ext cx="457200" cy="45720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208776" y="373075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208776" y="4114800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Power BI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40A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A/B test — CTR y conversion rate del nuevo sistema vs. baseline de popularidad actual · Pipeline incremental: actualización diaria sin re-entrenar desde cero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1535">
              <a:alpha val="50000"/>
            </a:srgbClr>
          </a:solidFill>
          <a:ln w="12700">
            <a:solidFill>
              <a:srgbClr val="0015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1535">
              <a:alpha val="40000"/>
            </a:srgbClr>
          </a:solidFill>
          <a:ln w="12700">
            <a:solidFill>
              <a:srgbClr val="0015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8288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93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modelos. 15 notebooks. Dataset real.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deep learning falló — los métodos clásicos ganaron.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798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no fue el mejor modelo individual...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4015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...sino combinarlos inteligentemente.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371600" y="3977640"/>
            <a:ext cx="6400800" cy="868680"/>
          </a:xfrm>
          <a:prstGeom prst="rect">
            <a:avLst/>
          </a:prstGeom>
          <a:solidFill>
            <a:srgbClr val="001A0A"/>
          </a:solidFill>
          <a:ln w="12700">
            <a:solidFill>
              <a:srgbClr val="00E5A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41148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84832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Optimizado  ·  NDCG@10 = 0.0431  ·  +50.8% vs baseline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084832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RP3+TD · EASE^R · RP3+MB+TD  |  Pesos: 0.023 / 0.021 / 0.956  |  Spearman ρ=0.216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2943</Words>
  <Application>Microsoft Office PowerPoint</Application>
  <PresentationFormat>Presentación en pantalla (16:9)</PresentationFormat>
  <Paragraphs>525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RecSys — Presentación Técnica Final</dc:title>
  <dc:subject>PptxGenJS Presentation</dc:subject>
  <dc:creator>PptxGenJS</dc:creator>
  <cp:lastModifiedBy>Leila Maria Abduca</cp:lastModifiedBy>
  <cp:revision>2</cp:revision>
  <dcterms:created xsi:type="dcterms:W3CDTF">2026-03-22T04:11:45Z</dcterms:created>
  <dcterms:modified xsi:type="dcterms:W3CDTF">2026-03-24T00:11:38Z</dcterms:modified>
</cp:coreProperties>
</file>