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8367" autoAdjust="0"/>
  </p:normalViewPr>
  <p:slideViewPr>
    <p:cSldViewPr snapToGrid="0" snapToObjects="1">
      <p:cViewPr varScale="1">
        <p:scale>
          <a:sx n="96" d="100"/>
          <a:sy n="96" d="100"/>
        </p:scale>
        <p:origin x="10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7558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TÉCNICA. Resaltar: 25+ modelos, 15 notebooks, resultado final NDCG@10=0.0431 (+50.8%). Dataset real de e-commerce.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estructura. Este deck es técnico — enfocado en datos, metodología, modelos y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NB01: 2.75M eventos, 3 tipos. NB02: power law en ítems — 5% concentra 80% interacciones. NB03: funnel VIEW→ADDTOCART→TRANSACTION, conversión 1.4%. La sparsidad 99.999% es el desafío técnico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desafíos son los que determinan qué familia de modelos funciona. La sparsidad extrema es por qué el deep learning falla — no hay suficiente señal para que los gradientes sean útiles. El feedback implícito requiere ponderación especial. El sesgo de popularidad se mitiga con RP3beta (β-penalización).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NB04: pipeline que une 3 fuentes de datos — eventos + propiedades de ítems (20M registros) + árbol de categorías. Feature clave: interaction_strength (view=1, cart=2, transaction=3). NB05: demographics sintéticos para LightGBM. NB06: 47 features de usuario, ítem e interacción. El split es TEMPORAL (corte 2015-08-22) — no aleatorio, para evitar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split temporal: todo antes del 2015-08-22 es train, todo después es test. No hay data leakage posible. Se evalúa sobre 3000 usuarios 'warm' (tienen ítems en train Y en test). NDCG es la métrica principal porque queremos que el ítem correcto aparezca en la posición 1, no en la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modelos evaluados. SVD básico (k=50) es el ganador de NB07 — supera incluso al híbrido SVD+CB porque el CB añade ruido para usuarios con poco historial. NMF falla completamente por la sparsidad. LightGBM es sorprendentemente bajo — las features no compensan la falta de señal colaborativa.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NB08 añade TD (Temporal Decay λ=0.03) e IPS (Inverse Propensity Score γ=0.4). SVD+TD+IPS obtiene NDCG@10=0.0093 (+15% sobre NB07). El ConvLift@10=1749× significa que el sistema es 1749 veces mejor que recomendar al azar para generar compras. El fairness audit muestra que el híbrido es mejor para usuarios warm (+30%), pero peor para cold.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NB09 es el slide más importante técnicamente. RP3beta salta de 0.0093 a 0.0258 (+176%). EASE^R también brilla (+108%). El deep learning falla por 3 razones: sparsidad extrema, limitación de CPU y error de protocolo en SASRec. Citar Dacrema et al. 2019: 'métodos clásicos bien optimizados superan a deep learning en datasets sparse'.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NB10: Mult-VAE^PR muy competitivo (-1.2% de RP3beta) pero requiere 7091s de entrenamiento vs 6s de RP3beta — no viable en producción. NB12 corrige SASRec: filtra usuarios con ≥5 ítems, usa leave-one-out temporal y arquitectura completa. NB11 analiza sensibilidad: con filtro ≥10 el NDCG sube 112%, confirmando que la limitación es la sparsidad del dataset, no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muestra la evolución completa. Los puntos clave: 1) Deep learning (BPR, NCF, SASRec) fracasa. 2) RP3beta y EASE^R son el gran salto en NB09. 3) El ensemble final supera al mejor modelo individual en +50.8%. La historia es de selección de algoritmos + combinación inteligente.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 del ensemble es la COMPLEMENTARIEDAD: EASE^R tiene ρ=0.216 con los demás modelos. Cuando un modelo ve el espacio diferente, el ensemble gana. Los 100 trials de Optuna (vs 40 en NB14) encuentran mejores pesos y suben el NDCG de 0.04069 a 0.04310. La exploración NB15 confirma que el trío original es óptimo — más modelos no ayudan.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Justificar con fundamento técnico Y con la literatura. Dacrema et al. es una referencia fundamental que dice exactamente esto: los métodos clásicos bien optimizados superan al DL en datasets sparse. Mult-VAE es el challenger más serio pero no supera al ensemble. RP3beta + EASE^R son el par ideal por su complementariedad (ρ=0.216).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2-stages estándar en producción. Stage 1 (FAISS): recuperar 100 candidatos en &lt;10ms. Stage 2 (LightGBM): re-rankear con features contextuales (hora, dispositivo, recencia). RP3beta permite actualización incremental diaria sin re-entrenar desde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— Disponibles para profundizar en cualquier aspecto: protocolo de evaluación, hiperparámetros, por qué NMF falla, análisis de sensibilidad, arquitectura de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02512" y="-164592"/>
            <a:ext cx="5486400" cy="5486400"/>
          </a:xfrm>
          <a:prstGeom prst="ellipse">
            <a:avLst/>
          </a:prstGeom>
          <a:solidFill>
            <a:srgbClr val="0D2A55">
              <a:alpha val="40000"/>
            </a:srgbClr>
          </a:solidFill>
          <a:ln w="12700">
            <a:solidFill>
              <a:srgbClr val="0D2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30000"/>
            </a:srgbClr>
          </a:solidFill>
          <a:ln w="12700">
            <a:solidFill>
              <a:srgbClr val="0015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27432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6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DATA 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2578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Recomendación de Productos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Técnica · Entrega Final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00400" y="3703320"/>
            <a:ext cx="2743200" cy="2743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 · 2.75M eventos · 25+ modelos · 15 notebooks · NDCG@10 = 0.0431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Técnica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bloques · 20 minutos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004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29184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8076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080760" y="118872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8076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(NB07-08)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004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20040" y="310896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00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1148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3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200400" y="310896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0040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329184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08076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080760" y="3108960"/>
            <a:ext cx="2697480" cy="5486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8076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617220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RetailRocket (Kaggle)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NB01–NB03 · 2.75M eventos reales de e-commerce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2.75M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totales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/ addtocart / transaction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46888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46888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246888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únicos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1460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al menos 1 interacción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61772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235K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61772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en catálogo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6344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417K en catálogo completo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766560" y="1261872"/>
            <a:ext cx="2011680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76656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76656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Sparsidad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81228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matriz usuario-ítem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20040" y="2651760"/>
            <a:ext cx="4206240" cy="2194560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57200" y="27432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Eventos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31272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783080" y="3163824"/>
            <a:ext cx="2214585" cy="201168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9768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  ~2.46M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36758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addtocart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783080" y="3712464"/>
            <a:ext cx="185166" cy="2011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297680" y="36758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  ~200K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2245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783080" y="4261104"/>
            <a:ext cx="69129" cy="20116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9768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  ~75K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54880" y="2651760"/>
            <a:ext cx="4069080" cy="2194560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4892040" y="2743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 del EDA</a:t>
            </a:r>
            <a:endParaRPr lang="en-US" sz="130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127248"/>
            <a:ext cx="256032" cy="25603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193792" y="310896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1.4% de views terminan en compra</a:t>
            </a:r>
            <a:endParaRPr lang="en-US" sz="1100" dirty="0"/>
          </a:p>
        </p:txBody>
      </p:sp>
      <p:pic>
        <p:nvPicPr>
          <p:cNvPr id="4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639312"/>
            <a:ext cx="256032" cy="256032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193792" y="36210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ítems concentran el 80% de interacciones (power law)</a:t>
            </a:r>
            <a:endParaRPr lang="en-US" sz="1100" dirty="0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151376"/>
            <a:ext cx="256032" cy="2560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193792" y="41330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con ≥3 visitas convierten 4× más</a:t>
            </a:r>
            <a:endParaRPr lang="en-US" sz="1100" dirty="0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663440"/>
            <a:ext cx="256032" cy="256032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193792" y="4645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ítems por usuario = 1 (cold start masivo)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Críticas del Dataset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desafíos que definen la arquitectura del sistema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61872"/>
            <a:ext cx="2788920" cy="3520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61872"/>
            <a:ext cx="2788920" cy="64008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417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Sparsidad Extrema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661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99.9994%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35661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pares user-item vacíos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127248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836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de ítems/usuario: 1.52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56616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836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75 = exactamente 1 ítem</a:t>
            </a:r>
            <a:endParaRPr lang="en-US" sz="10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40050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836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usuarios: solo 1 ítem en train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3218688" y="1261872"/>
            <a:ext cx="2788920" cy="3520440"/>
          </a:xfrm>
          <a:prstGeom prst="rect">
            <a:avLst/>
          </a:prstGeom>
          <a:solidFill>
            <a:srgbClr val="0A001A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3218688" y="1261872"/>
            <a:ext cx="27889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41732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28269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Implícito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328269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328269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explícitos</a:t>
            </a:r>
            <a:endParaRPr lang="en-US" sz="1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127248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58444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= 1 punto, Cart = 2, Transaction = 3</a:t>
            </a:r>
            <a:endParaRPr lang="en-US" sz="10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56616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58444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de confianza, no preferencia directa</a:t>
            </a:r>
            <a:endParaRPr lang="en-US" sz="1000" dirty="0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4005072"/>
            <a:ext cx="201168" cy="20116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58444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ponderación por tipo de evento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6144768" y="1261872"/>
            <a:ext cx="2788920" cy="3520440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23"/>
          <p:cNvSpPr/>
          <p:nvPr/>
        </p:nvSpPr>
        <p:spPr>
          <a:xfrm>
            <a:off x="6144768" y="1261872"/>
            <a:ext cx="278892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417320"/>
            <a:ext cx="457200" cy="45720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20877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 Popularidad</a:t>
            </a:r>
            <a:endParaRPr lang="en-US" sz="1400" dirty="0"/>
          </a:p>
        </p:txBody>
      </p:sp>
      <p:sp>
        <p:nvSpPr>
          <p:cNvPr id="37" name="Text 25"/>
          <p:cNvSpPr/>
          <p:nvPr/>
        </p:nvSpPr>
        <p:spPr>
          <a:xfrm>
            <a:off x="620877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Law</a:t>
            </a:r>
            <a:endParaRPr lang="en-US" sz="2200" dirty="0"/>
          </a:p>
        </p:txBody>
      </p:sp>
      <p:sp>
        <p:nvSpPr>
          <p:cNvPr id="38" name="Text 26"/>
          <p:cNvSpPr/>
          <p:nvPr/>
        </p:nvSpPr>
        <p:spPr>
          <a:xfrm>
            <a:off x="620877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ítems</a:t>
            </a:r>
            <a:endParaRPr lang="en-US" sz="10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127248"/>
            <a:ext cx="201168" cy="201168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51052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de ítems más populares &gt; 50% interacciones</a:t>
            </a:r>
            <a:endParaRPr lang="en-US" sz="1000" dirty="0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566160"/>
            <a:ext cx="201168" cy="201168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651052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filter bubble</a:t>
            </a:r>
            <a:endParaRPr lang="en-US" sz="1000" dirty="0"/>
          </a:p>
        </p:txBody>
      </p:sp>
      <p:pic>
        <p:nvPicPr>
          <p:cNvPr id="43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4005072"/>
            <a:ext cx="201168" cy="201168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651052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en RP3beta mitiga esto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PIPELINE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Datos (NB04–NB06)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eventos crudos a features listos para modelado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608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8404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events.csv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item_props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category_tree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1984248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0040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0040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6440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26440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events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+ categories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2.14M rows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1984248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8076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08076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6328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14476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614476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view=1, cart=2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transaction=3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interaction_strength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320040" y="301752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20040" y="30175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608" y="315468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8404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(NB06)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38404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features: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recencia, frecuencia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 categ.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3767328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00400" y="3017520"/>
            <a:ext cx="2697480" cy="1600200"/>
          </a:xfrm>
          <a:prstGeom prst="rect">
            <a:avLst/>
          </a:prstGeom>
          <a:solidFill>
            <a:srgbClr val="0A1A0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00400" y="301752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5968" y="315468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6440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Esparsa</a:t>
            </a:r>
            <a:endParaRPr lang="en-US" sz="1200" dirty="0"/>
          </a:p>
        </p:txBody>
      </p:sp>
      <p:sp>
        <p:nvSpPr>
          <p:cNvPr id="36" name="Text 25"/>
          <p:cNvSpPr/>
          <p:nvPr/>
        </p:nvSpPr>
        <p:spPr>
          <a:xfrm>
            <a:off x="326440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User-Item Matrix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 × 235K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top-20K filtrado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3767328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080760" y="3017520"/>
            <a:ext cx="2697480" cy="160020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080760" y="301752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96328" y="315468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14476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2015-08-22</a:t>
            </a:r>
            <a:endParaRPr lang="en-US" sz="1200" dirty="0"/>
          </a:p>
        </p:txBody>
      </p:sp>
      <p:sp>
        <p:nvSpPr>
          <p:cNvPr id="42" name="Text 29"/>
          <p:cNvSpPr/>
          <p:nvPr/>
        </p:nvSpPr>
        <p:spPr>
          <a:xfrm>
            <a:off x="614476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82.2%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17.8%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METODOLOGÍA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Evaluación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· 3000 usuarios warm · 6 métricas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1188720"/>
          </a:xfrm>
          <a:prstGeom prst="rect">
            <a:avLst/>
          </a:prstGeom>
          <a:solidFill>
            <a:srgbClr val="040C18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298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— Corte: 2015-08-22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82.2%  (1.76M eventos)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17.8%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39312" y="1600200"/>
            <a:ext cx="3657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" y="2542032"/>
            <a:ext cx="8503920" cy="2331720"/>
          </a:xfrm>
          <a:prstGeom prst="rect">
            <a:avLst/>
          </a:prstGeom>
          <a:solidFill>
            <a:srgbClr val="040C18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720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Evaluación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423160" y="30083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aciertos en posiciones bajas del ranking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669280" y="30083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Métrica principal — captura calidad de ordenamiento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423160" y="3392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top-K que son ítems relevantes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0" y="33924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aciertos directos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423160" y="37764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relevantes capturados en top-K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669280" y="37764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preferencias del usuario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423160" y="4160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del catálogo recomendado al menos una vez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4160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Anti-filter bubble — diversidad del sistema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ConvLift@K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423160" y="45445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669280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 — veces mejor que recomendación aleatoria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526280" y="1261872"/>
            <a:ext cx="4297680" cy="114300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71600"/>
            <a:ext cx="292608" cy="29260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047488" y="12984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NDCG y no RMSE/MAE?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4663440" y="161848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un problema de ranking, no de predicción de rating. RMSE mide error puntual en preferencias — sin sentido en feedback implícito. NDCG mide si los ítems relevantes aparecen primero.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MODELOS BASE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Base — NB07 (8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fase de evaluación · Algoritmos clásicos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356616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15468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89204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15000" y="12618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49440" y="1261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Time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35661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4592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 ★ MEJOR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5468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02336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9204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715000" y="164592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164592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84248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202082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(k=90)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5468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02336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715000" y="202082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49440" y="20208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359152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39572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(α=0.5)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15468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0.0064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02336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89204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715000" y="239572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4.04%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49440" y="23957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734056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770632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Opt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315468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0.0040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02336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89204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715000" y="2770632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49440" y="27706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9.4s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3108960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3145536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LTR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15468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02336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0.0041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89204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715000" y="3145536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49440" y="314553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483864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52044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Baseline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315468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0.0018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02336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89204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715000" y="352044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49440" y="35204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0.4s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858768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89534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Item-CF (SVD emb.)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315468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02336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89204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715000" y="389534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9.24%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49440" y="389534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4233672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11480" y="427024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315468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02336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489204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715000" y="427024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8.32%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49440" y="427024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1.6s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365760" y="48188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NMF produce solución degenerada (Coverage≈0.000043) con sparsidad 99.9994% — excluido. SVD supera al Híbrido porque el 57.5% de usuarios son cold, donde el CB añade ruido.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MÉTRICAS NEGOCIO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NB08 — Métricas de Negocio &amp; ROI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métricas + mejoras con TD e IPS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377440" cy="2606040"/>
          </a:xfrm>
          <a:prstGeom prst="rect">
            <a:avLst/>
          </a:prstGeom>
          <a:solidFill>
            <a:srgbClr val="001A1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37744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ConvLift@10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0040" y="1737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3200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que recomendar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aleatorios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34640" y="1234440"/>
            <a:ext cx="5989320" cy="26060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34640" y="1234440"/>
            <a:ext cx="59893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26080" y="1261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34924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99516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CTR@10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181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834640" y="1609344"/>
            <a:ext cx="5989320" cy="40233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26080" y="16550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 + IPS ★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34924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9516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818120" y="1655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1.15%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34640" y="2029968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926080" y="20756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IPS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34924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99516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818120" y="20756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834640" y="2450592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926080" y="2496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34924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17220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699516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818120" y="24963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0.59%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2834640" y="2871216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926080" y="29169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(NB07)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34924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818120" y="2916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834640" y="3291840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2926080" y="333756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Adapt.+TD+IPS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34924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17220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0.0079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699516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7818120" y="33375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4.52%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977640"/>
            <a:ext cx="8503920" cy="896112"/>
          </a:xfrm>
          <a:prstGeom prst="rect">
            <a:avLst/>
          </a:prstGeom>
          <a:solidFill>
            <a:srgbClr val="050A10"/>
          </a:solidFill>
          <a:ln w="12700">
            <a:solidFill>
              <a:srgbClr val="7D3C98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5720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— Performance por segmento: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41148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(≤1 ítem)  57.5%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41148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gana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320040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(2-4 ítems) 29.8%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320040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+11.7%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598932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(5+ ítems) 12.7%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98932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+30.4%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 — Modelos Avanzados CF (7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salto: RP3beta +176% · Deep Learning decepciona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251460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77240" y="1261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2519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74920" y="1261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893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95160" y="1261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NB08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283464"/>
          </a:xfrm>
          <a:prstGeom prst="rect">
            <a:avLst/>
          </a:prstGeom>
          <a:solidFill>
            <a:srgbClr val="091A0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2763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7240" y="162763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(α=0.85, β=0.25) ★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51960" y="162763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074920" y="162763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0.00607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89320" y="162763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95160" y="16276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+175.9%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11096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192938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7240" y="192938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(λ=500, top-20K)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251960" y="192938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74920" y="19293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0.00477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989320" y="19293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95160" y="192938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+107.7%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212848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231136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77240" y="223113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(NB08 best)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251960" y="2231136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223113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0.00253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989320" y="22311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95160" y="223113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514600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532888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77240" y="25328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 (k=64, SGD vect.)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251960" y="2532888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074920" y="253288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0.00047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989320" y="2532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53288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2816352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283464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77240" y="28346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SASRec-lite (Transformer)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251960" y="2834640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5074920" y="283464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0.00013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989320" y="283464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95160" y="283464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118104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13639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777240" y="313639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(TDIPS+EASE+BPR)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251960" y="31363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074920" y="313639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0.00023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989320" y="3136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95160" y="313639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419856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43814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777240" y="34381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(NeuMF, PyTorch CPU)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251960" y="343814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74920" y="343814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989320" y="34381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1.63%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95160" y="34381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3886200"/>
            <a:ext cx="4114800" cy="1051560"/>
          </a:xfrm>
          <a:prstGeom prst="rect">
            <a:avLst/>
          </a:prstGeom>
          <a:solidFill>
            <a:srgbClr val="1A0005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457200" y="39502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falla el Deep Learning?</a:t>
            </a:r>
            <a:endParaRPr lang="en-US" sz="1200" dirty="0"/>
          </a:p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70248"/>
            <a:ext cx="182880" cy="182880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713232" y="4242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 solo tiene 1 ítem en train → gradiente cuasi-nulo</a:t>
            </a:r>
            <a:endParaRPr lang="en-US" sz="1000" dirty="0"/>
          </a:p>
        </p:txBody>
      </p:sp>
      <p:pic>
        <p:nvPicPr>
          <p:cNvPr id="7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71416"/>
            <a:ext cx="182880" cy="182880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713232" y="44439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tarda 1300s/10 epochs en CPU → sub-entrenado</a:t>
            </a:r>
            <a:endParaRPr lang="en-US" sz="1000" dirty="0"/>
          </a:p>
        </p:txBody>
      </p:sp>
      <p:pic>
        <p:nvPicPr>
          <p:cNvPr id="7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72584"/>
            <a:ext cx="182880" cy="182880"/>
          </a:xfrm>
          <a:prstGeom prst="rect">
            <a:avLst/>
          </a:prstGeom>
        </p:spPr>
      </p:pic>
      <p:sp>
        <p:nvSpPr>
          <p:cNvPr id="73" name="Text 67"/>
          <p:cNvSpPr/>
          <p:nvPr/>
        </p:nvSpPr>
        <p:spPr>
          <a:xfrm>
            <a:off x="713232" y="46451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SASRec: split aleatorio + sin causal mask → error de protocolo</a:t>
            </a:r>
            <a:endParaRPr lang="en-US" sz="1000" dirty="0"/>
          </a:p>
        </p:txBody>
      </p:sp>
      <p:sp>
        <p:nvSpPr>
          <p:cNvPr id="74" name="Shape 68"/>
          <p:cNvSpPr/>
          <p:nvPr/>
        </p:nvSpPr>
        <p:spPr>
          <a:xfrm>
            <a:off x="4572000" y="3886200"/>
            <a:ext cx="4251960" cy="105156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5" name="Text 69"/>
          <p:cNvSpPr/>
          <p:nvPr/>
        </p:nvSpPr>
        <p:spPr>
          <a:xfrm>
            <a:off x="4709160" y="3950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gana RP3beta?</a:t>
            </a:r>
            <a:endParaRPr lang="en-US" sz="1200" dirty="0"/>
          </a:p>
        </p:txBody>
      </p:sp>
      <p:pic>
        <p:nvPicPr>
          <p:cNvPr id="7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270248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4956048" y="42428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walk sobre grafo user-item → captura co-ocurrencia de 2° orden</a:t>
            </a:r>
            <a:endParaRPr lang="en-US" sz="1000" dirty="0"/>
          </a:p>
        </p:txBody>
      </p:sp>
      <p:pic>
        <p:nvPicPr>
          <p:cNvPr id="7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471416"/>
            <a:ext cx="182880" cy="182880"/>
          </a:xfrm>
          <a:prstGeom prst="rect">
            <a:avLst/>
          </a:prstGeom>
        </p:spPr>
      </p:pic>
      <p:sp>
        <p:nvSpPr>
          <p:cNvPr id="79" name="Text 71"/>
          <p:cNvSpPr/>
          <p:nvPr/>
        </p:nvSpPr>
        <p:spPr>
          <a:xfrm>
            <a:off x="4956048" y="44439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de popularidad → evita filter bubble</a:t>
            </a:r>
            <a:endParaRPr lang="en-US" sz="1000" dirty="0"/>
          </a:p>
        </p:txBody>
      </p:sp>
      <p:pic>
        <p:nvPicPr>
          <p:cNvPr id="8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672584"/>
            <a:ext cx="182880" cy="182880"/>
          </a:xfrm>
          <a:prstGeom prst="rect">
            <a:avLst/>
          </a:prstGeom>
        </p:spPr>
      </p:pic>
      <p:sp>
        <p:nvSpPr>
          <p:cNvPr id="81" name="Text 72"/>
          <p:cNvSpPr/>
          <p:nvPr/>
        </p:nvSpPr>
        <p:spPr>
          <a:xfrm>
            <a:off x="4956048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gradient descent → estable con sparsidad extrema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NB10-12 — Challengers Avanzados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· SASRec corregido · Análisis de sensiblidad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2860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411480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53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 — Mult-VAE^PR (VAE Generativo)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1719072"/>
            <a:ext cx="3931920" cy="384048"/>
          </a:xfrm>
          <a:prstGeom prst="rect">
            <a:avLst/>
          </a:prstGeom>
          <a:solidFill>
            <a:srgbClr val="0A1A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17647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(NB09) — reval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108960" y="176479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94760" y="1764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Campeón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11480" y="2157984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2203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(enc=[600,200], z=64)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108960" y="22037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94760" y="22037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596896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64261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 — NB09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108960" y="264261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794760" y="2642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-25.2%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11480" y="3035808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30815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— NB08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0896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794760" y="308152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-64%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148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Dacrema 2019 confirmada: VAE bien calibrado compite pero no supera RP3beta.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0" y="1234440"/>
            <a:ext cx="4251960" cy="2286000"/>
          </a:xfrm>
          <a:prstGeom prst="rect">
            <a:avLst/>
          </a:prstGeom>
          <a:solidFill>
            <a:srgbClr val="0A0805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572000" y="1234440"/>
            <a:ext cx="4251960" cy="64008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09160" y="1353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 — SASRec Corregido (3 fixes)</a:t>
            </a:r>
            <a:endParaRPr lang="en-US" sz="12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755648"/>
            <a:ext cx="201168" cy="20116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83480" y="17373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filtrar usuarios (1 ítem mín.)</a:t>
            </a:r>
            <a:endParaRPr lang="en-US" sz="100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011680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4983480" y="19933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Filtro ≥5 ítems en historial</a:t>
            </a:r>
            <a:endParaRPr lang="en-US" sz="1000" dirty="0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322576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983480" y="23042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Split aleatorio</a:t>
            </a:r>
            <a:endParaRPr lang="en-US" sz="100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578608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983480" y="25603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Leave-one-out temporal</a:t>
            </a:r>
            <a:endParaRPr lang="en-US" sz="10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89504"/>
            <a:ext cx="201168" cy="20116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498348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causal mask ni FFN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145536"/>
            <a:ext cx="201168" cy="20116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983480" y="31272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Arquitectura completa (paper)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320040" y="3657600"/>
            <a:ext cx="8503920" cy="12344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5" name="Text 36"/>
          <p:cNvSpPr/>
          <p:nvPr/>
        </p:nvSpPr>
        <p:spPr>
          <a:xfrm>
            <a:off x="457200" y="3721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NB11 — Análisis de Sensibilidad al Protocolo</a:t>
            </a:r>
            <a:endParaRPr lang="en-US" sz="1200" dirty="0"/>
          </a:p>
        </p:txBody>
      </p:sp>
      <p:sp>
        <p:nvSpPr>
          <p:cNvPr id="46" name="Text 37"/>
          <p:cNvSpPr/>
          <p:nvPr/>
        </p:nvSpPr>
        <p:spPr>
          <a:xfrm>
            <a:off x="411480" y="40416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usuarios</a:t>
            </a:r>
            <a:endParaRPr lang="en-US" sz="1000" dirty="0"/>
          </a:p>
        </p:txBody>
      </p:sp>
      <p:sp>
        <p:nvSpPr>
          <p:cNvPr id="47" name="Text 38"/>
          <p:cNvSpPr/>
          <p:nvPr/>
        </p:nvSpPr>
        <p:spPr>
          <a:xfrm>
            <a:off x="2423160" y="40416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RP3beta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4023360" y="4041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≥1 int.</a:t>
            </a:r>
            <a:endParaRPr lang="en-US" sz="1000" dirty="0"/>
          </a:p>
        </p:txBody>
      </p:sp>
      <p:sp>
        <p:nvSpPr>
          <p:cNvPr id="49" name="Text 40"/>
          <p:cNvSpPr/>
          <p:nvPr/>
        </p:nvSpPr>
        <p:spPr>
          <a:xfrm>
            <a:off x="5120640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41148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interacción (estándar)</a:t>
            </a:r>
            <a:endParaRPr lang="en-US" sz="1000" dirty="0"/>
          </a:p>
        </p:txBody>
      </p:sp>
      <p:sp>
        <p:nvSpPr>
          <p:cNvPr id="51" name="Text 42"/>
          <p:cNvSpPr/>
          <p:nvPr/>
        </p:nvSpPr>
        <p:spPr>
          <a:xfrm>
            <a:off x="2423160" y="43159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4023360" y="4315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5120640" y="4315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estándar del proyecto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41148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≥10 interacciones</a:t>
            </a:r>
            <a:endParaRPr lang="en-US" sz="1000" dirty="0"/>
          </a:p>
        </p:txBody>
      </p:sp>
      <p:sp>
        <p:nvSpPr>
          <p:cNvPr id="55" name="Text 46"/>
          <p:cNvSpPr/>
          <p:nvPr/>
        </p:nvSpPr>
        <p:spPr>
          <a:xfrm>
            <a:off x="2423160" y="459028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0.0546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4023360" y="4590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+112%</a:t>
            </a:r>
            <a:endParaRPr lang="en-US" sz="1000" dirty="0"/>
          </a:p>
        </p:txBody>
      </p:sp>
      <p:sp>
        <p:nvSpPr>
          <p:cNvPr id="57" name="Text 48"/>
          <p:cNvSpPr/>
          <p:nvPr/>
        </p:nvSpPr>
        <p:spPr>
          <a:xfrm>
            <a:off x="5120640" y="4590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más activos — dataset más denso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4128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COMPARATIVA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NDCG@10 — 18+ Modelos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Progresión desde popularidad hasta ensemble final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073" y="1271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88280" y="123444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7633" y="126187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562191" y="127101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2838" y="1271016"/>
            <a:ext cx="280048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40253" y="125272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62397" y="1581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79917" y="156362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79917" y="159105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514485" y="160020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14485" y="1600200"/>
            <a:ext cx="571765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31970" y="15819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62397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79917" y="189280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79917" y="192024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514485" y="192938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14485" y="1929384"/>
            <a:ext cx="945163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05368" y="191109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62397" y="22402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279917" y="222199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79917" y="22494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514485" y="225856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514485" y="2258568"/>
            <a:ext cx="1085187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45392" y="22402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2397" y="25694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79917" y="255117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279917" y="257860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514485" y="258775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489448" y="2603754"/>
            <a:ext cx="140024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700229" y="25694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262397" y="28986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/ SASRec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279917" y="288036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79917" y="290779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3514485" y="291693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522838" y="2932938"/>
            <a:ext cx="58343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618548" y="289864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262397" y="3227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279917" y="320954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279917" y="323697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3514485" y="324612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14485" y="3246120"/>
            <a:ext cx="2252055" cy="219456"/>
          </a:xfrm>
          <a:prstGeom prst="rect">
            <a:avLst/>
          </a:prstGeom>
          <a:solidFill>
            <a:srgbClr val="9B59B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812260" y="32278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262397" y="3557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79917" y="353872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279917" y="356616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3514485" y="357530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514485" y="3575304"/>
            <a:ext cx="2975513" cy="219456"/>
          </a:xfrm>
          <a:prstGeom prst="rect">
            <a:avLst/>
          </a:prstGeom>
          <a:solidFill>
            <a:srgbClr val="7D3C9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535718" y="355701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262397" y="3886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original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3279917" y="386791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79917" y="389534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3514485" y="390448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514485" y="3904488"/>
            <a:ext cx="3010519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570724" y="38862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262397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 (baseline NB13)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3279917" y="419709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3279917" y="42245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3514485" y="423367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514485" y="4233672"/>
            <a:ext cx="3337242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97447" y="42153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0.0286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262397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NB14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3279917" y="452628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279917" y="455371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3514485" y="456285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514485" y="4562856"/>
            <a:ext cx="4749152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309357" y="45445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013445" y="4544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262397" y="4873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NB15v2 ★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3383280" y="485546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79917" y="488289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79" name="Shape 76"/>
          <p:cNvSpPr/>
          <p:nvPr/>
        </p:nvSpPr>
        <p:spPr>
          <a:xfrm>
            <a:off x="3474720" y="489204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522838" y="4901184"/>
            <a:ext cx="5029200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549640" y="487375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9253728" y="4873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ENSEMBLE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NB14-15 — Estrategia Ensemble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Complementariedad por correlación Spearman · Optuna 100 trials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Spearman entre Rankings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1615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99339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7063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4787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11480" y="198424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216152" y="1965960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1615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993392" y="1965960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9339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4787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4787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227685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21615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1615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1993392" y="2258568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9339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7063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7063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54787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4787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" y="256946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td_ips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21615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1615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993392" y="2551176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99339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770632" y="2551176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77063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4787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54787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11480" y="2862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21615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21615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993392" y="2843784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99339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7063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77063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547872" y="2843784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54787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11480" y="3456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EASE^R ρ≈0.21 con todos → genuinamente complementario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572000" y="1234440"/>
            <a:ext cx="425196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709160" y="1307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Pesos — Optuna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4663440" y="16642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29200" y="166420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57784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w_rp3td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621792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w_ease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85800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w_rp3mb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7498080" y="1664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8275320" y="166420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617720" y="1993392"/>
            <a:ext cx="4160520" cy="393192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4663440" y="2039112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29200" y="2039112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57784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0.093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21792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0.148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685800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0.759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498080" y="203911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0.04069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275320" y="2039112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617720" y="2432304"/>
            <a:ext cx="4160520" cy="393192"/>
          </a:xfrm>
          <a:prstGeom prst="rect">
            <a:avLst/>
          </a:prstGeom>
          <a:solidFill>
            <a:srgbClr val="08201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4663440" y="2478024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NB15v2★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029200" y="2478024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557784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0.023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621792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0.021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85800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0.956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7498080" y="247802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0.04310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8275320" y="2478024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4617720" y="251460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 exploración adicional: EASE multi-λ, iALS scipy (ρ≈−0.04 vs CF), Category fallback, Greedy selection → ninguno mejora al trío original.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617720" y="31089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rp3_mb_td dominante (95.6%): captura events multi-tipo (view+cart+trans).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320040" y="3703320"/>
            <a:ext cx="8503920" cy="12070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8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13632"/>
            <a:ext cx="438912" cy="43891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1051560" y="3749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GANADOR FINAL</a:t>
            </a:r>
            <a:endParaRPr lang="en-US" sz="1200" dirty="0"/>
          </a:p>
        </p:txBody>
      </p:sp>
      <p:sp>
        <p:nvSpPr>
          <p:cNvPr id="82" name="Text 78"/>
          <p:cNvSpPr/>
          <p:nvPr/>
        </p:nvSpPr>
        <p:spPr>
          <a:xfrm>
            <a:off x="1051560" y="407822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RP3+TD + EASE^R + RP3+MB+TD  |  Pesos: 0.023 / 0.021 / 0.956  |  NDCG@10 = 0.0431  |  +50.8% vs baseline</a:t>
            </a:r>
            <a:endParaRPr lang="en-US" sz="1300" dirty="0"/>
          </a:p>
        </p:txBody>
      </p:sp>
      <p:sp>
        <p:nvSpPr>
          <p:cNvPr id="83" name="Text 79"/>
          <p:cNvSpPr/>
          <p:nvPr/>
        </p:nvSpPr>
        <p:spPr>
          <a:xfrm>
            <a:off x="1051560" y="444398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MinMax por usuario · Split temporal sin leakage · 100 trials Optuna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JUSTIFICACIÓN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del Modelo Ganador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RP3beta+EASE^R y no deep learning?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01752" y="1234440"/>
            <a:ext cx="2788920" cy="283464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01752" y="1234440"/>
            <a:ext cx="2788920" cy="64008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134416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65760" y="1709928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Walk CF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199339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NDCG@10: 0.0258</a:t>
            </a:r>
            <a:endParaRPr lang="en-US" sz="15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39572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7512" y="23774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Resistente a sparsidad extrema</a:t>
            </a:r>
            <a:endParaRPr lang="en-US" sz="10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798064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7512" y="277977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 popularidad → Coverage 6%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20040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67512" y="31821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gradient descent: 6s entrenamiento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02736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67512" y="35844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ρ=-0.664 con popularidad (no filter bubble)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301752" y="4041648"/>
            <a:ext cx="278892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301752" y="40690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 ENSEMBLE FINAL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3227832" y="1234440"/>
            <a:ext cx="2788920" cy="283464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227832" y="1234440"/>
            <a:ext cx="27889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3291840" y="134416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3291840" y="1709928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CF (solución cerrada)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3291840" y="199339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NDCG@10: 0.0193</a:t>
            </a:r>
            <a:endParaRPr lang="en-US" sz="15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395728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593592" y="23774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analítica: B=inv(X^TX+λI)</a:t>
            </a:r>
            <a:endParaRPr lang="en-US" sz="10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798064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3593592" y="277977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ítem se recomienda a sí mismo (diag=0)</a:t>
            </a:r>
            <a:endParaRPr lang="en-US" sz="1000" dirty="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200400"/>
            <a:ext cx="201168" cy="20116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593592" y="31821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 genuina vs RP3 (ρ=0.216)</a:t>
            </a:r>
            <a:endParaRPr lang="en-US" sz="1000" dirty="0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602736"/>
            <a:ext cx="201168" cy="20116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3593592" y="35844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Complementario → activa el ensemble</a:t>
            </a:r>
            <a:endParaRPr lang="en-US" sz="1000" dirty="0"/>
          </a:p>
        </p:txBody>
      </p:sp>
      <p:sp>
        <p:nvSpPr>
          <p:cNvPr id="37" name="Shape 26"/>
          <p:cNvSpPr/>
          <p:nvPr/>
        </p:nvSpPr>
        <p:spPr>
          <a:xfrm>
            <a:off x="3227832" y="4041648"/>
            <a:ext cx="2788920" cy="2743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3227832" y="40690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 ENSEMBLE FINAL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6153912" y="1234440"/>
            <a:ext cx="2788920" cy="2834640"/>
          </a:xfrm>
          <a:prstGeom prst="rect">
            <a:avLst/>
          </a:prstGeom>
          <a:solidFill>
            <a:srgbClr val="050A00"/>
          </a:solidFill>
          <a:ln w="12700">
            <a:solidFill>
              <a:srgbClr val="6B8CAE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0" name="Shape 29"/>
          <p:cNvSpPr/>
          <p:nvPr/>
        </p:nvSpPr>
        <p:spPr>
          <a:xfrm>
            <a:off x="6153912" y="1234440"/>
            <a:ext cx="2788920" cy="64008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217920" y="134416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</a:t>
            </a:r>
            <a:endParaRPr lang="en-US" sz="1400" dirty="0"/>
          </a:p>
        </p:txBody>
      </p:sp>
      <p:sp>
        <p:nvSpPr>
          <p:cNvPr id="42" name="Text 31"/>
          <p:cNvSpPr/>
          <p:nvPr/>
        </p:nvSpPr>
        <p:spPr>
          <a:xfrm>
            <a:off x="6217920" y="1709928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Generativo</a:t>
            </a:r>
            <a:endParaRPr lang="en-US" sz="1000" dirty="0"/>
          </a:p>
        </p:txBody>
      </p:sp>
      <p:sp>
        <p:nvSpPr>
          <p:cNvPr id="43" name="Text 32"/>
          <p:cNvSpPr/>
          <p:nvPr/>
        </p:nvSpPr>
        <p:spPr>
          <a:xfrm>
            <a:off x="6217920" y="199339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NDCG@10: 0.0255</a:t>
            </a:r>
            <a:endParaRPr lang="en-US" sz="15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395728"/>
            <a:ext cx="201168" cy="201168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6519672" y="23774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Precision@10 superior (+6.6% vs RP3)</a:t>
            </a:r>
            <a:endParaRPr lang="en-US" sz="10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798064"/>
            <a:ext cx="201168" cy="201168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6519672" y="277977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 flexible</a:t>
            </a:r>
            <a:endParaRPr lang="en-US" sz="1000" dirty="0"/>
          </a:p>
        </p:txBody>
      </p:sp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200400"/>
            <a:ext cx="201168" cy="201168"/>
          </a:xfrm>
          <a:prstGeom prst="rect">
            <a:avLst/>
          </a:prstGeom>
        </p:spPr>
      </p:pic>
      <p:sp>
        <p:nvSpPr>
          <p:cNvPr id="49" name="Text 35"/>
          <p:cNvSpPr/>
          <p:nvPr/>
        </p:nvSpPr>
        <p:spPr>
          <a:xfrm>
            <a:off x="6519672" y="31821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Pero: 7091s entrenamiento vs 6s</a:t>
            </a:r>
            <a:endParaRPr lang="en-US" sz="1000" dirty="0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602736"/>
            <a:ext cx="201168" cy="201168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6519672" y="35844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generaliza mejor en test</a:t>
            </a:r>
            <a:endParaRPr lang="en-US" sz="1000" dirty="0"/>
          </a:p>
        </p:txBody>
      </p:sp>
      <p:sp>
        <p:nvSpPr>
          <p:cNvPr id="52" name="Shape 37"/>
          <p:cNvSpPr/>
          <p:nvPr/>
        </p:nvSpPr>
        <p:spPr>
          <a:xfrm>
            <a:off x="0" y="4434840"/>
            <a:ext cx="9144000" cy="685800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38"/>
          <p:cNvSpPr/>
          <p:nvPr/>
        </p:nvSpPr>
        <p:spPr>
          <a:xfrm>
            <a:off x="457200" y="4480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Dacrema et al. (2019) "Are We Really Making Much Progress?" (RecSys 2019): EASE^R y RP3beta están consistentemente entre los mejores métodos CF para datasets de e-commerce implícito. El resultado del proyecto está en línea con la literatura.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PRODUCCIÓN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Producción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 1 + Stage 2 · FastAPI · Streamlit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344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344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661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nuevas interacciones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(incremental diario)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2057400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18688" y="1234440"/>
            <a:ext cx="2788920" cy="1664208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18688" y="1234440"/>
            <a:ext cx="27889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8269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28269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(6s)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(130s)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weights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2057400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44768" y="12344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144768" y="12344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20877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25" name="Text 17"/>
          <p:cNvSpPr/>
          <p:nvPr/>
        </p:nvSpPr>
        <p:spPr>
          <a:xfrm>
            <a:off x="620877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ANN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sub-10ms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candidatos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292608" y="30632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92608" y="30632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3896" y="320040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5661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35661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ctx.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Hora/dispositivo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final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3886200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18688" y="30632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18688" y="30632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9976" y="320040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8269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36" name="Text 25"/>
          <p:cNvSpPr/>
          <p:nvPr/>
        </p:nvSpPr>
        <p:spPr>
          <a:xfrm>
            <a:off x="328269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/recommend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por user_id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886200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144768" y="3063240"/>
            <a:ext cx="2788920" cy="16642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144768" y="3063240"/>
            <a:ext cx="278892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6056" y="320040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20877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20877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Power BI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457200" y="49103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A/B test — CTR y conversion rate del nuevo sistema vs. baseline de popularidad actual · Pipeline incremental: actualización diaria sin re-entrenar desde cero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40000"/>
            </a:srgbClr>
          </a:solidFill>
          <a:ln w="12700">
            <a:solidFill>
              <a:srgbClr val="00153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8288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0116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modelos evaluados en 15 notebooks.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231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sin data leakage.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learning: confirmación de Dacrema et al. (2019).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00400" y="3337560"/>
            <a:ext cx="2743200" cy="36576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4747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Optimizado · NDCG@10 = 0.0431 · +50.8%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</a:t>
            </a:r>
            <a:r>
              <a:rPr lang="en-US" sz="1600" b="1" i="1" dirty="0" err="1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r>
              <a:rPr lang="en-US" sz="1600" b="1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2754</Words>
  <Application>Microsoft Office PowerPoint</Application>
  <PresentationFormat>Presentación en pantalla (16:9)</PresentationFormat>
  <Paragraphs>522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RecSys — Presentación Técnica Final</dc:title>
  <dc:subject>PptxGenJS Presentation</dc:subject>
  <dc:creator>PptxGenJS</dc:creator>
  <cp:lastModifiedBy>Leila Maria Abduca</cp:lastModifiedBy>
  <cp:revision>2</cp:revision>
  <dcterms:created xsi:type="dcterms:W3CDTF">2026-03-22T03:33:44Z</dcterms:created>
  <dcterms:modified xsi:type="dcterms:W3CDTF">2026-03-22T03:50:15Z</dcterms:modified>
</cp:coreProperties>
</file>