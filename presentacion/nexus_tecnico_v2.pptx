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1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1438" autoAdjust="0"/>
  </p:normalViewPr>
  <p:slideViewPr>
    <p:cSldViewPr snapToGrid="0" snapToObjects="1">
      <p:cViewPr varScale="1">
        <p:scale>
          <a:sx n="89" d="100"/>
          <a:sy n="89" d="100"/>
        </p:scale>
        <p:origin x="12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0320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TÉCNICA. Resaltar: 25+ modelos, 15 notebooks, resultado final NDCG@10=0.0431 (+50.8%). Dataset real de e-commerce.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estructura. Este deck es técnico — enfocado en datos, metodología, modelos y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NB01: 2.75M eventos, 3 tipos. NB02: power law en ítems — 5% concentra 80% interacciones. NB03: funnel VIEW→ADDTOCART→TRANSACTION, conversión 1.4%. La sparsidad 99.999% es el desafío técnico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tres desafíos son los que determinan qué familia de modelos funciona. La sparsidad extrema es por qué el deep learning falla — no hay suficiente señal para que los gradientes sean útiles. El feedback implícito requiere ponderación especial. El sesgo de popularidad se mitiga con RP3beta (β-penalización).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NB04: pipeline que une 3 fuentes de datos — eventos + propiedades de ítems (20M registros) + árbol de categorías. Feature clave: interaction_strength (view=1, cart=2, transaction=3). NB05: demographics sintéticos para LightGBM. NB06: 47 features de usuario, ítem e interacción. El split es TEMPORAL (corte 2015-08-22) — no aleatorio, para evitar data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split temporal: todo antes del 2015-08-22 es train, todo después es test. No hay data leakage posible. Se evalúa sobre 3000 usuarios 'warm' (tienen ítems en train Y en test). NDCG es la métrica principal porque queremos que el ítem correcto aparezca en la posición 1, no en la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modelos evaluados. SVD básico (k=50) es el ganador de NB07 — supera incluso al híbrido SVD+CB porque el CB añade ruido para usuarios con poco historial. NMF falla completamente por la sparsidad. LightGBM es sorprendentemente bajo — las features no compensan la falta de señal colaborativa.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NB08 añade TD (Temporal Decay λ=0.03) e IPS (Inverse Propensity Score γ=0.4). SVD+TD+IPS obtiene NDCG@10=0.0093 (+15% sobre NB07). El ConvLift@10=1749× significa que el sistema es 1749 veces mejor que recomendar al azar para generar compras. El fairness audit muestra que el híbrido es mejor para usuarios warm (+30%), pero peor para cold.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NB09 es el slide más importante técnicamente. RP3beta salta de 0.0093 a 0.0258 (+176%). EASE^R también brilla (+108%). El deep learning falla por 3 razones: sparsidad extrema, limitación de CPU y error de protocolo en SASRec. Citar Dacrema et al. 2019: 'métodos clásicos bien optimizados superan a deep learning en datasets sparse'.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NB10: Mult-VAE^PR muy competitivo (-1.2% de RP3beta) pero requiere 7091s de entrenamiento vs 6s de RP3beta — no viable en producción. NB12 corrige SASRec: filtra usuarios con ≥5 ítems, usa leave-one-out temporal y arquitectura completa. NB11 analiza sensibilidad: con filtro ≥10 el NDCG sube 112%, confirmando que la limitación es la sparsidad del dataset, no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muestra la evolución completa. Los puntos clave: 1) Deep learning (BPR, NCF, SASRec) fracasa. 2) RP3beta y EASE^R son el gran salto en NB09. 3) El ensemble final supera al mejor modelo individual en +50.8%. La historia es de selección de algoritmos + combinación inteligente.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clave del ensemble es la COMPLEMENTARIEDAD: EASE^R tiene ρ=0.216 con los demás modelos. Cuando un modelo ve el espacio diferente, el ensemble gana. Los 100 trials de Optuna (vs 40 en NB14) encuentran mejores pesos y suben el NDCG de 0.04069 a 0.04310. La exploración NB15 confirma que el trío original es óptimo — más modelos no ayudan.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CORRECCIÓN CLAVE: el protagonista es el ENSEMBLE, no RP3beta. RP3beta individual llega a 0.0286. El ensemble llega a 0.0431 (+50.8%). La diferencia la hace la COMPLEMENTARIEDAD con EASE^R (ρ=0.216). Ningún modelo individual alcanza ese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Arquitectura 2-stages estándar en producción. Stage 1 (FAISS): recuperar 100 candidatos en &lt;10ms. Stage 2 (LightGBM): re-rankear con features contextuales (hora, dispositivo, recencia). RP3beta permite actualización incremental diaria sin re-entrenar desde cero.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— La narrativa correcta: el ensemble ES el modelo ganador. No RP3beta. El ensemble combina 3 componentes con señales complementarias (ρ=0.216 entre EASE^R y RP3) y alcanza 0.0431 vs 0.0286 individual. Ese es el logro central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0D2A55">
              <a:alpha val="40000"/>
            </a:srgbClr>
          </a:solidFill>
          <a:ln w="12700">
            <a:solidFill>
              <a:srgbClr val="0D2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1828800"/>
            <a:ext cx="4572000" cy="4572000"/>
          </a:xfrm>
          <a:prstGeom prst="ellipse">
            <a:avLst/>
          </a:prstGeom>
          <a:solidFill>
            <a:srgbClr val="001535">
              <a:alpha val="30000"/>
            </a:srgbClr>
          </a:solidFill>
          <a:ln w="12700">
            <a:solidFill>
              <a:srgbClr val="0015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274320"/>
            <a:ext cx="173736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6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DATA CO.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2578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Recomendación de Productos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57200" y="32186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Técnica · Entrega Final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200400" y="3703320"/>
            <a:ext cx="2743200" cy="27432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RetailRocket · 2.75M eventos · 25+ modelos · 15 notebooks · NDCG@10 = 0.0431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Técnica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bloques · 20 minutos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20040" y="118872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20040" y="118872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2801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17007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37744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1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00400" y="118872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00400" y="118872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0" y="12801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291840" y="17007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383280" y="237744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832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80760" y="118872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080760" y="118872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80760" y="12801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6172200" y="17007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(NB07-08)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263640" y="237744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6364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20040" y="310896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20040" y="3108960"/>
            <a:ext cx="269748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00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1148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Avanzados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02920" y="429768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3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0" y="310896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200400" y="3108960"/>
            <a:ext cx="269748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20040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329184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Ganador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3383280" y="429768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38328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4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6080760" y="310896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FFC04D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080760" y="3108960"/>
            <a:ext cx="2697480" cy="54864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08076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40" name="Text 37"/>
          <p:cNvSpPr/>
          <p:nvPr/>
        </p:nvSpPr>
        <p:spPr>
          <a:xfrm>
            <a:off x="617220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63640" y="429768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FFC04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26364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EDA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RetailRocket (Kaggle)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NB01–NB03 · 2.75M eventos reales de e-commerce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61872"/>
            <a:ext cx="2011680" cy="1234440"/>
          </a:xfrm>
          <a:prstGeom prst="rect">
            <a:avLst/>
          </a:prstGeom>
          <a:solidFill>
            <a:srgbClr val="041530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004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2.75M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2004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totales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/ addtocart / transaction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468880" y="1261872"/>
            <a:ext cx="2011680" cy="1234440"/>
          </a:xfrm>
          <a:prstGeom prst="rect">
            <a:avLst/>
          </a:prstGeom>
          <a:solidFill>
            <a:srgbClr val="041530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46888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1.4M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246888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únicos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51460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al menos 1 interacción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617720" y="1261872"/>
            <a:ext cx="2011680" cy="1234440"/>
          </a:xfrm>
          <a:prstGeom prst="rect">
            <a:avLst/>
          </a:prstGeom>
          <a:solidFill>
            <a:srgbClr val="041530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61772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235K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461772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Ítems en catálogo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6344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417K en catálogo completo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766560" y="1261872"/>
            <a:ext cx="2011680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76656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99.999%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76656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Sparsidad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81228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matriz usuario-ítem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20040" y="2651760"/>
            <a:ext cx="4206240" cy="2194560"/>
          </a:xfrm>
          <a:prstGeom prst="rect">
            <a:avLst/>
          </a:prstGeom>
          <a:solidFill>
            <a:srgbClr val="060D1A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57200" y="27432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Eventos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31272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783080" y="3163824"/>
            <a:ext cx="2214585" cy="201168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97680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  ~2.46M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36758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addtocart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783080" y="3712464"/>
            <a:ext cx="185166" cy="20116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297680" y="36758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  ~200K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57200" y="42245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783080" y="4261104"/>
            <a:ext cx="69129" cy="20116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97680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2.8%  ~75K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54880" y="2651760"/>
            <a:ext cx="4069080" cy="2194560"/>
          </a:xfrm>
          <a:prstGeom prst="rect">
            <a:avLst/>
          </a:prstGeom>
          <a:solidFill>
            <a:srgbClr val="060D1A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4892040" y="2743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 del EDA</a:t>
            </a:r>
            <a:endParaRPr lang="en-US" sz="1300" dirty="0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127248"/>
            <a:ext cx="256032" cy="256032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5193792" y="310896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1.4% de views terminan en compra</a:t>
            </a:r>
            <a:endParaRPr lang="en-US" sz="1100" dirty="0"/>
          </a:p>
        </p:txBody>
      </p:sp>
      <p:pic>
        <p:nvPicPr>
          <p:cNvPr id="4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639312"/>
            <a:ext cx="256032" cy="256032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5193792" y="362102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de ítems concentran el 80% de interacciones (power law)</a:t>
            </a:r>
            <a:endParaRPr lang="en-US" sz="1100" dirty="0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151376"/>
            <a:ext cx="256032" cy="256032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5193792" y="413308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con ≥3 visitas convierten 4× más</a:t>
            </a:r>
            <a:endParaRPr lang="en-US" sz="1100" dirty="0"/>
          </a:p>
        </p:txBody>
      </p:sp>
      <p:pic>
        <p:nvPicPr>
          <p:cNvPr id="4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663440"/>
            <a:ext cx="256032" cy="256032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193792" y="46451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ítems por usuario = 1 (cold start masivo)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EDA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Críticas del Dataset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desafíos que definen la arquitectura del sistema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2608" y="1261872"/>
            <a:ext cx="2788920" cy="3520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2608" y="1261872"/>
            <a:ext cx="2788920" cy="64008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14173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Sparsidad Extrema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6616" y="233172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99.9994%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356616" y="278892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pares user-item vacíos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3127248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58368" y="30906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de ítems/usuario: 1.52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3566160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8368" y="35295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75 = exactamente 1 ítem</a:t>
            </a:r>
            <a:endParaRPr lang="en-US" sz="10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40050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58368" y="396849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57.5% de usuarios: solo 1 ítem en train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3218688" y="1261872"/>
            <a:ext cx="2788920" cy="3520440"/>
          </a:xfrm>
          <a:prstGeom prst="rect">
            <a:avLst/>
          </a:prstGeom>
          <a:solidFill>
            <a:srgbClr val="0A001A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3218688" y="1261872"/>
            <a:ext cx="2788920" cy="640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9976" y="141732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28269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Implícito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3282696" y="233172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6" name="Text 18"/>
          <p:cNvSpPr/>
          <p:nvPr/>
        </p:nvSpPr>
        <p:spPr>
          <a:xfrm>
            <a:off x="3282696" y="278892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explícitos</a:t>
            </a:r>
            <a:endParaRPr lang="en-US" sz="10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416" y="3127248"/>
            <a:ext cx="201168" cy="20116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584448" y="30906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= 1 punto, Cart = 2, Transaction = 3</a:t>
            </a:r>
            <a:endParaRPr lang="en-US" sz="10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416" y="3566160"/>
            <a:ext cx="201168" cy="20116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3584448" y="35295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de confianza, no preferencia directa</a:t>
            </a:r>
            <a:endParaRPr lang="en-US" sz="1000" dirty="0"/>
          </a:p>
        </p:txBody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416" y="4005072"/>
            <a:ext cx="201168" cy="201168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3584448" y="396849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ponderación por tipo de evento</a:t>
            </a:r>
            <a:endParaRPr 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6144768" y="1261872"/>
            <a:ext cx="2788920" cy="3520440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23"/>
          <p:cNvSpPr/>
          <p:nvPr/>
        </p:nvSpPr>
        <p:spPr>
          <a:xfrm>
            <a:off x="6144768" y="1261872"/>
            <a:ext cx="278892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056" y="1417320"/>
            <a:ext cx="457200" cy="45720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20877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de Popularidad</a:t>
            </a:r>
            <a:endParaRPr lang="en-US" sz="1400" dirty="0"/>
          </a:p>
        </p:txBody>
      </p:sp>
      <p:sp>
        <p:nvSpPr>
          <p:cNvPr id="37" name="Text 25"/>
          <p:cNvSpPr/>
          <p:nvPr/>
        </p:nvSpPr>
        <p:spPr>
          <a:xfrm>
            <a:off x="6208776" y="233172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Law</a:t>
            </a:r>
            <a:endParaRPr lang="en-US" sz="2200" dirty="0"/>
          </a:p>
        </p:txBody>
      </p:sp>
      <p:sp>
        <p:nvSpPr>
          <p:cNvPr id="38" name="Text 26"/>
          <p:cNvSpPr/>
          <p:nvPr/>
        </p:nvSpPr>
        <p:spPr>
          <a:xfrm>
            <a:off x="6208776" y="278892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ítems</a:t>
            </a:r>
            <a:endParaRPr lang="en-US" sz="1000" dirty="0"/>
          </a:p>
        </p:txBody>
      </p:sp>
      <p:pic>
        <p:nvPicPr>
          <p:cNvPr id="3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3127248"/>
            <a:ext cx="201168" cy="201168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6510528" y="30906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de ítems más populares &gt; 50% interacciones</a:t>
            </a:r>
            <a:endParaRPr lang="en-US" sz="1000" dirty="0"/>
          </a:p>
        </p:txBody>
      </p:sp>
      <p:pic>
        <p:nvPicPr>
          <p:cNvPr id="4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3566160"/>
            <a:ext cx="201168" cy="201168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6510528" y="35295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filter bubble</a:t>
            </a:r>
            <a:endParaRPr lang="en-US" sz="1000" dirty="0"/>
          </a:p>
        </p:txBody>
      </p:sp>
      <p:pic>
        <p:nvPicPr>
          <p:cNvPr id="43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4005072"/>
            <a:ext cx="201168" cy="201168"/>
          </a:xfrm>
          <a:prstGeom prst="rect">
            <a:avLst/>
          </a:prstGeom>
        </p:spPr>
      </p:pic>
      <p:sp>
        <p:nvSpPr>
          <p:cNvPr id="44" name="Text 29"/>
          <p:cNvSpPr/>
          <p:nvPr/>
        </p:nvSpPr>
        <p:spPr>
          <a:xfrm>
            <a:off x="6510528" y="396849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β-penalización en RP3beta mitiga esto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PIPELINE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Datos (NB04–NB06)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eventos crudos a features listos para modelado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2697480" cy="1600200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5608" y="13716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4048" y="190195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84048" y="228600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events.csv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item_props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category_tree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1984248"/>
            <a:ext cx="164592" cy="16459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200400" y="1234440"/>
            <a:ext cx="2697480" cy="160020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200400" y="123444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13716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264408" y="190195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(NB04)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3264408" y="228600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events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+ categories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2.14M rows</a:t>
            </a:r>
            <a:endParaRPr lang="en-US" sz="10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1984248"/>
            <a:ext cx="164592" cy="16459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080760" y="1234440"/>
            <a:ext cx="2697480" cy="160020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080760" y="123444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6328" y="137160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144768" y="190195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Ponderación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(NB04)</a:t>
            </a:r>
            <a:endParaRPr lang="en-US" sz="1200" dirty="0"/>
          </a:p>
        </p:txBody>
      </p:sp>
      <p:sp>
        <p:nvSpPr>
          <p:cNvPr id="25" name="Text 17"/>
          <p:cNvSpPr/>
          <p:nvPr/>
        </p:nvSpPr>
        <p:spPr>
          <a:xfrm>
            <a:off x="6144768" y="228600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view=1, cart=2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transaction=3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interaction_strength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320040" y="3017520"/>
            <a:ext cx="2697480" cy="1600200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20040" y="301752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5608" y="3154680"/>
            <a:ext cx="457200" cy="45720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84048" y="368503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(NB06)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384048" y="406908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features: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recencia, frecuencia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 categ.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3767328"/>
            <a:ext cx="164592" cy="164592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3200400" y="3017520"/>
            <a:ext cx="2697480" cy="1600200"/>
          </a:xfrm>
          <a:prstGeom prst="rect">
            <a:avLst/>
          </a:prstGeom>
          <a:solidFill>
            <a:srgbClr val="0A1A00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3200400" y="3017520"/>
            <a:ext cx="269748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5968" y="3154680"/>
            <a:ext cx="457200" cy="45720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3264408" y="368503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Esparsa</a:t>
            </a:r>
            <a:endParaRPr lang="en-US" sz="1200" dirty="0"/>
          </a:p>
        </p:txBody>
      </p:sp>
      <p:sp>
        <p:nvSpPr>
          <p:cNvPr id="36" name="Text 25"/>
          <p:cNvSpPr/>
          <p:nvPr/>
        </p:nvSpPr>
        <p:spPr>
          <a:xfrm>
            <a:off x="3264408" y="406908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User-Item Matrix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1.4M × 235K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top-20K filtrado</a:t>
            </a:r>
            <a:endParaRPr lang="en-US" sz="1000" dirty="0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3767328"/>
            <a:ext cx="164592" cy="164592"/>
          </a:xfrm>
          <a:prstGeom prst="rect">
            <a:avLst/>
          </a:prstGeom>
        </p:spPr>
      </p:pic>
      <p:sp>
        <p:nvSpPr>
          <p:cNvPr id="38" name="Shape 26"/>
          <p:cNvSpPr/>
          <p:nvPr/>
        </p:nvSpPr>
        <p:spPr>
          <a:xfrm>
            <a:off x="6080760" y="3017520"/>
            <a:ext cx="2697480" cy="1600200"/>
          </a:xfrm>
          <a:prstGeom prst="rect">
            <a:avLst/>
          </a:prstGeom>
          <a:solidFill>
            <a:srgbClr val="1A0A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9" name="Shape 27"/>
          <p:cNvSpPr/>
          <p:nvPr/>
        </p:nvSpPr>
        <p:spPr>
          <a:xfrm>
            <a:off x="6080760" y="3017520"/>
            <a:ext cx="269748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96328" y="3154680"/>
            <a:ext cx="457200" cy="45720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6144768" y="368503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2015-08-22</a:t>
            </a:r>
            <a:endParaRPr lang="en-US" sz="1200" dirty="0"/>
          </a:p>
        </p:txBody>
      </p:sp>
      <p:sp>
        <p:nvSpPr>
          <p:cNvPr id="42" name="Text 29"/>
          <p:cNvSpPr/>
          <p:nvPr/>
        </p:nvSpPr>
        <p:spPr>
          <a:xfrm>
            <a:off x="6144768" y="406908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82.2%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17.8%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leakage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METODOLOGÍA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de Evaluación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 · 3000 usuarios warm · 6 métricas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4114800" cy="1188720"/>
          </a:xfrm>
          <a:prstGeom prst="rect">
            <a:avLst/>
          </a:prstGeom>
          <a:solidFill>
            <a:srgbClr val="040C18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1298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 — Corte: 2015-08-22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691640"/>
            <a:ext cx="3200400" cy="2743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82.2%  (1.76M eventos)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0" y="1691640"/>
            <a:ext cx="685800" cy="2743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0" y="16916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17.8%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39312" y="1600200"/>
            <a:ext cx="3657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" y="2542032"/>
            <a:ext cx="8503920" cy="2331720"/>
          </a:xfrm>
          <a:prstGeom prst="rect">
            <a:avLst/>
          </a:prstGeom>
          <a:solidFill>
            <a:srgbClr val="040C18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7200" y="26243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Evaluación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2990088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" y="29900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NDCG@K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423160" y="30083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 aciertos en posiciones bajas del ranking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669280" y="30083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Métrica principal — captura calidad de ordenamiento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3374136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337413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423160" y="33924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Fracción de top-K que son ítems relevantes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0" y="33924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Interpretable: aciertos directos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3758184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581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423160" y="37764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Fracción de relevantes capturados en top-K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669280" y="37764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preferencias del usuario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4142232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7200" y="41422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423160" y="4160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del catálogo recomendado al menos una vez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669280" y="41605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Anti-filter bubble — diversidad del sistema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57200" y="4526280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57200" y="452628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ConvLift@K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2423160" y="45445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Revenue@K / p_baseline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5669280" y="4544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1749× — veces mejor que recomendación aleatoria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526280" y="1261872"/>
            <a:ext cx="4297680" cy="1143000"/>
          </a:xfrm>
          <a:prstGeom prst="rect">
            <a:avLst/>
          </a:prstGeom>
          <a:solidFill>
            <a:srgbClr val="080F1E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3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371600"/>
            <a:ext cx="292608" cy="29260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5047488" y="12984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NDCG y no RMSE/MAE?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4663440" y="161848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un problema de ranking, no de predicción de rating. RMSE mide error puntual en preferencias — sin sentido en feedback implícito. NDCG mide si los ítems relevantes aparecen primero.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MODELOS BASE · INTEGRANTE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Base — NB07 (8 modelos)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fase de evaluación · Algoritmos clásicos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8503920" cy="356616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" y="12618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15468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02336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89204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MAP@10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715000" y="12618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949440" y="126187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Time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0040" y="1609344"/>
            <a:ext cx="8503920" cy="356616"/>
          </a:xfrm>
          <a:prstGeom prst="rect">
            <a:avLst/>
          </a:prstGeom>
          <a:solidFill>
            <a:srgbClr val="08203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1645920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(k=50) ★ MEJOR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154680" y="164592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023360" y="164592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892040" y="164592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0.0059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715000" y="1645920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0.41%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49440" y="164592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1984248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1480" y="2020824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Opt (k=90)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154680" y="202082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023360" y="202082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0.0080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02082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715000" y="2020824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0.63%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949440" y="20208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18.9s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" y="2359152"/>
            <a:ext cx="8503920" cy="35661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11480" y="2395728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(α=0.5)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3154680" y="239572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0.0064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023360" y="239572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892040" y="239572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0.0048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715000" y="2395728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4.04%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949440" y="239572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32.4s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320040" y="2734056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11480" y="2770632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Opt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3154680" y="2770632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0.0040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023360" y="2770632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0.0049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892040" y="2770632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715000" y="2770632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0.03%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949440" y="27706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9.4s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20040" y="3108960"/>
            <a:ext cx="8503920" cy="35661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11480" y="3145536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LTR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154680" y="3145536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0.0027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023360" y="3145536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0.0041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4892040" y="3145536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0.0025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715000" y="3145536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0.03%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949440" y="314553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0040" y="3483864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11480" y="3520440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Baseline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3154680" y="352044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0.0018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023360" y="352044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892040" y="352044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715000" y="3520440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949440" y="35204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0.4s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20040" y="3858768"/>
            <a:ext cx="8503920" cy="35661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11480" y="3895344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Item-CF (SVD emb.)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3154680" y="389534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023360" y="389534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4892040" y="389534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715000" y="3895344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9.24%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949440" y="389534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0.04s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20040" y="4233672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11480" y="4270248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Filtering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3154680" y="427024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0.0013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023360" y="427024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0.0017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4892040" y="427024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5715000" y="4270248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8.32%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6949440" y="427024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1.6s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365760" y="48188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NMF produce solución degenerada (Coverage≈0.000043) con sparsidad 99.9994% — excluido. SVD supera al Híbrido porque el 57.5% de usuarios son cold, donde el CB añade ruido.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MÉTRICAS NEGOCIO · INTEGRANTE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NB08 — Métricas de Negocio &amp; ROI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métricas + mejoras con TD e IPS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2377440" cy="2606040"/>
          </a:xfrm>
          <a:prstGeom prst="rect">
            <a:avLst/>
          </a:prstGeom>
          <a:solidFill>
            <a:srgbClr val="001A10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237744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ConvLift@10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20040" y="1737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1749×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32004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que recomendar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ítems aleatorios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0040" y="3063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Revenue@K / p_baseline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834640" y="1234440"/>
            <a:ext cx="5989320" cy="260604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834640" y="1234440"/>
            <a:ext cx="5989320" cy="34747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26080" y="12618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349240" y="126187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172200" y="126187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995160" y="126187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CTR@10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818120" y="12618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834640" y="1609344"/>
            <a:ext cx="5989320" cy="402336"/>
          </a:xfrm>
          <a:prstGeom prst="rect">
            <a:avLst/>
          </a:prstGeom>
          <a:solidFill>
            <a:srgbClr val="08203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926080" y="165506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+ TD + IPS ★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349240" y="16550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0.0088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172200" y="16550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95160" y="16550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0.0025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818120" y="16550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1.15%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34640" y="2029968"/>
            <a:ext cx="5989320" cy="40233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926080" y="20756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+ IPS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349240" y="2075688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172200" y="2075688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0.0088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995160" y="2075688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818120" y="207568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2834640" y="2450592"/>
            <a:ext cx="5989320" cy="40233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926080" y="24963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+ TD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349240" y="249631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0.0070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172200" y="249631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6995160" y="249631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0.0027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818120" y="24963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0.59%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2834640" y="2871216"/>
            <a:ext cx="5989320" cy="40233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2926080" y="291693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Opt (NB07)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349240" y="291693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172200" y="291693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0.0080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995160" y="291693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7818120" y="2916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0.63%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2834640" y="3291840"/>
            <a:ext cx="5989320" cy="40233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2926080" y="333756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Adapt.+TD+IPS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5349240" y="333756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0.0074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6172200" y="333756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0.0079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6995160" y="333756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0.0023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7818120" y="33375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4.52%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0040" y="3977640"/>
            <a:ext cx="8503920" cy="896112"/>
          </a:xfrm>
          <a:prstGeom prst="rect">
            <a:avLst/>
          </a:prstGeom>
          <a:solidFill>
            <a:srgbClr val="050A10"/>
          </a:solidFill>
          <a:ln w="12700">
            <a:solidFill>
              <a:srgbClr val="7D3C98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45720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Audit — Performance por segmento: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411480" y="43434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(≤1 ítem)  57.5%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411480" y="45720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gana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3200400" y="43434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Tepid (2-4 ítems) 29.8%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3200400" y="45720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+11.7%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5989320" y="43434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(5+ ítems) 12.7%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5989320" y="45720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+30.4%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MODELOS AVANZADOS · INTEGRANTE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 — Modelos Avanzados CF (7 modelos)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 salto: RP3beta +176% · Deep Learning decepciona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8503920" cy="251460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" y="1261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77240" y="1261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25196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074920" y="12618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Precision@10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989320" y="12618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995160" y="12618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vs NB08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0040" y="1609344"/>
            <a:ext cx="8503920" cy="283464"/>
          </a:xfrm>
          <a:prstGeom prst="rect">
            <a:avLst/>
          </a:prstGeom>
          <a:solidFill>
            <a:srgbClr val="091A0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1627632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77240" y="162763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(α=0.85, β=0.25) ★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251960" y="162763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074920" y="162763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0.00607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89320" y="162763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6.0%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95160" y="162763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+175.9%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1911096"/>
            <a:ext cx="8503920" cy="28346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1480" y="1929384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77240" y="192938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(λ=500, top-20K)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251960" y="192938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0.0193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074920" y="19293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0.00477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989320" y="19293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4.96%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995160" y="192938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+107.7%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" y="2212848"/>
            <a:ext cx="8503920" cy="283464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11480" y="2231136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77240" y="223113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SVD+TD+IPS (NB08 best)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251960" y="2231136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74920" y="223113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0.00253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989320" y="22311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1.91%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995160" y="2231136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320040" y="2514600"/>
            <a:ext cx="8503920" cy="28346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11480" y="2532888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77240" y="25328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BPR-MF (k=64, SGD vect.)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251960" y="2532888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074920" y="253288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0.00047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989320" y="2532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0.17%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995160" y="253288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20040" y="2816352"/>
            <a:ext cx="8503920" cy="283464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11480" y="2834640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777240" y="28346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SASRec-lite (Transformer)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251960" y="2834640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0.0005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5074920" y="283464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0.00013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989320" y="283464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0.16%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995160" y="283464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0040" y="3118104"/>
            <a:ext cx="8503920" cy="28346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11480" y="3136392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777240" y="313639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(TDIPS+EASE+BPR)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251960" y="31363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0.0004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5074920" y="313639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0.00023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989320" y="3136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1.38%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995160" y="313639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20040" y="3419856"/>
            <a:ext cx="8503920" cy="283464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11480" y="3438144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777240" y="34381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 (NeuMF, PyTorch CPU)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251960" y="343814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5074920" y="343814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0.00010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989320" y="343814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1.63%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995160" y="343814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20040" y="3886200"/>
            <a:ext cx="4114800" cy="1051560"/>
          </a:xfrm>
          <a:prstGeom prst="rect">
            <a:avLst/>
          </a:prstGeom>
          <a:solidFill>
            <a:srgbClr val="1A0005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457200" y="39502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falla el Deep Learning?</a:t>
            </a:r>
            <a:endParaRPr lang="en-US" sz="1200" dirty="0"/>
          </a:p>
        </p:txBody>
      </p:sp>
      <p:pic>
        <p:nvPicPr>
          <p:cNvPr id="6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70248"/>
            <a:ext cx="182880" cy="182880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713232" y="424281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57.5% de usuarios solo tiene 1 ítem en train → gradiente cuasi-nulo</a:t>
            </a:r>
            <a:endParaRPr lang="en-US" sz="1000" dirty="0"/>
          </a:p>
        </p:txBody>
      </p:sp>
      <p:pic>
        <p:nvPicPr>
          <p:cNvPr id="7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71416"/>
            <a:ext cx="182880" cy="182880"/>
          </a:xfrm>
          <a:prstGeom prst="rect">
            <a:avLst/>
          </a:prstGeom>
        </p:spPr>
      </p:pic>
      <p:sp>
        <p:nvSpPr>
          <p:cNvPr id="71" name="Text 66"/>
          <p:cNvSpPr/>
          <p:nvPr/>
        </p:nvSpPr>
        <p:spPr>
          <a:xfrm>
            <a:off x="713232" y="444398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 tarda 1300s/10 epochs en CPU → sub-entrenado</a:t>
            </a:r>
            <a:endParaRPr lang="en-US" sz="1000" dirty="0"/>
          </a:p>
        </p:txBody>
      </p:sp>
      <p:pic>
        <p:nvPicPr>
          <p:cNvPr id="7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672584"/>
            <a:ext cx="182880" cy="182880"/>
          </a:xfrm>
          <a:prstGeom prst="rect">
            <a:avLst/>
          </a:prstGeom>
        </p:spPr>
      </p:pic>
      <p:sp>
        <p:nvSpPr>
          <p:cNvPr id="73" name="Text 67"/>
          <p:cNvSpPr/>
          <p:nvPr/>
        </p:nvSpPr>
        <p:spPr>
          <a:xfrm>
            <a:off x="713232" y="46451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SASRec: split aleatorio + sin causal mask → error de protocolo</a:t>
            </a:r>
            <a:endParaRPr lang="en-US" sz="1000" dirty="0"/>
          </a:p>
        </p:txBody>
      </p:sp>
      <p:sp>
        <p:nvSpPr>
          <p:cNvPr id="74" name="Shape 68"/>
          <p:cNvSpPr/>
          <p:nvPr/>
        </p:nvSpPr>
        <p:spPr>
          <a:xfrm>
            <a:off x="4572000" y="3886200"/>
            <a:ext cx="4251960" cy="1051560"/>
          </a:xfrm>
          <a:prstGeom prst="rect">
            <a:avLst/>
          </a:prstGeom>
          <a:solidFill>
            <a:srgbClr val="0A1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5" name="Text 69"/>
          <p:cNvSpPr/>
          <p:nvPr/>
        </p:nvSpPr>
        <p:spPr>
          <a:xfrm>
            <a:off x="4709160" y="39502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RP3beta es el mejor individual?</a:t>
            </a:r>
            <a:endParaRPr lang="en-US" sz="1200" dirty="0"/>
          </a:p>
        </p:txBody>
      </p:sp>
      <p:pic>
        <p:nvPicPr>
          <p:cNvPr id="7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270248"/>
            <a:ext cx="182880" cy="182880"/>
          </a:xfrm>
          <a:prstGeom prst="rect">
            <a:avLst/>
          </a:prstGeom>
        </p:spPr>
      </p:pic>
      <p:sp>
        <p:nvSpPr>
          <p:cNvPr id="77" name="Text 70"/>
          <p:cNvSpPr/>
          <p:nvPr/>
        </p:nvSpPr>
        <p:spPr>
          <a:xfrm>
            <a:off x="4956048" y="42428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walk sobre grafo user-item → captura co-ocurrencia de 2° orden</a:t>
            </a:r>
            <a:endParaRPr lang="en-US" sz="1000" dirty="0"/>
          </a:p>
        </p:txBody>
      </p:sp>
      <p:pic>
        <p:nvPicPr>
          <p:cNvPr id="7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471416"/>
            <a:ext cx="182880" cy="182880"/>
          </a:xfrm>
          <a:prstGeom prst="rect">
            <a:avLst/>
          </a:prstGeom>
        </p:spPr>
      </p:pic>
      <p:sp>
        <p:nvSpPr>
          <p:cNvPr id="79" name="Text 71"/>
          <p:cNvSpPr/>
          <p:nvPr/>
        </p:nvSpPr>
        <p:spPr>
          <a:xfrm>
            <a:off x="4956048" y="44439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β-penalización de popularidad → evita filter bubble</a:t>
            </a:r>
            <a:endParaRPr lang="en-US" sz="1000" dirty="0"/>
          </a:p>
        </p:txBody>
      </p:sp>
      <p:pic>
        <p:nvPicPr>
          <p:cNvPr id="80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672584"/>
            <a:ext cx="182880" cy="182880"/>
          </a:xfrm>
          <a:prstGeom prst="rect">
            <a:avLst/>
          </a:prstGeom>
        </p:spPr>
      </p:pic>
      <p:sp>
        <p:nvSpPr>
          <p:cNvPr id="81" name="Text 72"/>
          <p:cNvSpPr/>
          <p:nvPr/>
        </p:nvSpPr>
        <p:spPr>
          <a:xfrm>
            <a:off x="4956048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gradient descent → estable con sparsidad extrema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MODELOS AVANZADOS · INTEGRANTE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NB10-12 — Challengers Avanzados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Mult-VAE^PR · SASRec corregido · Análisis de sensiblidad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4114800" cy="228600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4114800" cy="640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53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NB10 — Mult-VAE^PR (VAE Generativo)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1719072"/>
            <a:ext cx="3931920" cy="384048"/>
          </a:xfrm>
          <a:prstGeom prst="rect">
            <a:avLst/>
          </a:prstGeom>
          <a:solidFill>
            <a:srgbClr val="0A1A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176479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(NB09) — reval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108960" y="176479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794760" y="17647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Campeón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11480" y="2157984"/>
            <a:ext cx="3931920" cy="384048"/>
          </a:xfrm>
          <a:prstGeom prst="rect">
            <a:avLst/>
          </a:prstGeom>
          <a:solidFill>
            <a:srgbClr val="05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" y="2203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Mult-VAE^PR (enc=[600,200], z=64)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108960" y="220370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94760" y="220370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2596896"/>
            <a:ext cx="3931920" cy="384048"/>
          </a:xfrm>
          <a:prstGeom prst="rect">
            <a:avLst/>
          </a:prstGeom>
          <a:solidFill>
            <a:srgbClr val="05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264261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(λ=500) — NB09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108960" y="264261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794760" y="2642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-25.2%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11480" y="3035808"/>
            <a:ext cx="3931920" cy="384048"/>
          </a:xfrm>
          <a:prstGeom prst="rect">
            <a:avLst/>
          </a:prstGeom>
          <a:solidFill>
            <a:srgbClr val="05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30815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SVD+TD+IPS — NB08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10896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794760" y="308152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-64%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11480" y="3383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 Dacrema 2019 confirmada: VAE bien calibrado compite pero no supera RP3beta.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0" y="1234440"/>
            <a:ext cx="4251960" cy="2286000"/>
          </a:xfrm>
          <a:prstGeom prst="rect">
            <a:avLst/>
          </a:prstGeom>
          <a:solidFill>
            <a:srgbClr val="0A0805"/>
          </a:solidFill>
          <a:ln w="12700">
            <a:solidFill>
              <a:srgbClr val="FFC04D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572000" y="1234440"/>
            <a:ext cx="4251960" cy="64008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09160" y="13533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 — SASRec Corregido (3 fixes)</a:t>
            </a:r>
            <a:endParaRPr lang="en-US" sz="120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755648"/>
            <a:ext cx="201168" cy="20116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4983480" y="173736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NB09: Sin filtrar usuarios (1 ítem mín.)</a:t>
            </a:r>
            <a:endParaRPr lang="en-US" sz="1000" dirty="0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011680"/>
            <a:ext cx="201168" cy="20116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4983480" y="19933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NB12: Filtro ≥5 ítems en historial</a:t>
            </a:r>
            <a:endParaRPr lang="en-US" sz="1000" dirty="0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322576"/>
            <a:ext cx="201168" cy="201168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4983480" y="230428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NB09: Split aleatorio</a:t>
            </a:r>
            <a:endParaRPr lang="en-US" sz="1000" dirty="0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578608"/>
            <a:ext cx="201168" cy="201168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4983480" y="256032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NB12: Leave-one-out temporal</a:t>
            </a:r>
            <a:endParaRPr lang="en-US" sz="1000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889504"/>
            <a:ext cx="201168" cy="201168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4983480" y="28712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NB09: Sin causal mask ni FFN</a:t>
            </a:r>
            <a:endParaRPr lang="en-US" sz="10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145536"/>
            <a:ext cx="201168" cy="20116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4983480" y="312724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NB12: Arquitectura completa (paper)</a:t>
            </a:r>
            <a:endParaRPr lang="en-US" sz="1000" dirty="0"/>
          </a:p>
        </p:txBody>
      </p:sp>
      <p:sp>
        <p:nvSpPr>
          <p:cNvPr id="44" name="Shape 35"/>
          <p:cNvSpPr/>
          <p:nvPr/>
        </p:nvSpPr>
        <p:spPr>
          <a:xfrm>
            <a:off x="320040" y="3657600"/>
            <a:ext cx="8503920" cy="123444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5" name="Text 36"/>
          <p:cNvSpPr/>
          <p:nvPr/>
        </p:nvSpPr>
        <p:spPr>
          <a:xfrm>
            <a:off x="457200" y="3721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NB11 — Análisis de Sensibilidad al Protocolo</a:t>
            </a:r>
            <a:endParaRPr lang="en-US" sz="1200" dirty="0"/>
          </a:p>
        </p:txBody>
      </p:sp>
      <p:sp>
        <p:nvSpPr>
          <p:cNvPr id="46" name="Text 37"/>
          <p:cNvSpPr/>
          <p:nvPr/>
        </p:nvSpPr>
        <p:spPr>
          <a:xfrm>
            <a:off x="411480" y="40416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usuarios</a:t>
            </a:r>
            <a:endParaRPr lang="en-US" sz="1000" dirty="0"/>
          </a:p>
        </p:txBody>
      </p:sp>
      <p:sp>
        <p:nvSpPr>
          <p:cNvPr id="47" name="Text 38"/>
          <p:cNvSpPr/>
          <p:nvPr/>
        </p:nvSpPr>
        <p:spPr>
          <a:xfrm>
            <a:off x="2423160" y="40416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RP3beta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4023360" y="40416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vs ≥1 int.</a:t>
            </a:r>
            <a:endParaRPr lang="en-US" sz="1000" dirty="0"/>
          </a:p>
        </p:txBody>
      </p:sp>
      <p:sp>
        <p:nvSpPr>
          <p:cNvPr id="49" name="Text 40"/>
          <p:cNvSpPr/>
          <p:nvPr/>
        </p:nvSpPr>
        <p:spPr>
          <a:xfrm>
            <a:off x="5120640" y="4041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000" dirty="0"/>
          </a:p>
        </p:txBody>
      </p:sp>
      <p:sp>
        <p:nvSpPr>
          <p:cNvPr id="50" name="Text 41"/>
          <p:cNvSpPr/>
          <p:nvPr/>
        </p:nvSpPr>
        <p:spPr>
          <a:xfrm>
            <a:off x="411480" y="4315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interacción (estándar)</a:t>
            </a:r>
            <a:endParaRPr lang="en-US" sz="1000" dirty="0"/>
          </a:p>
        </p:txBody>
      </p:sp>
      <p:sp>
        <p:nvSpPr>
          <p:cNvPr id="51" name="Text 42"/>
          <p:cNvSpPr/>
          <p:nvPr/>
        </p:nvSpPr>
        <p:spPr>
          <a:xfrm>
            <a:off x="2423160" y="431596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4023360" y="4315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3" name="Text 44"/>
          <p:cNvSpPr/>
          <p:nvPr/>
        </p:nvSpPr>
        <p:spPr>
          <a:xfrm>
            <a:off x="5120640" y="43159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estándar del proyecto</a:t>
            </a:r>
            <a:endParaRPr lang="en-US" sz="1000" dirty="0"/>
          </a:p>
        </p:txBody>
      </p:sp>
      <p:sp>
        <p:nvSpPr>
          <p:cNvPr id="54" name="Text 45"/>
          <p:cNvSpPr/>
          <p:nvPr/>
        </p:nvSpPr>
        <p:spPr>
          <a:xfrm>
            <a:off x="411480" y="4590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≥10 interacciones</a:t>
            </a:r>
            <a:endParaRPr lang="en-US" sz="1000" dirty="0"/>
          </a:p>
        </p:txBody>
      </p:sp>
      <p:sp>
        <p:nvSpPr>
          <p:cNvPr id="55" name="Text 46"/>
          <p:cNvSpPr/>
          <p:nvPr/>
        </p:nvSpPr>
        <p:spPr>
          <a:xfrm>
            <a:off x="2423160" y="459028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0.0546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4023360" y="459028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+112%</a:t>
            </a:r>
            <a:endParaRPr lang="en-US" sz="1000" dirty="0"/>
          </a:p>
        </p:txBody>
      </p:sp>
      <p:sp>
        <p:nvSpPr>
          <p:cNvPr id="57" name="Text 48"/>
          <p:cNvSpPr/>
          <p:nvPr/>
        </p:nvSpPr>
        <p:spPr>
          <a:xfrm>
            <a:off x="5120640" y="45902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más activos — dataset más denso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4128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COMPARATIVA · INTEGRANTE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NDCG@10 — 18+ Modelos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Progresión desde popularidad hasta ensemble final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4073" y="12710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88280" y="1234440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27633" y="1261872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562191" y="1271016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2838" y="1271016"/>
            <a:ext cx="280048" cy="219456"/>
          </a:xfrm>
          <a:prstGeom prst="rect">
            <a:avLst/>
          </a:prstGeom>
          <a:solidFill>
            <a:srgbClr val="6B8CA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840253" y="125272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62397" y="1581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279917" y="1563624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79917" y="1591056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514485" y="1600200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14485" y="1600200"/>
            <a:ext cx="571765" cy="219456"/>
          </a:xfrm>
          <a:prstGeom prst="rect">
            <a:avLst/>
          </a:prstGeom>
          <a:solidFill>
            <a:srgbClr val="6B8CA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31970" y="158191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0.0049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62397" y="19110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(k=50)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79917" y="1892808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79917" y="1920240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514485" y="1929384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514485" y="1929384"/>
            <a:ext cx="945163" cy="219456"/>
          </a:xfrm>
          <a:prstGeom prst="rect">
            <a:avLst/>
          </a:prstGeom>
          <a:solidFill>
            <a:srgbClr val="0EA5D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05368" y="191109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262397" y="22402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SVD+TD+IPS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279917" y="2221992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279917" y="22494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514485" y="2258568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514485" y="2258568"/>
            <a:ext cx="1085187" cy="219456"/>
          </a:xfrm>
          <a:prstGeom prst="rect">
            <a:avLst/>
          </a:prstGeom>
          <a:solidFill>
            <a:srgbClr val="0EA5D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45392" y="224028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2397" y="25694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BPR-MF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279917" y="2551176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279917" y="257860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3514485" y="2587752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489448" y="2603754"/>
            <a:ext cx="140024" cy="219456"/>
          </a:xfrm>
          <a:prstGeom prst="rect">
            <a:avLst/>
          </a:prstGeom>
          <a:solidFill>
            <a:srgbClr val="E74C3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700229" y="256946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262397" y="28986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 / SASRec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279917" y="2880360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79917" y="2907792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3514485" y="2916936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522838" y="2932938"/>
            <a:ext cx="58343" cy="219456"/>
          </a:xfrm>
          <a:prstGeom prst="rect">
            <a:avLst/>
          </a:prstGeom>
          <a:solidFill>
            <a:srgbClr val="E74C3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618548" y="289864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0.0005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262397" y="3227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(λ=500)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279917" y="3209544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3279917" y="3236976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3514485" y="3246120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14485" y="3246120"/>
            <a:ext cx="2252055" cy="219456"/>
          </a:xfrm>
          <a:prstGeom prst="rect">
            <a:avLst/>
          </a:prstGeom>
          <a:solidFill>
            <a:srgbClr val="9B59B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812260" y="32278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0.0193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262397" y="35570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Mult-VAE^PR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79917" y="3538728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3279917" y="3566160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3514485" y="3575304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514485" y="3575304"/>
            <a:ext cx="2975513" cy="219456"/>
          </a:xfrm>
          <a:prstGeom prst="rect">
            <a:avLst/>
          </a:prstGeom>
          <a:solidFill>
            <a:srgbClr val="7D3C9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535718" y="355701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0.0255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262397" y="38862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original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3279917" y="3867912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3279917" y="389534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3514485" y="3904488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514485" y="3904488"/>
            <a:ext cx="3010519" cy="219456"/>
          </a:xfrm>
          <a:prstGeom prst="rect">
            <a:avLst/>
          </a:prstGeom>
          <a:solidFill>
            <a:srgbClr val="FF8C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570724" y="388620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262397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RP3+TD (baseline NB13)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3279917" y="4197096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3279917" y="422452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3514485" y="4233672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514485" y="4233672"/>
            <a:ext cx="3337242" cy="219456"/>
          </a:xfrm>
          <a:prstGeom prst="rect">
            <a:avLst/>
          </a:prstGeom>
          <a:solidFill>
            <a:srgbClr val="FF8C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897447" y="421538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0.0286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262397" y="4544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NB14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3279917" y="4526280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3279917" y="4553712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72" name="Shape 69"/>
          <p:cNvSpPr/>
          <p:nvPr/>
        </p:nvSpPr>
        <p:spPr>
          <a:xfrm>
            <a:off x="3514485" y="4562856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3514485" y="4562856"/>
            <a:ext cx="4749152" cy="219456"/>
          </a:xfrm>
          <a:prstGeom prst="rect">
            <a:avLst/>
          </a:prstGeom>
          <a:solidFill>
            <a:srgbClr val="00E5A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8309357" y="45445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0.0407</a:t>
            </a:r>
            <a:endParaRPr lang="en-US" sz="1100" dirty="0"/>
          </a:p>
        </p:txBody>
      </p:sp>
      <p:sp>
        <p:nvSpPr>
          <p:cNvPr id="75" name="Text 72"/>
          <p:cNvSpPr/>
          <p:nvPr/>
        </p:nvSpPr>
        <p:spPr>
          <a:xfrm>
            <a:off x="9013445" y="45445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+42.3%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262397" y="48737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NB15v2 ★</a:t>
            </a:r>
            <a:endParaRPr lang="en-US" sz="1100" dirty="0"/>
          </a:p>
        </p:txBody>
      </p:sp>
      <p:sp>
        <p:nvSpPr>
          <p:cNvPr id="77" name="Shape 74"/>
          <p:cNvSpPr/>
          <p:nvPr/>
        </p:nvSpPr>
        <p:spPr>
          <a:xfrm>
            <a:off x="3295820" y="4855464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279917" y="4882896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79" name="Shape 76"/>
          <p:cNvSpPr/>
          <p:nvPr/>
        </p:nvSpPr>
        <p:spPr>
          <a:xfrm>
            <a:off x="3474720" y="4892040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522838" y="4901184"/>
            <a:ext cx="5029200" cy="219456"/>
          </a:xfrm>
          <a:prstGeom prst="rect">
            <a:avLst/>
          </a:prstGeom>
          <a:solidFill>
            <a:srgbClr val="00E5A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549640" y="487375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0.0431</a:t>
            </a:r>
            <a:endParaRPr lang="en-US" sz="1100" dirty="0"/>
          </a:p>
        </p:txBody>
      </p:sp>
      <p:sp>
        <p:nvSpPr>
          <p:cNvPr id="82" name="Text 79"/>
          <p:cNvSpPr/>
          <p:nvPr/>
        </p:nvSpPr>
        <p:spPr>
          <a:xfrm>
            <a:off x="9253728" y="487375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+50.8%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07A50"/>
          </a:solidFill>
          <a:ln w="12700">
            <a:solidFill>
              <a:srgbClr val="007A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ENSEMBLE · INTEGRANTE 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NB14-15 — Estrategia Ensemble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Complementariedad por correlación Spearman · Optuna 100 trials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4114800" cy="2331720"/>
          </a:xfrm>
          <a:prstGeom prst="rect">
            <a:avLst/>
          </a:prstGeom>
          <a:solidFill>
            <a:srgbClr val="040A14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Spearman entre Rankings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1615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99339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ease_500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77063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54787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11480" y="198424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216152" y="1965960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1615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993392" y="1965960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99339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0.216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770632" y="1965960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7063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547872" y="1965960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4787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11480" y="227685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ease_500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216152" y="2258568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1615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0.216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1993392" y="2258568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99339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770632" y="2258568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77063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0.217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547872" y="2258568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54787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11480" y="256946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td_ips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216152" y="2551176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1615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1993392" y="2551176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99339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0.217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2770632" y="2551176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277063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547872" y="2551176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54787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11480" y="28620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216152" y="2843784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21615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993392" y="2843784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99339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70632" y="2843784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77063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547872" y="2843784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354787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411480" y="34564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EASE^R ρ≈0.21 con todos → genuinamente complementario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4572000" y="1234440"/>
            <a:ext cx="4251960" cy="233172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4709160" y="13075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Pesos — Optuna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4663440" y="16642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029200" y="166420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5577840" y="1664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w_rp3td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6217920" y="1664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w_ease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858000" y="1664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w_rp3mb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7498080" y="16642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8275320" y="166420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base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617720" y="1993392"/>
            <a:ext cx="4160520" cy="393192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4663440" y="2039112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NB14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5029200" y="2039112"/>
            <a:ext cx="4754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577840" y="2039112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0.093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217920" y="2039112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0.148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6858000" y="2039112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0.759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498080" y="203911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0.04069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8275320" y="2039112"/>
            <a:ext cx="749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+42.3%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617720" y="2432304"/>
            <a:ext cx="4160520" cy="393192"/>
          </a:xfrm>
          <a:prstGeom prst="rect">
            <a:avLst/>
          </a:prstGeom>
          <a:solidFill>
            <a:srgbClr val="08201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4663440" y="2478024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NB15v2★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5029200" y="2478024"/>
            <a:ext cx="4754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5577840" y="2478024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0.023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6217920" y="2478024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0.021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6858000" y="2478024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0.956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7498080" y="247802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0.04310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8275320" y="2478024"/>
            <a:ext cx="749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+50.8%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4617720" y="251460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NB15 exploración adicional: EASE multi-λ, iALS scipy (ρ≈−0.04 vs CF), Category fallback, Greedy selection → ninguno mejora al trío original.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4617720" y="310896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rp3_mb_td dominante (95.6%): captura events multi-tipo (view+cart+trans).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320040" y="3703320"/>
            <a:ext cx="8503920" cy="1207008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8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13632"/>
            <a:ext cx="438912" cy="438912"/>
          </a:xfrm>
          <a:prstGeom prst="rect">
            <a:avLst/>
          </a:prstGeom>
        </p:spPr>
      </p:pic>
      <p:sp>
        <p:nvSpPr>
          <p:cNvPr id="81" name="Text 77"/>
          <p:cNvSpPr/>
          <p:nvPr/>
        </p:nvSpPr>
        <p:spPr>
          <a:xfrm>
            <a:off x="1051560" y="3749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GANADOR FINAL</a:t>
            </a:r>
            <a:endParaRPr lang="en-US" sz="1200" dirty="0"/>
          </a:p>
        </p:txBody>
      </p:sp>
      <p:sp>
        <p:nvSpPr>
          <p:cNvPr id="82" name="Text 78"/>
          <p:cNvSpPr/>
          <p:nvPr/>
        </p:nvSpPr>
        <p:spPr>
          <a:xfrm>
            <a:off x="1051560" y="4078224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RP3+TD + EASE^R + RP3+MB+TD  |  Pesos: 0.023 / 0.021 / 0.956  |  NDCG@10 = 0.0431  |  +50.8% vs baseline</a:t>
            </a:r>
            <a:endParaRPr lang="en-US" sz="1300" dirty="0"/>
          </a:p>
        </p:txBody>
      </p:sp>
      <p:sp>
        <p:nvSpPr>
          <p:cNvPr id="83" name="Text 79"/>
          <p:cNvSpPr/>
          <p:nvPr/>
        </p:nvSpPr>
        <p:spPr>
          <a:xfrm>
            <a:off x="1051560" y="4443984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MinMax por usuario · Split temporal sin leakage · 100 trials Optuna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07A50"/>
          </a:solidFill>
          <a:ln w="12700">
            <a:solidFill>
              <a:srgbClr val="007A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JUSTIFICACIÓN · INTEGRANTE 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 del Modelo Ganador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ganador es el Ensemble — ningún modelo individual llega ahí solo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61872"/>
            <a:ext cx="8503920" cy="841248"/>
          </a:xfrm>
          <a:prstGeom prst="rect">
            <a:avLst/>
          </a:prstGeom>
          <a:solidFill>
            <a:srgbClr val="002010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61872"/>
            <a:ext cx="850392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4173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78992" y="13075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GANADOR: Ensemble Optimizado (RP3+TD · EASE^R · RP3+MB+TD)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078992" y="16642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= 0.0431  ·  +50.8% vs baseline individual  ·  Pesos: 0.023 / 0.021 / 0.956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01752" y="2240280"/>
            <a:ext cx="2788920" cy="2103120"/>
          </a:xfrm>
          <a:prstGeom prst="rect">
            <a:avLst/>
          </a:prstGeom>
          <a:solidFill>
            <a:srgbClr val="0A1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01752" y="2240280"/>
            <a:ext cx="278892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65760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RP3+MB+TD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65760" y="265176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dominante · peso 0.956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66344" y="2944368"/>
            <a:ext cx="2459736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060D1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6344" y="294436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Individual: 0.0286  →  En ensemble: 95.6%</a:t>
            </a:r>
            <a:endParaRPr lang="en-US" sz="9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291840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9224" y="327355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Multi-evento: view + cart + transaction</a:t>
            </a:r>
            <a:endParaRPr lang="en-US" sz="95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630168"/>
            <a:ext cx="182880" cy="1828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9224" y="361188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decay → interacciones recientes valen más</a:t>
            </a:r>
            <a:endParaRPr lang="en-US" sz="95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968496"/>
            <a:ext cx="182880" cy="18288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49224" y="39502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β-penalización de popularidad → no filter bubble</a:t>
            </a:r>
            <a:endParaRPr lang="en-US" sz="950" dirty="0"/>
          </a:p>
        </p:txBody>
      </p:sp>
      <p:sp>
        <p:nvSpPr>
          <p:cNvPr id="26" name="Shape 19"/>
          <p:cNvSpPr/>
          <p:nvPr/>
        </p:nvSpPr>
        <p:spPr>
          <a:xfrm>
            <a:off x="3227832" y="2240280"/>
            <a:ext cx="2788920" cy="210312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3227832" y="2240280"/>
            <a:ext cx="278892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3291840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(λ=500)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3291840" y="265176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de diversidad · peso 0.021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3392424" y="2944368"/>
            <a:ext cx="2459736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060D1A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3392424" y="294436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Individual: 0.0193  →  En ensemble: 2.1%</a:t>
            </a:r>
            <a:endParaRPr lang="en-US" sz="95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291840"/>
            <a:ext cx="182880" cy="18288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575304" y="327355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analítica cerrada — sin gradient descent</a:t>
            </a:r>
            <a:endParaRPr lang="en-US" sz="95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630168"/>
            <a:ext cx="182880" cy="18288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3575304" y="361188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ρ_Spearman=0.216 con RP3 → señal genuinamente distinta</a:t>
            </a:r>
            <a:endParaRPr lang="en-US" sz="95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968496"/>
            <a:ext cx="182880" cy="182880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3575304" y="39502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Pequeño peso, gran impacto en diversidad del ensemble</a:t>
            </a:r>
            <a:endParaRPr lang="en-US" sz="950" dirty="0"/>
          </a:p>
        </p:txBody>
      </p:sp>
      <p:sp>
        <p:nvSpPr>
          <p:cNvPr id="38" name="Shape 28"/>
          <p:cNvSpPr/>
          <p:nvPr/>
        </p:nvSpPr>
        <p:spPr>
          <a:xfrm>
            <a:off x="6153912" y="2240280"/>
            <a:ext cx="2788920" cy="2103120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9" name="Shape 29"/>
          <p:cNvSpPr/>
          <p:nvPr/>
        </p:nvSpPr>
        <p:spPr>
          <a:xfrm>
            <a:off x="6153912" y="2240280"/>
            <a:ext cx="278892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6217920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RP3+TD</a:t>
            </a:r>
            <a:endParaRPr lang="en-US" sz="1300" dirty="0"/>
          </a:p>
        </p:txBody>
      </p:sp>
      <p:sp>
        <p:nvSpPr>
          <p:cNvPr id="41" name="Text 31"/>
          <p:cNvSpPr/>
          <p:nvPr/>
        </p:nvSpPr>
        <p:spPr>
          <a:xfrm>
            <a:off x="6217920" y="265176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 base · peso 0.023</a:t>
            </a:r>
            <a:endParaRPr lang="en-US" sz="900" dirty="0"/>
          </a:p>
        </p:txBody>
      </p:sp>
      <p:sp>
        <p:nvSpPr>
          <p:cNvPr id="42" name="Shape 32"/>
          <p:cNvSpPr/>
          <p:nvPr/>
        </p:nvSpPr>
        <p:spPr>
          <a:xfrm>
            <a:off x="6318504" y="2944368"/>
            <a:ext cx="2459736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060D1A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6318504" y="294436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Individual: 0.0286  →  En ensemble: 2.3%</a:t>
            </a:r>
            <a:endParaRPr lang="en-US" sz="950" dirty="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291840"/>
            <a:ext cx="182880" cy="18288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6501384" y="327355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score base sin multi-evento</a:t>
            </a:r>
            <a:endParaRPr lang="en-US" sz="950" dirty="0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630168"/>
            <a:ext cx="182880" cy="182880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6501384" y="361188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señal temporal desacoplada</a:t>
            </a:r>
            <a:endParaRPr lang="en-US" sz="950" dirty="0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68496"/>
            <a:ext cx="182880" cy="18288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6501384" y="39502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Trío óptimo confirmado: +modelos no ayudan (NB15)</a:t>
            </a:r>
            <a:endParaRPr lang="en-US" sz="950" dirty="0"/>
          </a:p>
        </p:txBody>
      </p:sp>
      <p:sp>
        <p:nvSpPr>
          <p:cNvPr id="50" name="Shape 37"/>
          <p:cNvSpPr/>
          <p:nvPr/>
        </p:nvSpPr>
        <p:spPr>
          <a:xfrm>
            <a:off x="0" y="4443984"/>
            <a:ext cx="9144000" cy="69494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17720"/>
            <a:ext cx="228600" cy="228600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749808" y="448056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el ensemble supera a los individuales? EASE^R ve el espacio diferente (ρ=0.216). Juntos capturan señales complementarias → 0.0431 vs 0.0286 solo. Dacrema et al. (2019): métodos CF clásicos bien combinados superan DL en sparsidad alta.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07A50"/>
          </a:solidFill>
          <a:ln w="12700">
            <a:solidFill>
              <a:srgbClr val="007A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PRODUCCIÓN · INTEGRANTE 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Producción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 1 + Stage 2 · FastAPI · Streamlit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2608" y="1234440"/>
            <a:ext cx="2788920" cy="1664208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2608" y="1234440"/>
            <a:ext cx="278892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13716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" y="19019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56616" y="22860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RetailRocket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nuevas interacciones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(incremental diario)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2057400"/>
            <a:ext cx="164592" cy="16459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218688" y="1234440"/>
            <a:ext cx="2788920" cy="1664208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218688" y="1234440"/>
            <a:ext cx="278892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9976" y="13716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282696" y="19019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3282696" y="22860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(6s)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(130s)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weights</a:t>
            </a:r>
            <a:endParaRPr lang="en-US" sz="10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2057400"/>
            <a:ext cx="164592" cy="16459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144768" y="1234440"/>
            <a:ext cx="2788920" cy="1664208"/>
          </a:xfrm>
          <a:prstGeom prst="rect">
            <a:avLst/>
          </a:prstGeom>
          <a:solidFill>
            <a:srgbClr val="1A0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144768" y="1234440"/>
            <a:ext cx="278892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056" y="137160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208776" y="19019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300" dirty="0"/>
          </a:p>
        </p:txBody>
      </p:sp>
      <p:sp>
        <p:nvSpPr>
          <p:cNvPr id="25" name="Text 17"/>
          <p:cNvSpPr/>
          <p:nvPr/>
        </p:nvSpPr>
        <p:spPr>
          <a:xfrm>
            <a:off x="6208776" y="22860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ANN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sub-10ms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Top-100 candidatos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292608" y="3063240"/>
            <a:ext cx="2788920" cy="1664208"/>
          </a:xfrm>
          <a:prstGeom prst="rect">
            <a:avLst/>
          </a:prstGeom>
          <a:solidFill>
            <a:srgbClr val="1A0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92608" y="3063240"/>
            <a:ext cx="278892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3896" y="3200400"/>
            <a:ext cx="457200" cy="45720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56616" y="37307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356616" y="41148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ctx.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Hora/dispositivo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final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3886200"/>
            <a:ext cx="164592" cy="164592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3218688" y="3063240"/>
            <a:ext cx="2788920" cy="1664208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3218688" y="3063240"/>
            <a:ext cx="278892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79976" y="3200400"/>
            <a:ext cx="457200" cy="45720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3282696" y="37307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36" name="Text 25"/>
          <p:cNvSpPr/>
          <p:nvPr/>
        </p:nvSpPr>
        <p:spPr>
          <a:xfrm>
            <a:off x="3282696" y="41148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/recommend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Top-N por user_id</a:t>
            </a:r>
            <a:endParaRPr lang="en-US" sz="1000" dirty="0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3886200"/>
            <a:ext cx="164592" cy="164592"/>
          </a:xfrm>
          <a:prstGeom prst="rect">
            <a:avLst/>
          </a:prstGeom>
        </p:spPr>
      </p:pic>
      <p:sp>
        <p:nvSpPr>
          <p:cNvPr id="38" name="Shape 26"/>
          <p:cNvSpPr/>
          <p:nvPr/>
        </p:nvSpPr>
        <p:spPr>
          <a:xfrm>
            <a:off x="6144768" y="3063240"/>
            <a:ext cx="2788920" cy="1664208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9" name="Shape 27"/>
          <p:cNvSpPr/>
          <p:nvPr/>
        </p:nvSpPr>
        <p:spPr>
          <a:xfrm>
            <a:off x="6144768" y="3063240"/>
            <a:ext cx="278892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6056" y="3200400"/>
            <a:ext cx="457200" cy="45720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6208776" y="37307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208776" y="41148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Power BI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31"/>
          <p:cNvSpPr/>
          <p:nvPr/>
        </p:nvSpPr>
        <p:spPr>
          <a:xfrm>
            <a:off x="457200" y="49103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paso: A/B test — CTR y conversion rate del nuevo sistema vs. baseline de popularidad actual · Pipeline incremental: actualización diaria sin re-entrenar desde cero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001535">
              <a:alpha val="50000"/>
            </a:srgbClr>
          </a:solidFill>
          <a:ln w="12700">
            <a:solidFill>
              <a:srgbClr val="0015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0" y="1828800"/>
            <a:ext cx="4572000" cy="4572000"/>
          </a:xfrm>
          <a:prstGeom prst="ellipse">
            <a:avLst/>
          </a:prstGeom>
          <a:solidFill>
            <a:srgbClr val="001535">
              <a:alpha val="40000"/>
            </a:srgbClr>
          </a:solidFill>
          <a:ln w="12700">
            <a:solidFill>
              <a:srgbClr val="001535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182880"/>
            <a:ext cx="173736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9933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modelos. 15 notebooks. Dataset real.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deep learning falló — los métodos clásicos ganaron.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279806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no fue el mejor modelo individual...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200400" y="3291840"/>
            <a:ext cx="27432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4015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...sino combinarlos inteligentemente.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1371600" y="3977640"/>
            <a:ext cx="6400800" cy="868680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2768" y="411480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084832" y="4023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Optimizado  ·  NDCG@10 = 0.0431  ·  +50.8% vs baseline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2084832" y="44348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RP3+TD · EASE^R · RP3+MB+TD  |  Pesos: 0.023 / 0.021 / 0.956  |  Spearman ρ=0.216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2834</Words>
  <Application>Microsoft Office PowerPoint</Application>
  <PresentationFormat>Presentación en pantalla (16:9)</PresentationFormat>
  <Paragraphs>520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RecSys — Presentación Técnica Final</dc:title>
  <dc:subject>PptxGenJS Presentation</dc:subject>
  <dc:creator>PptxGenJS</dc:creator>
  <cp:lastModifiedBy>Leila Maria Abduca</cp:lastModifiedBy>
  <cp:revision>2</cp:revision>
  <dcterms:created xsi:type="dcterms:W3CDTF">2026-03-22T04:11:45Z</dcterms:created>
  <dcterms:modified xsi:type="dcterms:W3CDTF">2026-03-22T12:05:54Z</dcterms:modified>
</cp:coreProperties>
</file>