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89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– Dar la bienvenida al comité. Presentar al equipo brevemente (4 integrantes). Mencionar que Nexus Data Co. es el equipo consultor externo. Duración estimada de la presentación: 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brevemente la estructura. Indicar que cada integrante tiene un bloque asignado. Resaltar que la presentación abarca desde el problema hasta el plan de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GANCHO: Empezar con esta imagen mental. 100 usuarios, 1 compra. Eso es la realidad del e-commerce sin personalización. No es un problema técnico — es un problema de negocio que tiene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el problema: No es solo un número. Es un gap entre lo que el negocio ofrece y lo que el usuario necesita ver. El 0.8% de conversión es significativamente menor al benchmark del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objetivo es claro y medible. No es 'mejorar la experiencia' en abstracto — es incrementar la tasa de conversión con recomendaciones personalizadas. Esto tiene impacto directo en el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los KPIs son medibles y vinculados a negocio. La tasa de conversión es el norte estrella. Los KPIs secundarios permiten evaluar calidad técnica del sistema de recomendación (diversidad + precisión).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RetailRocket es público, real y de alta calidad. Los desafíos que presenta son los mismos que enfrenta cualquier e-commerce: datos desbalanceados, cold start y sesgo de popularidad. Precisamente los que el sistema debe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progresión: empezamos con un baseline simple (popularidad) y agregamos complejidad de forma controlada. El modelo híbrido combina señales de comportamiento y contenido para maximizar relevancia. No se presentan fórmulas, sino la lógica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 completo sin entrar en detalle técnico. El dato entra, se procesa, el modelo aprende, la API sirve recomendaciones y el dashboard las visualiza. Es un pipeline estándar, robusto y escalable.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madurez: identificamos los riesgos antes de que el cliente los señale. Cada riesgo tiene una mitigación concreta. Esto da confianza al comité de que el equipo sabe lo que hace.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el impacto en lenguaje de negocio. No hablar de algoritmos — hablar de revenue, retención y escala. El dato de Amazon es conocido y poderoso para validar la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roadmap es concreto y alcanzable. 8 semanas, 4 sprints bien definidos. Cada sprint tiene entregable claro. Esto demuestra planificación real, no solo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rápidamente las fortalezas del equipo y del proyecto. Mostrar que todo está pensado desde la perspectiva del cliente: valor medible, riesgos gestionados y entregable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– Mirar al comité. Pausar. Dejar que las palabras impacten. Este slide es para generar confianza y pedir la aprobación. No agregar más contenido — la simplicidad es el mensaje.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D2A55">
              <a:alpha val="40000"/>
            </a:srgbClr>
          </a:solidFill>
          <a:ln w="12700">
            <a:solidFill>
              <a:srgbClr val="0D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1535">
              <a:alpha val="30000"/>
            </a:srgbClr>
          </a:solidFill>
          <a:ln w="12700">
            <a:solidFill>
              <a:srgbClr val="001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7432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 CO.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de Productos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E-Commerce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3703320"/>
            <a:ext cx="274320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 |  Curso Data Science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 · 4 bloques · 20 minutos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1965960" cy="3291840"/>
          </a:xfrm>
          <a:prstGeom prst="rect">
            <a:avLst/>
          </a:prstGeom>
          <a:solidFill>
            <a:srgbClr val="0D2A5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97280"/>
            <a:ext cx="196596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Problema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474720"/>
            <a:ext cx="1783080" cy="50292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3493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468880" y="1097280"/>
            <a:ext cx="1965960" cy="3291840"/>
          </a:xfrm>
          <a:prstGeom prst="rect">
            <a:avLst/>
          </a:prstGeom>
          <a:solidFill>
            <a:srgbClr val="0D2A5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68880" y="1097280"/>
            <a:ext cx="196596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6888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6916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6032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&amp; Objetivos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560320" y="3474720"/>
            <a:ext cx="1783080" cy="50292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560320" y="3493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0" y="1097280"/>
            <a:ext cx="1965960" cy="3291840"/>
          </a:xfrm>
          <a:prstGeom prst="rect">
            <a:avLst/>
          </a:prstGeom>
          <a:solidFill>
            <a:srgbClr val="0D2A5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0" y="1097280"/>
            <a:ext cx="196596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69164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6344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&amp; Enfoque Técnico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663440" y="3474720"/>
            <a:ext cx="1783080" cy="50292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663440" y="3493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675120" y="1097280"/>
            <a:ext cx="1965960" cy="3291840"/>
          </a:xfrm>
          <a:prstGeom prst="rect">
            <a:avLst/>
          </a:prstGeom>
          <a:solidFill>
            <a:srgbClr val="0D2A5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675120" y="1097280"/>
            <a:ext cx="196596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67512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6916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6656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KPIs &amp; Roadmap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766560" y="3474720"/>
            <a:ext cx="1783080" cy="50292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766560" y="3493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INTEGRANTE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esto...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325880"/>
            <a:ext cx="3474720" cy="3291840"/>
          </a:xfrm>
          <a:prstGeom prst="rect">
            <a:avLst/>
          </a:prstGeom>
          <a:solidFill>
            <a:srgbClr val="080F1E"/>
          </a:solidFill>
          <a:ln w="12700">
            <a:solidFill>
              <a:srgbClr val="FF8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325880"/>
            <a:ext cx="347472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508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45720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visitan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tienda online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71600" y="3200400"/>
            <a:ext cx="1645920" cy="365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compra.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otras 99 se van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convertir.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5270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07408" y="1463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tiene miles de productos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35000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07408" y="2286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no sabe qué buscar</a:t>
            </a:r>
            <a:endParaRPr lang="en-US" sz="15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17296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07408" y="3108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no personaliza la experiencia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99592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07408" y="3931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99% de oportunidades perdidas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INTEGRANTE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e-commerce con catálogo amplio pero experiencia genérica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2651760" cy="25603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463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conversión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~0.8% de visitantes compran.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industria: 2-4%.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0" y="1234440"/>
            <a:ext cx="2651760" cy="2560320"/>
          </a:xfrm>
          <a:prstGeom prst="rect">
            <a:avLst/>
          </a:prstGeom>
          <a:solidFill>
            <a:srgbClr val="001A1A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463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personalización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29184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ven el mismo catálogo.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relevancia para el usuario.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234440"/>
            <a:ext cx="2651760" cy="2560320"/>
          </a:xfrm>
          <a:prstGeom prst="rect">
            <a:avLst/>
          </a:prstGeom>
          <a:solidFill>
            <a:srgbClr val="0A001A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4630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subexplotado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12648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productos disponibles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invisibles para el usuario.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0" y="3931920"/>
            <a:ext cx="9144000" cy="1005840"/>
          </a:xfrm>
          <a:prstGeom prst="rect">
            <a:avLst/>
          </a:prstGeom>
          <a:solidFill>
            <a:srgbClr val="1005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08736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39776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recomendaciones personalizadas, el e-commerce pierde ingresos y retención de clientes en cada sesión.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INTEGRANTE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la experiencia de compra con inteligencia de datos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041530"/>
          </a:solidFill>
          <a:ln w="25400">
            <a:solidFill>
              <a:srgbClr val="00C8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261872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de recomendación personalizado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el comportamiento del usuario.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65760" y="2331720"/>
            <a:ext cx="4023360" cy="1417320"/>
          </a:xfrm>
          <a:prstGeom prst="rect">
            <a:avLst/>
          </a:prstGeom>
          <a:solidFill>
            <a:srgbClr val="041A30"/>
          </a:solidFill>
          <a:ln w="12700">
            <a:solidFill>
              <a:srgbClr val="0EA5D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Conversión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43000" y="2788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~0.8% hacia el benchmark de mercado (2-4%)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2331720"/>
            <a:ext cx="4023360" cy="1417320"/>
          </a:xfrm>
          <a:prstGeom prst="rect">
            <a:avLst/>
          </a:prstGeom>
          <a:solidFill>
            <a:srgbClr val="041A30"/>
          </a:solidFill>
          <a:ln w="12700">
            <a:solidFill>
              <a:srgbClr val="0EA5D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603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Valor por Sesión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2788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el ticket promedio por usuario activo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0A2040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5079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91363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Lista personalizada Top-N de productos recomendados por usuario, en tiempo real.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INTEGRANTE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Éxito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medimos el impacto del sistema?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3931920" cy="3383280"/>
          </a:xfrm>
          <a:prstGeom prst="rect">
            <a:avLst/>
          </a:prstGeom>
          <a:solidFill>
            <a:srgbClr val="051020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234440"/>
            <a:ext cx="393192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7830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2468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3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3246120"/>
            <a:ext cx="36576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2316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2-4%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45720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          Meta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480560" y="1234440"/>
            <a:ext cx="4297680" cy="1554480"/>
          </a:xfrm>
          <a:prstGeom prst="rect">
            <a:avLst/>
          </a:prstGeom>
          <a:solidFill>
            <a:srgbClr val="041A3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SECUNDARIO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64592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Catálogo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0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productos recomendados al menos una vez. Meta: &gt;60%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0560" y="2971800"/>
            <a:ext cx="4297680" cy="1554480"/>
          </a:xfrm>
          <a:prstGeom prst="rect">
            <a:avLst/>
          </a:prstGeom>
          <a:solidFill>
            <a:srgbClr val="041A3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5720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SECUNDARIO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383280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2064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del Modelo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0" y="3794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y Recall@K sobre conjunto de validación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INTEGRANTE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RetailRocket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· Dataset real de e-commerce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2651760" cy="1051560"/>
          </a:xfrm>
          <a:prstGeom prst="rect">
            <a:avLst/>
          </a:prstGeom>
          <a:solidFill>
            <a:srgbClr val="0A0A20"/>
          </a:solidFill>
          <a:ln w="12700">
            <a:solidFill>
              <a:srgbClr val="7D3C9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234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2.7M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6576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usuario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188720"/>
            <a:ext cx="2651760" cy="1051560"/>
          </a:xfrm>
          <a:prstGeom prst="rect">
            <a:avLst/>
          </a:prstGeom>
          <a:solidFill>
            <a:srgbClr val="0A0A20"/>
          </a:solidFill>
          <a:ln w="12700">
            <a:solidFill>
              <a:srgbClr val="7D3C9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0" y="1234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2004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evento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188720"/>
            <a:ext cx="2651760" cy="1051560"/>
          </a:xfrm>
          <a:prstGeom prst="rect">
            <a:avLst/>
          </a:prstGeom>
          <a:solidFill>
            <a:srgbClr val="0A0A20"/>
          </a:solidFill>
          <a:ln w="12700">
            <a:solidFill>
              <a:srgbClr val="7D3C9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1234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~1.4M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03504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únicas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2377440"/>
            <a:ext cx="3840480" cy="2377440"/>
          </a:xfrm>
          <a:prstGeom prst="rect">
            <a:avLst/>
          </a:prstGeom>
          <a:solidFill>
            <a:srgbClr val="060D1A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Eventos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2880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691640" y="2926080"/>
            <a:ext cx="1770278" cy="201168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28803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3429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691640" y="3474720"/>
            <a:ext cx="201168" cy="2011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9040" y="34290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3977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691640" y="4023360"/>
            <a:ext cx="40234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49040" y="3977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89120" y="2377440"/>
            <a:ext cx="4389120" cy="2377440"/>
          </a:xfrm>
          <a:prstGeom prst="rect">
            <a:avLst/>
          </a:prstGeom>
          <a:solidFill>
            <a:srgbClr val="0E0510"/>
          </a:solidFill>
          <a:ln w="12700">
            <a:solidFill>
              <a:srgbClr val="7D3C9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572000" y="2487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del Dataset</a:t>
            </a:r>
            <a:endParaRPr lang="en-US" sz="12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52928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919472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usuario hasheados (privacidad)</a:t>
            </a:r>
            <a:endParaRPr lang="en-US" sz="11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10128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919472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extremo: 88% views, 2% transacciones</a:t>
            </a:r>
            <a:endParaRPr lang="en-US" sz="11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76732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919472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nuevos usuarios sin historial</a:t>
            </a:r>
            <a:endParaRPr lang="en-US" sz="11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224528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919472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popularidad: ítems top opacan el catálogo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INTEGRANTE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Técnico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modelos · De simple a híbrido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234440"/>
            <a:ext cx="1554480" cy="2926080"/>
          </a:xfrm>
          <a:prstGeom prst="rect">
            <a:avLst/>
          </a:prstGeom>
          <a:solidFill>
            <a:srgbClr val="060D1A"/>
          </a:solidFill>
          <a:ln w="12700">
            <a:solidFill>
              <a:srgbClr val="6B8CA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234440"/>
            <a:ext cx="1554480" cy="64008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2004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Popularidad global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2" y="251460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993392" y="1234440"/>
            <a:ext cx="1554480" cy="2926080"/>
          </a:xfrm>
          <a:prstGeom prst="rect">
            <a:avLst/>
          </a:prstGeom>
          <a:solidFill>
            <a:srgbClr val="060D1A"/>
          </a:solidFill>
          <a:ln w="12700">
            <a:solidFill>
              <a:srgbClr val="0EA5D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993392" y="1234440"/>
            <a:ext cx="1554480" cy="64008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993392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039112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039112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 matrix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2514600"/>
            <a:ext cx="182880" cy="182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712464" y="1234440"/>
            <a:ext cx="1554480" cy="2926080"/>
          </a:xfrm>
          <a:prstGeom prst="rect">
            <a:avLst/>
          </a:prstGeom>
          <a:solidFill>
            <a:srgbClr val="060D1A"/>
          </a:solidFill>
          <a:ln w="12700">
            <a:solidFill>
              <a:srgbClr val="7D3C9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712464" y="1234440"/>
            <a:ext cx="1554480" cy="640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712464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3758184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758184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/ SVD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2514600"/>
            <a:ext cx="182880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431536" y="1234440"/>
            <a:ext cx="1554480" cy="2926080"/>
          </a:xfrm>
          <a:prstGeom prst="rect">
            <a:avLst/>
          </a:prstGeom>
          <a:solidFill>
            <a:srgbClr val="060D1A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431536" y="1234440"/>
            <a:ext cx="1554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31536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5477256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77256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 ítem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514600"/>
            <a:ext cx="182880" cy="18288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150608" y="1234440"/>
            <a:ext cx="1554480" cy="2926080"/>
          </a:xfrm>
          <a:prstGeom prst="rect">
            <a:avLst/>
          </a:prstGeom>
          <a:solidFill>
            <a:srgbClr val="1A0800"/>
          </a:solidFill>
          <a:ln w="12700">
            <a:solidFill>
              <a:srgbClr val="FF8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150608" y="1234440"/>
            <a:ext cx="155448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150608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7196328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196328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óptima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92608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50608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OBJETIVO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0" y="4297680"/>
            <a:ext cx="9144000" cy="731520"/>
          </a:xfrm>
          <a:prstGeom prst="rect">
            <a:avLst/>
          </a:prstGeom>
          <a:solidFill>
            <a:srgbClr val="080F1E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evaluación: Precision@K · Recall@K · NDCG  |  Validación: split temporal (no aleatorio)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INTEGRANTE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Conceptual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del sistema de recomendación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463040"/>
            <a:ext cx="1554480" cy="2743200"/>
          </a:xfrm>
          <a:prstGeom prst="rect">
            <a:avLst/>
          </a:prstGeom>
          <a:solidFill>
            <a:srgbClr val="060D1A"/>
          </a:solidFill>
          <a:ln w="25400">
            <a:solidFill>
              <a:srgbClr val="0EA5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463040"/>
            <a:ext cx="1554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" y="2578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RetailRocket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(eventos)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232" y="2834640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993392" y="1463040"/>
            <a:ext cx="1554480" cy="2743200"/>
          </a:xfrm>
          <a:prstGeom prst="rect">
            <a:avLst/>
          </a:prstGeom>
          <a:solidFill>
            <a:srgbClr val="060D1A"/>
          </a:solidFill>
          <a:ln w="25400">
            <a:solidFill>
              <a:srgbClr val="7D3C9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993392" y="1463040"/>
            <a:ext cx="1554480" cy="5486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2" y="166420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39112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2039112" y="2578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2834640"/>
            <a:ext cx="201168" cy="20116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712464" y="1463040"/>
            <a:ext cx="1554480" cy="2743200"/>
          </a:xfrm>
          <a:prstGeom prst="rect">
            <a:avLst/>
          </a:prstGeom>
          <a:solidFill>
            <a:srgbClr val="060D1A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3712464" y="1463040"/>
            <a:ext cx="155448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1104" y="1664208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58184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3758184" y="2578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+ Content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2834640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431536" y="1463040"/>
            <a:ext cx="1554480" cy="2743200"/>
          </a:xfrm>
          <a:prstGeom prst="rect">
            <a:avLst/>
          </a:prstGeom>
          <a:solidFill>
            <a:srgbClr val="060D1A"/>
          </a:solidFill>
          <a:ln w="25400">
            <a:solidFill>
              <a:srgbClr val="0EA5D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5431536" y="1463040"/>
            <a:ext cx="1554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1664208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477256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5477256" y="2578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Top-N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2834640"/>
            <a:ext cx="201168" cy="2011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7150608" y="1463040"/>
            <a:ext cx="1554480" cy="2743200"/>
          </a:xfrm>
          <a:prstGeom prst="rect">
            <a:avLst/>
          </a:prstGeom>
          <a:solidFill>
            <a:srgbClr val="060D1A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7150608" y="1463040"/>
            <a:ext cx="15544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1664208"/>
            <a:ext cx="457200" cy="4572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96328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7" name="Text 25"/>
          <p:cNvSpPr/>
          <p:nvPr/>
        </p:nvSpPr>
        <p:spPr>
          <a:xfrm>
            <a:off x="7196328" y="2578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0" y="4297680"/>
            <a:ext cx="9144000" cy="731520"/>
          </a:xfrm>
          <a:prstGeom prst="rect">
            <a:avLst/>
          </a:prstGeom>
          <a:solidFill>
            <a:srgbClr val="080F1E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407408"/>
            <a:ext cx="292608" cy="29260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3152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final: Top-N recomendaciones personalizadas presentadas al usuario en la tienda.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3-4 · GESTIÓN DE RIESGOS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&amp; Mitigaciones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conocemos, y tenemos plan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300A0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435608"/>
            <a:ext cx="822960" cy="2926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35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17320" y="1344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4447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3258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popularidad como fallback. Metadata de ítems para nuevos usuarios.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301A0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350008"/>
            <a:ext cx="822960" cy="292608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2350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417320" y="2258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popularidad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3591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114800" y="22402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forzada (exploration-exploitation). Métrica de cobertura.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300A0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264408"/>
            <a:ext cx="822960" cy="2926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2644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417320" y="3172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de clases</a:t>
            </a:r>
            <a:endParaRPr lang="en-US" sz="1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27355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14800" y="31546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ponderación de eventos. Mayor peso a transacciones.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00301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4178808"/>
            <a:ext cx="82296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4178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417320" y="4087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hasheados</a:t>
            </a:r>
            <a:endParaRPr lang="en-US" sz="13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18795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14800" y="4069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identificar usuarios reales. El hashing es irrelevante para el modelo.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INTEGRANTE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invertir en personalización?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1965960" cy="2560320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234440"/>
            <a:ext cx="19659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4447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+150-400%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11480" y="2514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mejora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468880" y="1234440"/>
            <a:ext cx="1965960" cy="2560320"/>
          </a:xfrm>
          <a:prstGeom prst="rect">
            <a:avLst/>
          </a:prstGeom>
          <a:solidFill>
            <a:srgbClr val="001015"/>
          </a:solidFill>
          <a:ln w="1270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68880" y="1234440"/>
            <a:ext cx="19659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4447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1460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514600" y="2514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satisfacción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del usuario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0" y="1234440"/>
            <a:ext cx="1965960" cy="2560320"/>
          </a:xfrm>
          <a:prstGeom prst="rect">
            <a:avLst/>
          </a:prstGeom>
          <a:solidFill>
            <a:srgbClr val="15000A"/>
          </a:solidFill>
          <a:ln w="1270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1234440"/>
            <a:ext cx="19659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4447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1772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4617720" y="2514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cobertura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visibles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75120" y="1234440"/>
            <a:ext cx="1965960" cy="2560320"/>
          </a:xfrm>
          <a:prstGeom prst="rect">
            <a:avLst/>
          </a:prstGeom>
          <a:solidFill>
            <a:srgbClr val="001A1A"/>
          </a:solidFill>
          <a:ln w="1270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75120" y="1234440"/>
            <a:ext cx="19659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44475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2084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6720840" y="2514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lista para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real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010D05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08736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97280" y="395020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genera ~35% de su revenue gracias a su motor de recomendaciones. La personalización ya no es diferenciador — es requisito.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INTEGRANTE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del Proyecto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· 8 semanas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7863840" cy="36576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234440"/>
            <a:ext cx="1965960" cy="3383280"/>
          </a:xfrm>
          <a:prstGeom prst="rect">
            <a:avLst/>
          </a:prstGeom>
          <a:solidFill>
            <a:srgbClr val="060D1A"/>
          </a:solidFill>
          <a:ln w="12700">
            <a:solidFill>
              <a:srgbClr val="0EA5D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234440"/>
            <a:ext cx="196596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576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011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Setup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69848" y="2724912"/>
            <a:ext cx="128016" cy="128016"/>
          </a:xfrm>
          <a:prstGeom prst="ellipse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2880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dataset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0156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9808" y="33558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datos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77056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38313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popularidad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468880" y="1234440"/>
            <a:ext cx="1965960" cy="3383280"/>
          </a:xfrm>
          <a:prstGeom prst="rect">
            <a:avLst/>
          </a:prstGeom>
          <a:solidFill>
            <a:srgbClr val="060D1A"/>
          </a:solidFill>
          <a:ln w="12700">
            <a:solidFill>
              <a:srgbClr val="7D3C9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468880" y="1234440"/>
            <a:ext cx="1965960" cy="5486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46888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246888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3-4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2514600" y="2011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Colaborativos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172968" y="2724912"/>
            <a:ext cx="128016" cy="128016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92608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852928" y="2880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CF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401568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852928" y="33558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(ALS)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877056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852928" y="38313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inicial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572000" y="1234440"/>
            <a:ext cx="1965960" cy="3383280"/>
          </a:xfrm>
          <a:prstGeom prst="rect">
            <a:avLst/>
          </a:prstGeom>
          <a:solidFill>
            <a:srgbClr val="060D1A"/>
          </a:solidFill>
          <a:ln w="12700">
            <a:solidFill>
              <a:srgbClr val="FF8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4572000" y="1234440"/>
            <a:ext cx="196596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57200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200" dirty="0"/>
          </a:p>
        </p:txBody>
      </p:sp>
      <p:sp>
        <p:nvSpPr>
          <p:cNvPr id="37" name="Text 28"/>
          <p:cNvSpPr/>
          <p:nvPr/>
        </p:nvSpPr>
        <p:spPr>
          <a:xfrm>
            <a:off x="457200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5-6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617720" y="2011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5276088" y="2724912"/>
            <a:ext cx="128016" cy="128016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2608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956048" y="2880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layer</a:t>
            </a:r>
            <a:endParaRPr lang="en-US" sz="10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401568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56048" y="33558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híbrida</a:t>
            </a:r>
            <a:endParaRPr lang="en-US" sz="10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877056"/>
            <a:ext cx="228600" cy="2286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956048" y="38313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y validación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6675120" y="1234440"/>
            <a:ext cx="1965960" cy="3383280"/>
          </a:xfrm>
          <a:prstGeom prst="rect">
            <a:avLst/>
          </a:prstGeom>
          <a:solidFill>
            <a:srgbClr val="060D1A"/>
          </a:solidFill>
          <a:ln w="1270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6675120" y="1234440"/>
            <a:ext cx="19659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667512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200" dirty="0"/>
          </a:p>
        </p:txBody>
      </p:sp>
      <p:sp>
        <p:nvSpPr>
          <p:cNvPr id="49" name="Text 37"/>
          <p:cNvSpPr/>
          <p:nvPr/>
        </p:nvSpPr>
        <p:spPr>
          <a:xfrm>
            <a:off x="667512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1000" dirty="0"/>
          </a:p>
        </p:txBody>
      </p:sp>
      <p:sp>
        <p:nvSpPr>
          <p:cNvPr id="50" name="Text 38"/>
          <p:cNvSpPr/>
          <p:nvPr/>
        </p:nvSpPr>
        <p:spPr>
          <a:xfrm>
            <a:off x="6720840" y="20116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Cierre</a:t>
            </a:r>
            <a:endParaRPr lang="en-US" sz="1300" dirty="0"/>
          </a:p>
        </p:txBody>
      </p:sp>
      <p:sp>
        <p:nvSpPr>
          <p:cNvPr id="51" name="Shape 39"/>
          <p:cNvSpPr/>
          <p:nvPr/>
        </p:nvSpPr>
        <p:spPr>
          <a:xfrm>
            <a:off x="7379208" y="2724912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926080"/>
            <a:ext cx="228600" cy="22860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059168" y="2880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0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401568"/>
            <a:ext cx="228600" cy="22860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059168" y="33558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0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877056"/>
            <a:ext cx="228600" cy="22860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7059168" y="38313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INTEGRANTE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Nexus Data Co.?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Equipo, enfoque y compromiso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371600"/>
            <a:ext cx="8412480" cy="530352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996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444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real y público: validación objetiva posible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" y="2029968"/>
            <a:ext cx="8412480" cy="530352"/>
          </a:xfrm>
          <a:prstGeom prst="rect">
            <a:avLst/>
          </a:prstGeom>
          <a:solidFill>
            <a:srgbClr val="040C14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5798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1031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técnica probada: de baseline a modelo híbrido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65760" y="2688336"/>
            <a:ext cx="8412480" cy="530352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163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27614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negocio claros y medibles desde el inicio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365760" y="3346704"/>
            <a:ext cx="8412480" cy="530352"/>
          </a:xfrm>
          <a:prstGeom prst="rect">
            <a:avLst/>
          </a:prstGeom>
          <a:solidFill>
            <a:srgbClr val="040C14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34198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 con plan de mitigación concreto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365760" y="4005072"/>
            <a:ext cx="8412480" cy="530352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33088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60120" y="407822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funcional: API + Dashboard listos para demo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1535">
              <a:alpha val="50000"/>
            </a:srgbClr>
          </a:solidFill>
          <a:ln w="12700">
            <a:solidFill>
              <a:srgbClr val="0015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288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está definido.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existe.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es sólido.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negocio es real.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1309</Words>
  <Application>Microsoft Office PowerPoint</Application>
  <PresentationFormat>Presentación en pantalla (16:9)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Data Co. – Sistema de Recomendación</dc:title>
  <dc:subject>PptxGenJS Presentation</dc:subject>
  <dc:creator>Nexus Data Co.</dc:creator>
  <cp:lastModifiedBy>Leila Maria Abduca</cp:lastModifiedBy>
  <cp:revision>2</cp:revision>
  <dcterms:created xsi:type="dcterms:W3CDTF">2026-03-22T03:11:08Z</dcterms:created>
  <dcterms:modified xsi:type="dcterms:W3CDTF">2026-03-22T12:14:56Z</dcterms:modified>
</cp:coreProperties>
</file>