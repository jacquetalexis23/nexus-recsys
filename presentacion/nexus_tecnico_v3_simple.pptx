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71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38" autoAdjust="0"/>
  </p:normalViewPr>
  <p:slideViewPr>
    <p:cSldViewPr snapToGrid="0" snapToObjects="1">
      <p:cViewPr varScale="1">
        <p:scale>
          <a:sx n="89" d="100"/>
          <a:sy n="89" d="100"/>
        </p:scale>
        <p:origin x="12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320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TÉCNICA. Resaltar: 25+ modelos, 15 notebooks, resultado final NDCG@10=0.0431 (+50.8%). Dataset real de e-commerce.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estructura. Este deck es técnico — enfocado en datos, metodología, modelos y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NB01: 2.75M eventos, 3 tipos. NB02: power law en ítems — 5% concentra 80% interacciones. NB03: funnel VIEW→ADDTOCART→TRANSACTION, </a:t>
            </a:r>
            <a:r>
              <a:rPr lang="en-US" dirty="0" err="1"/>
              <a:t>conversión</a:t>
            </a:r>
            <a:r>
              <a:rPr lang="en-US" dirty="0"/>
              <a:t> 1.4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tres desafíos son los que determinan qué familia de modelos funciona. La sparsidad extrema es por qué el deep learning falla — no hay suficiente señal para que los gradientes sean útiles. El feedback implícito requiere ponderación especial. El sesgo de popularidad se mitiga con RP3beta (β-penalización).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NB04: pipeline que une 3 fuentes de datos — eventos + propiedades de ítems (20M registros) + árbol de categorías. Feature clave: interaction_strength (view=1, cart=2, transaction=3). NB05: demographics sintéticos para LightGBM. NB06: 47 features de usuario, ítem e interacción. El split es TEMPORAL (corte 2015-08-22) — no aleatorio, para evitar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split temporal: todo antes del 2015-08-22 es train, todo después es test. No hay data leakage posible. Se evalúa sobre 3000 usuarios 'warm' (tienen ítems en train Y en test). NDCG es la métrica principal porque queremos que el ítem correcto aparezca en la posición 1, no en la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modelos evaluados. SVD básico (k=50) es el ganador de NB07 — supera incluso al híbrido SVD+CB porque el CB añade ruido para usuarios con poco historial. NMF falla completamente por la sparsidad. LightGBM es sorprendentemente bajo — las features no compensan la falta de señal </a:t>
            </a:r>
            <a:r>
              <a:rPr lang="en-US" dirty="0" err="1"/>
              <a:t>colaborativa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Filtering: no 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 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semantico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A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Item</a:t>
            </a: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-CF (Filtrado Colaborativo por Ítem)</a:t>
            </a:r>
            <a:r>
              <a:rPr lang="es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AR" sz="1800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Busca ítems similares </a:t>
            </a:r>
            <a:r>
              <a:rPr lang="es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s-AR" sz="1800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base a quiénes los compraron). </a:t>
            </a:r>
            <a:r>
              <a:rPr lang="es-AR" sz="1800" dirty="0"/>
              <a:t>con datos </a:t>
            </a:r>
            <a:r>
              <a:rPr lang="es-AR" sz="1800" dirty="0" err="1"/>
              <a:t>hasheados</a:t>
            </a:r>
            <a:r>
              <a:rPr lang="es-AR" sz="1800" dirty="0"/>
              <a:t>, el contenido no aporta</a:t>
            </a:r>
            <a:endParaRPr lang="en-US" sz="1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2800" b="1" dirty="0"/>
              <a:t>SVD </a:t>
            </a:r>
            <a:r>
              <a:rPr lang="es-AR" sz="2800" b="1" dirty="0" err="1"/>
              <a:t>Opt</a:t>
            </a:r>
            <a:r>
              <a:rPr lang="es-AR" sz="2800" b="1" dirty="0"/>
              <a:t> no superó a SVD básico: </a:t>
            </a:r>
            <a:r>
              <a:rPr lang="es-AR" sz="2800" dirty="0"/>
              <a:t>Más parámetros no siempre ayudan, datos son tan </a:t>
            </a:r>
            <a:r>
              <a:rPr lang="es-AR" sz="2800" dirty="0" err="1"/>
              <a:t>esparsos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NB09 es el slide más importante técnicamente. RP3beta salta de 0.0093 a 0.0258 (+176%). EASE^R también brilla (+108%). El deep learning falla por 3 razones: sparsidad extrema, limitación de CPU y error de protocolo en SASRec. Citar Dacrema et al. 2019: 'métodos clásicos bien optimizados superan a deep learning en datasets sparse'.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muestra la evolución completa. Los puntos clave: 1) Deep learning (BPR, NCF, SASRec) fracasa. 2) RP3beta y EASE^R son el gran salto en NB09. 3) El ensemble final supera al mejor modelo individual en +50.8%. La historia es de selección de algoritmos + combinación inteligente.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 CLAVE: el protagonista es el ENSEMBLE, no RP3beta. RP3beta individual llega a 0.0286. El ensemble llega a 0.0431 (+50.8%). La diferencia la hace la COMPLEMENTARIEDAD con EASE^R (ρ=0.216). Ningún modelo individual alcanza ese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— La narrativa correcta: el ensemble ES el modelo ganador. No RP3beta. El ensemble combina 3 componentes con señales complementarias (ρ=0.216 entre EASE^R y RP3) y alcanza 0.0431 vs 0.0286 individual. Ese es el logro central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D2A55">
              <a:alpha val="40000"/>
            </a:srgbClr>
          </a:solidFill>
          <a:ln w="12700">
            <a:solidFill>
              <a:srgbClr val="0D2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1535">
              <a:alpha val="30000"/>
            </a:srgbClr>
          </a:solidFill>
          <a:ln w="12700">
            <a:solidFill>
              <a:srgbClr val="001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7432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 CO.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578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Recomendación de Productos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00400" y="3703320"/>
            <a:ext cx="274320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RetailRocket · 2.75M eventos · 25+ modelos · 15 notebooks · NDCG@10 = 0.0431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Técnica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280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37744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118872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188720"/>
            <a:ext cx="2697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1280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291840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383280" y="237744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118872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1188720"/>
            <a:ext cx="2697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1280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172200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237744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636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" y="310896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" y="3108960"/>
            <a:ext cx="269748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11480" y="3621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2920" y="429768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0" y="310896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200400" y="3108960"/>
            <a:ext cx="26974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3291840" y="3621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3383280" y="429768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8328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4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080760" y="310896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FFC04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080760" y="3108960"/>
            <a:ext cx="2697480" cy="54864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076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6172200" y="3621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pasos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263640" y="429768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FFC04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6364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9750" y="4572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EDA · INTEGRANTE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RetailRocket (Kaggle)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20040" y="1261872"/>
            <a:ext cx="2011680" cy="1234440"/>
          </a:xfrm>
          <a:prstGeom prst="rect">
            <a:avLst/>
          </a:prstGeom>
          <a:solidFill>
            <a:srgbClr val="041530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12984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2.75M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2004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totales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8880" y="1261872"/>
            <a:ext cx="2011680" cy="1234440"/>
          </a:xfrm>
          <a:prstGeom prst="rect">
            <a:avLst/>
          </a:prstGeom>
          <a:solidFill>
            <a:srgbClr val="041530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468880" y="12984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46888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únicos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14600" y="21762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 menos 1 interacción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17720" y="1261872"/>
            <a:ext cx="2011680" cy="1234440"/>
          </a:xfrm>
          <a:prstGeom prst="rect">
            <a:avLst/>
          </a:prstGeom>
          <a:solidFill>
            <a:srgbClr val="041530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17720" y="12984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235K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61772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en catálogo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6560" y="1261872"/>
            <a:ext cx="2011680" cy="1234440"/>
          </a:xfrm>
          <a:prstGeom prst="rect">
            <a:avLst/>
          </a:prstGeom>
          <a:solidFill>
            <a:srgbClr val="1A0A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66560" y="12984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76656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hasheadas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12280" y="21762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performance de </a:t>
            </a:r>
            <a:r>
              <a:rPr lang="en-US" sz="900" i="1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basados</a:t>
            </a: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01752" y="2624328"/>
            <a:ext cx="4206240" cy="2368296"/>
          </a:xfrm>
          <a:prstGeom prst="rect">
            <a:avLst/>
          </a:prstGeom>
          <a:solidFill>
            <a:srgbClr val="060D1A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26" name="Text 23"/>
          <p:cNvSpPr/>
          <p:nvPr/>
        </p:nvSpPr>
        <p:spPr>
          <a:xfrm>
            <a:off x="457200" y="2743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Eventos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3127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783080" y="3163824"/>
            <a:ext cx="2214585" cy="201168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47510" y="313587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3675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783080" y="3712464"/>
            <a:ext cx="185166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47510" y="368451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4224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783080" y="4261104"/>
            <a:ext cx="69129" cy="2011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47510" y="423315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45152" y="2651760"/>
            <a:ext cx="4069080" cy="2340864"/>
          </a:xfrm>
          <a:prstGeom prst="rect">
            <a:avLst/>
          </a:prstGeom>
          <a:solidFill>
            <a:srgbClr val="060D1A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37" name="Text 34"/>
          <p:cNvSpPr/>
          <p:nvPr/>
        </p:nvSpPr>
        <p:spPr>
          <a:xfrm>
            <a:off x="489204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del EDA</a:t>
            </a:r>
            <a:endParaRPr lang="en-US" sz="13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27248"/>
            <a:ext cx="256032" cy="25603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184475" y="34888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 de transacciones y 20 % de los `</a:t>
            </a:r>
            <a:r>
              <a:rPr lang="es-AR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</a:t>
            </a:r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 ocurre sin `</a:t>
            </a:r>
            <a:r>
              <a:rPr lang="es-AR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 previo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5193792" y="387118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298023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193792" y="4279735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 ≥3 visitas convierten 4× más</a:t>
            </a:r>
            <a:endParaRPr lang="en-US" sz="11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715196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193792" y="46969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ítems por usuario = 1 (Cold start masivo)</a:t>
            </a:r>
            <a:endParaRPr lang="en-US" sz="1100" dirty="0"/>
          </a:p>
        </p:txBody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0F4E32E8-778B-A395-1C09-6130001C5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66" y="4734710"/>
            <a:ext cx="210255" cy="210255"/>
          </a:xfrm>
          <a:prstGeom prst="rect">
            <a:avLst/>
          </a:prstGeom>
        </p:spPr>
      </p:pic>
      <p:sp>
        <p:nvSpPr>
          <p:cNvPr id="47" name="Text 35">
            <a:extLst>
              <a:ext uri="{FF2B5EF4-FFF2-40B4-BE49-F238E27FC236}">
                <a16:creationId xmlns:a16="http://schemas.microsoft.com/office/drawing/2014/main" id="{7B53D529-C7B9-7C6C-085B-0A6EB65E1DDD}"/>
              </a:ext>
            </a:extLst>
          </p:cNvPr>
          <p:cNvSpPr/>
          <p:nvPr/>
        </p:nvSpPr>
        <p:spPr>
          <a:xfrm>
            <a:off x="630361" y="4691335"/>
            <a:ext cx="1940496" cy="285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Addtocart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: </a:t>
            </a:r>
            <a:r>
              <a:rPr lang="es-A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2.7%</a:t>
            </a:r>
            <a:endParaRPr lang="en-US" sz="1100" dirty="0"/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C9546C0B-1849-41B9-E320-7E86027248C2}"/>
              </a:ext>
            </a:extLst>
          </p:cNvPr>
          <p:cNvSpPr/>
          <p:nvPr/>
        </p:nvSpPr>
        <p:spPr>
          <a:xfrm>
            <a:off x="2662297" y="4667054"/>
            <a:ext cx="1940496" cy="285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1.4% de view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terminan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8F9E0AFB-6F56-E8C5-C42B-7326A2A8E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637" y="3477479"/>
            <a:ext cx="256032" cy="256032"/>
          </a:xfrm>
          <a:prstGeom prst="rect">
            <a:avLst/>
          </a:prstGeom>
        </p:spPr>
      </p:pic>
      <p:sp>
        <p:nvSpPr>
          <p:cNvPr id="48" name="Text 35">
            <a:extLst>
              <a:ext uri="{FF2B5EF4-FFF2-40B4-BE49-F238E27FC236}">
                <a16:creationId xmlns:a16="http://schemas.microsoft.com/office/drawing/2014/main" id="{B08D81BA-66F5-5414-B56E-74506C3983F2}"/>
              </a:ext>
            </a:extLst>
          </p:cNvPr>
          <p:cNvSpPr/>
          <p:nvPr/>
        </p:nvSpPr>
        <p:spPr>
          <a:xfrm>
            <a:off x="5184475" y="3151015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de usuarios son </a:t>
            </a:r>
            <a:r>
              <a:rPr lang="es-AR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-time.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EDA · INTEGRANTE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Críticas del Dataset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desafíos que definen la arquitectura del sistema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" y="1261872"/>
            <a:ext cx="2788920" cy="3520440"/>
          </a:xfrm>
          <a:prstGeom prst="rect">
            <a:avLst/>
          </a:prstGeom>
          <a:solidFill>
            <a:srgbClr val="1A0A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261872"/>
            <a:ext cx="2788920" cy="640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19385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Sparsidad Extrema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" y="23317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99.9994%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56616" y="278892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pares user-item vacíos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12724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" y="3090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 ítems/usuario: 1.52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56616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75 = exactamente 1 ítem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218688" y="1261872"/>
            <a:ext cx="2788920" cy="3520440"/>
          </a:xfrm>
          <a:prstGeom prst="rect">
            <a:avLst/>
          </a:prstGeom>
          <a:solidFill>
            <a:srgbClr val="0A001A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218688" y="1261872"/>
            <a:ext cx="278892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141732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282696" y="19385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Implícito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3282696" y="23317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3282696" y="278892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explícitos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12724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584448" y="3090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566160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584448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= 1 punto, Cart = 2, Transaction = 3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6144768" y="1261872"/>
            <a:ext cx="2788920" cy="3520440"/>
          </a:xfrm>
          <a:prstGeom prst="rect">
            <a:avLst/>
          </a:prstGeom>
          <a:solidFill>
            <a:srgbClr val="001A0A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6144768" y="1261872"/>
            <a:ext cx="278892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6" y="1417320"/>
            <a:ext cx="457200" cy="4572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208776" y="19385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Popularidad</a:t>
            </a:r>
            <a:endParaRPr lang="en-US" sz="1400" dirty="0"/>
          </a:p>
        </p:txBody>
      </p:sp>
      <p:sp>
        <p:nvSpPr>
          <p:cNvPr id="37" name="Text 25"/>
          <p:cNvSpPr/>
          <p:nvPr/>
        </p:nvSpPr>
        <p:spPr>
          <a:xfrm>
            <a:off x="6208776" y="23317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Law</a:t>
            </a:r>
            <a:endParaRPr lang="en-US" sz="2200" dirty="0"/>
          </a:p>
        </p:txBody>
      </p:sp>
      <p:sp>
        <p:nvSpPr>
          <p:cNvPr id="38" name="Text 26"/>
          <p:cNvSpPr/>
          <p:nvPr/>
        </p:nvSpPr>
        <p:spPr>
          <a:xfrm>
            <a:off x="6208776" y="278892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ítems</a:t>
            </a:r>
            <a:endParaRPr lang="en-US" sz="10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3127248"/>
            <a:ext cx="201168" cy="20116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510528" y="3090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de ítems más populares &gt; 50% interacciones</a:t>
            </a:r>
            <a:endParaRPr lang="en-US" sz="10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3566160"/>
            <a:ext cx="201168" cy="20116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510528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filter bubble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PIPELINE · INTEGRANTE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(NB04–NB06)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eventos crudos a features listos para modelado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2697480" cy="1600200"/>
          </a:xfrm>
          <a:prstGeom prst="rect">
            <a:avLst/>
          </a:prstGeom>
          <a:solidFill>
            <a:srgbClr val="041530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34440"/>
            <a:ext cx="2697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" y="19019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4048" y="2286000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item_props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category_tree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1984248"/>
            <a:ext cx="164592" cy="1645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00400" y="1234440"/>
            <a:ext cx="2697480" cy="1600200"/>
          </a:xfrm>
          <a:prstGeom prst="rect">
            <a:avLst/>
          </a:prstGeom>
          <a:solidFill>
            <a:srgbClr val="0A0018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00400" y="1234440"/>
            <a:ext cx="2697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13716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64408" y="19019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1984248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080760" y="1234440"/>
            <a:ext cx="2697480" cy="1600200"/>
          </a:xfrm>
          <a:prstGeom prst="rect">
            <a:avLst/>
          </a:prstGeom>
          <a:solidFill>
            <a:srgbClr val="0A0018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080760" y="1234440"/>
            <a:ext cx="2697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328" y="137160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44768" y="19019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1851660" y="3296412"/>
            <a:ext cx="2697480" cy="1600200"/>
          </a:xfrm>
          <a:prstGeom prst="rect">
            <a:avLst/>
          </a:prstGeom>
          <a:solidFill>
            <a:srgbClr val="041530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1863478" y="3241548"/>
            <a:ext cx="2697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7228" y="3433572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915668" y="39639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572" y="4046220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4732020" y="3296412"/>
            <a:ext cx="2697480" cy="1600200"/>
          </a:xfrm>
          <a:prstGeom prst="rect">
            <a:avLst/>
          </a:prstGeom>
          <a:solidFill>
            <a:srgbClr val="0A1A00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4743838" y="3241548"/>
            <a:ext cx="26974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7588" y="3433572"/>
            <a:ext cx="457200" cy="4572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796028" y="39639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4796028" y="4347972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User-Item Matrix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 × 235K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61679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  <p:txBody>
          <a:bodyPr/>
          <a:lstStyle/>
          <a:p>
            <a:r>
              <a:rPr lang="es-AR"/>
              <a:t>Aciertos: de productos recomendados, cuántos eligió el usuario.?</a:t>
            </a:r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METODOLOGÍA · INTEGRANTE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· 3000 usuarios warm · 6 métricas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040C18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298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— Corte: 2015-08-22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3200400" cy="2743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82.2%  (1.76M eventos)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0" y="1691640"/>
            <a:ext cx="685800" cy="274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17.8%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39312" y="1600200"/>
            <a:ext cx="3657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868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Ortras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392424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3741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23160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eligió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Usuario?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776472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75818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412809" y="38816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preferencias del Usuario. De productos elegidos, cuántos fueron </a:t>
            </a:r>
            <a:r>
              <a:rPr lang="es-AR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recimendados</a:t>
            </a:r>
            <a:r>
              <a:rPr lang="es-AR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4142232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142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42316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catálogo recomendado al menos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Anti filter Bubble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526280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5262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ConvLift@K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2423160" y="4524727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recomendación aleatoria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26280" y="1261872"/>
            <a:ext cx="4297680" cy="1143000"/>
          </a:xfrm>
          <a:prstGeom prst="rect">
            <a:avLst/>
          </a:prstGeom>
          <a:solidFill>
            <a:srgbClr val="080F1E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40" name="Text 36"/>
          <p:cNvSpPr/>
          <p:nvPr/>
        </p:nvSpPr>
        <p:spPr>
          <a:xfrm>
            <a:off x="4663440" y="157423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principal: NDCG. </a:t>
            </a:r>
            <a:r>
              <a:rPr lang="en-US" sz="1100" b="1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aptura</a:t>
            </a: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ordenamiento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663440" y="161848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rgbClr val="B0C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B0C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los ítems relevantes aparecen primero.</a:t>
            </a:r>
          </a:p>
          <a:p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aciertos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bajas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ranking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MODELOS BASE · INTEGRANTE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Base —(8 modelos)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fase de evaluación · Algoritmos clásicos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8503920" cy="3566160"/>
          </a:xfrm>
          <a:prstGeom prst="rect">
            <a:avLst/>
          </a:prstGeom>
          <a:solidFill>
            <a:srgbClr val="040A1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61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5468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9204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1261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49440" y="1261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1609344"/>
            <a:ext cx="8503920" cy="356616"/>
          </a:xfrm>
          <a:prstGeom prst="rect">
            <a:avLst/>
          </a:prstGeom>
          <a:solidFill>
            <a:srgbClr val="08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164592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(k=50) ★ MEJOR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54680" y="164592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023360" y="164592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92040" y="164592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0.0059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15000" y="164592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49440" y="164592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1984248"/>
            <a:ext cx="8503920" cy="35661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25" name="Text 22"/>
          <p:cNvSpPr/>
          <p:nvPr/>
        </p:nvSpPr>
        <p:spPr>
          <a:xfrm>
            <a:off x="411480" y="202082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Opt (k=90)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154680" y="202082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23360" y="202082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92040" y="202082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715000" y="202082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49440" y="2020824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" y="2359152"/>
            <a:ext cx="8503920" cy="356616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239572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(α=0.5)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54680" y="239572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023360" y="239572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92040" y="239572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715000" y="239572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49440" y="2395728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" y="2734056"/>
            <a:ext cx="8503920" cy="35661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" y="277063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Opt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154680" y="277063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0.0040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023360" y="277063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0.0049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892040" y="277063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0.0028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715000" y="277063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49440" y="2770632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20040" y="3108960"/>
            <a:ext cx="8503920" cy="356616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" y="3145536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LTR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154680" y="314553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0.0027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023360" y="314553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0.0041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892040" y="314553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0.0025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715000" y="314553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0.03%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949440" y="3145536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20040" y="3483864"/>
            <a:ext cx="8503920" cy="35661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11480" y="352044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Baseline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54680" y="352044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0.0018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023360" y="352044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892040" y="352044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0.0016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715000" y="352044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0.005%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949440" y="352044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0.4s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20040" y="3858768"/>
            <a:ext cx="8503920" cy="356616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60" name="Text 57"/>
          <p:cNvSpPr/>
          <p:nvPr/>
        </p:nvSpPr>
        <p:spPr>
          <a:xfrm>
            <a:off x="411480" y="389534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Item-CF (SVD emb.)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3154680" y="389534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4023360" y="389534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0.0019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4892040" y="389534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715000" y="389534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9.24%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949440" y="3895344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0.04s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20040" y="4233672"/>
            <a:ext cx="8503920" cy="35661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11480" y="427024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3154680" y="42702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0.0013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023360" y="42702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0.0017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4892040" y="42702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5715000" y="42702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8.32%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6949440" y="4270248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1.6s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MODELOS AVANZADOS · INTEGRANTE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Modelos Avanzados CF (7 modelos)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gran salto: RP3beta +176% · Deep Learning decepciona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8503920" cy="2514600"/>
          </a:xfrm>
          <a:prstGeom prst="rect">
            <a:avLst/>
          </a:prstGeom>
          <a:solidFill>
            <a:srgbClr val="040A1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1261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5196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74920" y="1261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95160" y="1261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NB08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1609344"/>
            <a:ext cx="8503920" cy="283464"/>
          </a:xfrm>
          <a:prstGeom prst="rect">
            <a:avLst/>
          </a:prstGeom>
          <a:solidFill>
            <a:srgbClr val="091A0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1627632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162763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RP3beta (α=0.85, β=0.25) 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251960" y="162763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74920" y="162763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0.00607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320" y="1627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95160" y="16276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+175.9%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1911096"/>
            <a:ext cx="8503920" cy="283464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1929384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7240" y="192938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EASE^R (λ=500, top-20K)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51960" y="192938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74920" y="192938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0.00477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989320" y="192938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95160" y="192938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+107.7%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11480" y="2231136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77240" y="223113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SVD+TD+IPS (NB08 best)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25196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0.0093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74920" y="22311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0.00253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989320" y="223113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95160" y="223113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" y="2514600"/>
            <a:ext cx="8503920" cy="283464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" y="2532888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77240" y="253288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BPR-MF (k=64, SGD vect.)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251960" y="25328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074920" y="253288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989320" y="2532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95160" y="253288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48640" y="2930652"/>
            <a:ext cx="8503920" cy="283464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" y="2834640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77240" y="28346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SASRec-lite (Transformer)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251960" y="28346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074920" y="283464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98932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0.16%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995160" y="283464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20040" y="3118104"/>
            <a:ext cx="8503920" cy="283464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11480" y="3136392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77240" y="313639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(TDIPS+EASE+BPR)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251960" y="313639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074920" y="31363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0.00023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989320" y="3136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1.38%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995160" y="31363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20040" y="3419856"/>
            <a:ext cx="8503920" cy="283464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11480" y="3438144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777240" y="343814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(NeuMF, PyTorch CPU)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4251960" y="343814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5074920" y="343814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0.00010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989320" y="343814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1.63%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995160" y="343814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20040" y="3886200"/>
            <a:ext cx="4114800" cy="758952"/>
          </a:xfrm>
          <a:prstGeom prst="rect">
            <a:avLst/>
          </a:prstGeom>
          <a:solidFill>
            <a:srgbClr val="1A0005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457200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falla el Deep Learning?</a:t>
            </a:r>
            <a:endParaRPr lang="en-US" sz="1200" dirty="0"/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0248"/>
            <a:ext cx="182880" cy="182880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713232" y="42428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1 solo item</a:t>
            </a:r>
            <a:endParaRPr lang="en-US" sz="1000" dirty="0"/>
          </a:p>
        </p:txBody>
      </p:sp>
      <p:sp>
        <p:nvSpPr>
          <p:cNvPr id="74" name="Shape 68"/>
          <p:cNvSpPr/>
          <p:nvPr/>
        </p:nvSpPr>
        <p:spPr>
          <a:xfrm>
            <a:off x="4572000" y="3886200"/>
            <a:ext cx="4251960" cy="891540"/>
          </a:xfrm>
          <a:prstGeom prst="rect">
            <a:avLst/>
          </a:prstGeom>
          <a:solidFill>
            <a:srgbClr val="0A18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5" name="Text 69"/>
          <p:cNvSpPr/>
          <p:nvPr/>
        </p:nvSpPr>
        <p:spPr>
          <a:xfrm>
            <a:off x="470916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RP3beta es el mejor individual?</a:t>
            </a:r>
            <a:endParaRPr lang="en-US" sz="1200" dirty="0"/>
          </a:p>
        </p:txBody>
      </p:sp>
      <p:sp>
        <p:nvSpPr>
          <p:cNvPr id="77" name="Text 70"/>
          <p:cNvSpPr/>
          <p:nvPr/>
        </p:nvSpPr>
        <p:spPr>
          <a:xfrm>
            <a:off x="4956048" y="4242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97680"/>
            <a:ext cx="182880" cy="182880"/>
          </a:xfrm>
          <a:prstGeom prst="rect">
            <a:avLst/>
          </a:prstGeom>
        </p:spPr>
      </p:pic>
      <p:sp>
        <p:nvSpPr>
          <p:cNvPr id="79" name="Text 71"/>
          <p:cNvSpPr/>
          <p:nvPr/>
        </p:nvSpPr>
        <p:spPr>
          <a:xfrm>
            <a:off x="4956048" y="4270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β-penalización de popularidad → evita filter bubble</a:t>
            </a:r>
            <a:endParaRPr lang="en-US" sz="1000" dirty="0"/>
          </a:p>
        </p:txBody>
      </p:sp>
      <p:pic>
        <p:nvPicPr>
          <p:cNvPr id="8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498848"/>
            <a:ext cx="182880" cy="182880"/>
          </a:xfrm>
          <a:prstGeom prst="rect">
            <a:avLst/>
          </a:prstGeom>
        </p:spPr>
      </p:pic>
      <p:sp>
        <p:nvSpPr>
          <p:cNvPr id="81" name="Text 72"/>
          <p:cNvSpPr/>
          <p:nvPr/>
        </p:nvSpPr>
        <p:spPr>
          <a:xfrm>
            <a:off x="4956048" y="4471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sparsidad extrema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4128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  <p:txBody>
          <a:bodyPr/>
          <a:lstStyle/>
          <a:p>
            <a:r>
              <a:rPr lang="es-AR" sz="18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Filtrado colaborativo</a:t>
            </a:r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COMPARATIVA · INTEGRANTE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NDCG@10 — 18+ Modelos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desde popularidad hasta ensemble final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073" y="1271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88280" y="1234440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27633" y="12618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62191" y="1271016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2838" y="1271016"/>
            <a:ext cx="280048" cy="219456"/>
          </a:xfrm>
          <a:prstGeom prst="rect">
            <a:avLst/>
          </a:prstGeom>
          <a:solidFill>
            <a:srgbClr val="6B8CA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253" y="1252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2397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79917" y="1563624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79917" y="15910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514485" y="1600200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14485" y="1600200"/>
            <a:ext cx="571765" cy="219456"/>
          </a:xfrm>
          <a:prstGeom prst="rect">
            <a:avLst/>
          </a:prstGeom>
          <a:solidFill>
            <a:srgbClr val="6B8CA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31970" y="15819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2397" y="1911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(k=50)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79917" y="1892808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79917" y="19202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514485" y="1929384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14485" y="1929384"/>
            <a:ext cx="945163" cy="219456"/>
          </a:xfrm>
          <a:prstGeom prst="rect">
            <a:avLst/>
          </a:prstGeom>
          <a:solidFill>
            <a:srgbClr val="0EA5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05368" y="19110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62397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SVD+TD+IPS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79917" y="2221992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79917" y="224942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514485" y="2258568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14485" y="2258568"/>
            <a:ext cx="1085187" cy="219456"/>
          </a:xfrm>
          <a:prstGeom prst="rect">
            <a:avLst/>
          </a:prstGeom>
          <a:solidFill>
            <a:srgbClr val="0EA5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45392" y="2240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2397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BPR-MF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79917" y="2551176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79917" y="25786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514485" y="2587752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89448" y="2603754"/>
            <a:ext cx="140024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00229" y="25694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62397" y="2898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/ SASRec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79917" y="2880360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79917" y="29077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514485" y="2916936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522838" y="2932938"/>
            <a:ext cx="58343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18548" y="28986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262397" y="3227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EASE^R (λ=500)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279917" y="3209544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79917" y="32369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3514485" y="3246120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514485" y="3246120"/>
            <a:ext cx="2252055" cy="219456"/>
          </a:xfrm>
          <a:prstGeom prst="rect">
            <a:avLst/>
          </a:prstGeom>
          <a:solidFill>
            <a:srgbClr val="9B59B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12260" y="32278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0.0193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262397" y="3557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Mult-VAE^PR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279917" y="3538728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279917" y="35661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3514485" y="3575304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514485" y="3575304"/>
            <a:ext cx="2975513" cy="219456"/>
          </a:xfrm>
          <a:prstGeom prst="rect">
            <a:avLst/>
          </a:prstGeom>
          <a:solidFill>
            <a:srgbClr val="7D3C9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35718" y="3557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0.0255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262397" y="3886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RP3beta original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3279917" y="3867912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79917" y="38953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3514485" y="3904488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514485" y="3904488"/>
            <a:ext cx="3010519" cy="219456"/>
          </a:xfrm>
          <a:prstGeom prst="rect">
            <a:avLst/>
          </a:prstGeom>
          <a:solidFill>
            <a:srgbClr val="FF8C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70724" y="38862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0.0258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262397" y="42153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RP3+TD 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279917" y="4197096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79917" y="42245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3514485" y="4233672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514485" y="4233672"/>
            <a:ext cx="3337242" cy="219456"/>
          </a:xfrm>
          <a:prstGeom prst="rect">
            <a:avLst/>
          </a:prstGeom>
          <a:solidFill>
            <a:srgbClr val="FF8C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897447" y="42153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0.0286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262397" y="4544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NB14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279917" y="4526280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279917" y="45537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3514485" y="4562856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514485" y="4562856"/>
            <a:ext cx="4749152" cy="219456"/>
          </a:xfrm>
          <a:prstGeom prst="rect">
            <a:avLst/>
          </a:prstGeom>
          <a:solidFill>
            <a:srgbClr val="00E5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309357" y="45445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0.0407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9013445" y="45445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+42.3%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262397" y="4873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</a:t>
            </a:r>
            <a:r>
              <a:rPr lang="en-US" sz="1100" b="1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</a:t>
            </a: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(RP3+TD · EASE^R · RP3+MB+TD)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★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3295820" y="4855464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79917" y="48828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3474720" y="4892040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522838" y="4901184"/>
            <a:ext cx="5029200" cy="219456"/>
          </a:xfrm>
          <a:prstGeom prst="rect">
            <a:avLst/>
          </a:prstGeom>
          <a:solidFill>
            <a:srgbClr val="00E5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549640" y="48737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0.0431</a:t>
            </a:r>
            <a:endParaRPr lang="en-US" sz="1100" dirty="0"/>
          </a:p>
        </p:txBody>
      </p:sp>
      <p:sp>
        <p:nvSpPr>
          <p:cNvPr id="82" name="Text 79"/>
          <p:cNvSpPr/>
          <p:nvPr/>
        </p:nvSpPr>
        <p:spPr>
          <a:xfrm>
            <a:off x="9253728" y="4873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+50.8%</a:t>
            </a:r>
            <a:endParaRPr lang="en-US" sz="1000" dirty="0"/>
          </a:p>
        </p:txBody>
      </p:sp>
      <p:pic>
        <p:nvPicPr>
          <p:cNvPr id="83" name="Image 2" descr="preencoded.png">
            <a:extLst>
              <a:ext uri="{FF2B5EF4-FFF2-40B4-BE49-F238E27FC236}">
                <a16:creationId xmlns:a16="http://schemas.microsoft.com/office/drawing/2014/main" id="{12826671-C37C-67EC-A1DC-88E28F718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9" y="3911346"/>
            <a:ext cx="201168" cy="201168"/>
          </a:xfrm>
          <a:prstGeom prst="rect">
            <a:avLst/>
          </a:prstGeom>
        </p:spPr>
      </p:pic>
      <p:sp>
        <p:nvSpPr>
          <p:cNvPr id="84" name="Text 30">
            <a:extLst>
              <a:ext uri="{FF2B5EF4-FFF2-40B4-BE49-F238E27FC236}">
                <a16:creationId xmlns:a16="http://schemas.microsoft.com/office/drawing/2014/main" id="{0F886A24-2147-AAA2-A1FB-4C0E75760265}"/>
              </a:ext>
            </a:extLst>
          </p:cNvPr>
          <p:cNvSpPr/>
          <p:nvPr/>
        </p:nvSpPr>
        <p:spPr>
          <a:xfrm>
            <a:off x="360070" y="3876280"/>
            <a:ext cx="1391728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individual</a:t>
            </a:r>
            <a:endParaRPr lang="en-US" sz="1000" dirty="0"/>
          </a:p>
        </p:txBody>
      </p:sp>
      <p:pic>
        <p:nvPicPr>
          <p:cNvPr id="85" name="Image 2" descr="preencoded.png">
            <a:extLst>
              <a:ext uri="{FF2B5EF4-FFF2-40B4-BE49-F238E27FC236}">
                <a16:creationId xmlns:a16="http://schemas.microsoft.com/office/drawing/2014/main" id="{1C28CA51-3F11-8002-8560-45F19D675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5" y="4817335"/>
            <a:ext cx="201168" cy="201168"/>
          </a:xfrm>
          <a:prstGeom prst="rect">
            <a:avLst/>
          </a:prstGeom>
        </p:spPr>
      </p:pic>
      <p:sp>
        <p:nvSpPr>
          <p:cNvPr id="86" name="Text 30">
            <a:extLst>
              <a:ext uri="{FF2B5EF4-FFF2-40B4-BE49-F238E27FC236}">
                <a16:creationId xmlns:a16="http://schemas.microsoft.com/office/drawing/2014/main" id="{39549D94-9BBF-FD91-9DE1-C25CF159775F}"/>
              </a:ext>
            </a:extLst>
          </p:cNvPr>
          <p:cNvSpPr/>
          <p:nvPr/>
        </p:nvSpPr>
        <p:spPr>
          <a:xfrm>
            <a:off x="167302" y="2260466"/>
            <a:ext cx="2489633" cy="226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w: </a:t>
            </a:r>
            <a:r>
              <a:rPr lang="en-US" sz="100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</a:t>
            </a: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antiguas</a:t>
            </a: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prod. </a:t>
            </a:r>
            <a:r>
              <a:rPr lang="en-US" sz="100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populares</a:t>
            </a:r>
            <a:endParaRPr lang="en-US" sz="1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JUSTIFICACIÓN · INTEGRANTE 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del Modelo Ganador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ganador es el Ensemble — ningún modelo individual llega ahí solo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61872"/>
            <a:ext cx="8503920" cy="841248"/>
          </a:xfrm>
          <a:prstGeom prst="rect">
            <a:avLst/>
          </a:prstGeom>
          <a:solidFill>
            <a:srgbClr val="002010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61872"/>
            <a:ext cx="850392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1307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GANADOR: Ensemble Optimizado (RP3+TD · EASE^R · RP3+MB+TD)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78992" y="1664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= 0.0431  ·  +50.8% vs baseline individual  ·  Pesos: 0.023 / 0.021 / 0.956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01752" y="2240280"/>
            <a:ext cx="2788920" cy="2103120"/>
          </a:xfrm>
          <a:prstGeom prst="rect">
            <a:avLst/>
          </a:prstGeom>
          <a:solidFill>
            <a:srgbClr val="0A18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1752" y="2240280"/>
            <a:ext cx="278892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233172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RP3+MB+TD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5760" y="26517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dominante · peso 0.956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" y="2944368"/>
            <a:ext cx="2459736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6344" y="294436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0.0286  →  En ensemble: 95.6%</a:t>
            </a:r>
            <a:endParaRPr lang="en-US" sz="9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9184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" y="327355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Multi-evento: view + cart + transaction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30168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9224" y="361188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decay → interacciones recientes valen más</a:t>
            </a:r>
            <a:endParaRPr lang="en-US" sz="9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68496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9224" y="39502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β-penalización de popularidad → no filter bubble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3227832" y="2240280"/>
            <a:ext cx="2788920" cy="2103120"/>
          </a:xfrm>
          <a:prstGeom prst="rect">
            <a:avLst/>
          </a:prstGeom>
          <a:solidFill>
            <a:srgbClr val="0A0018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227832" y="2240280"/>
            <a:ext cx="278892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291840" y="233172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EASE^R (λ=500)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291840" y="26517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diversidad · peso 0.021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392424" y="2944368"/>
            <a:ext cx="2459736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392424" y="294436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0.0193  →  En ensemble: 2.1%</a:t>
            </a:r>
            <a:endParaRPr lang="en-US" sz="9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584448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575304" y="356616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 peso, gran impacto en diversidad del ensemble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6153912" y="2295144"/>
            <a:ext cx="2788920" cy="2103120"/>
          </a:xfrm>
          <a:prstGeom prst="rect">
            <a:avLst/>
          </a:prstGeom>
          <a:solidFill>
            <a:srgbClr val="041530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153912" y="2240280"/>
            <a:ext cx="278892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217920" y="233172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RP3+TD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6217920" y="26517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base · peso 0.023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6318504" y="2944368"/>
            <a:ext cx="2459736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6318504" y="294436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0.0286  →  En ensemble: 2.3%</a:t>
            </a:r>
            <a:endParaRPr lang="en-US" sz="95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3505085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492240" y="3486797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score base sin multi-evento</a:t>
            </a:r>
            <a:endParaRPr lang="en-US" sz="950" dirty="0"/>
          </a:p>
        </p:txBody>
      </p:sp>
      <p:sp>
        <p:nvSpPr>
          <p:cNvPr id="50" name="Shape 37"/>
          <p:cNvSpPr/>
          <p:nvPr/>
        </p:nvSpPr>
        <p:spPr>
          <a:xfrm>
            <a:off x="0" y="4443984"/>
            <a:ext cx="9144000" cy="694944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617720"/>
            <a:ext cx="228600" cy="2286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49808" y="450643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ensemble supera a los individuales? EASE^R ve el espacio diferente (ρ=0.216). Juntos capturan </a:t>
            </a:r>
            <a:r>
              <a:rPr lang="en-US" sz="14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r>
              <a:rPr lang="en-US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complementarias</a:t>
            </a:r>
            <a:r>
              <a:rPr lang="en-US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AR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uno se equivoca, el otro suele acertar. </a:t>
            </a:r>
            <a:br>
              <a:rPr lang="es-AR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AR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4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étodos</a:t>
            </a:r>
            <a:r>
              <a:rPr lang="en-US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clásicos</a:t>
            </a:r>
            <a:r>
              <a:rPr lang="en-US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bien combinados </a:t>
            </a:r>
            <a:r>
              <a:rPr lang="en-US" sz="14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</a:t>
            </a:r>
            <a:r>
              <a:rPr lang="en-US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 Learning </a:t>
            </a:r>
            <a:r>
              <a:rPr lang="en-US" sz="14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sparsidad alta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1535">
              <a:alpha val="50000"/>
            </a:srgbClr>
          </a:solidFill>
          <a:ln w="12700">
            <a:solidFill>
              <a:srgbClr val="0015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1535">
              <a:alpha val="40000"/>
            </a:srgbClr>
          </a:solidFill>
          <a:ln w="12700">
            <a:solidFill>
              <a:srgbClr val="0015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8288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93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modelos. 15 notebooks. Dataset real.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deep learning falló — los métodos clásicos ganaron.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798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no fue el mejor modelo individual...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4015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...sino combinarlos inteligentemente.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371600" y="3977640"/>
            <a:ext cx="6400800" cy="868680"/>
          </a:xfrm>
          <a:prstGeom prst="rect">
            <a:avLst/>
          </a:prstGeom>
          <a:solidFill>
            <a:srgbClr val="001A0A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41148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84832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Optimizado  ·  NDCG@10 = 0.0431  ·  +50.8% vs baseline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084832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RP3+TD · EASE^R · RP3+MB+TD  |  Pesos: 0.023 / 0.021 / 0.956  |  Spearman ρ=0.216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F5BAEF3AC5EB149A9FED28A0E8BC105" ma:contentTypeVersion="15" ma:contentTypeDescription="Crear nuevo documento." ma:contentTypeScope="" ma:versionID="b5331e6d2676942178cf4b3dff720b79">
  <xsd:schema xmlns:xsd="http://www.w3.org/2001/XMLSchema" xmlns:xs="http://www.w3.org/2001/XMLSchema" xmlns:p="http://schemas.microsoft.com/office/2006/metadata/properties" xmlns:ns3="7559a59a-4b3d-4523-b20d-b7076aefcd0e" xmlns:ns4="fd6c3900-e919-4e80-88d2-2dd35c259fe9" targetNamespace="http://schemas.microsoft.com/office/2006/metadata/properties" ma:root="true" ma:fieldsID="662c02a4c006d1d0b13f90c1a93d5379" ns3:_="" ns4:_="">
    <xsd:import namespace="7559a59a-4b3d-4523-b20d-b7076aefcd0e"/>
    <xsd:import namespace="fd6c3900-e919-4e80-88d2-2dd35c259f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59a59a-4b3d-4523-b20d-b7076aefcd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c3900-e919-4e80-88d2-2dd35c259fe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59a59a-4b3d-4523-b20d-b7076aefcd0e" xsi:nil="true"/>
  </documentManagement>
</p:properties>
</file>

<file path=customXml/itemProps1.xml><?xml version="1.0" encoding="utf-8"?>
<ds:datastoreItem xmlns:ds="http://schemas.openxmlformats.org/officeDocument/2006/customXml" ds:itemID="{B6B8ADC4-82D2-4038-B3CB-FD35291738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3FBFD6-AFCB-40FE-843C-AFA5C59B9B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59a59a-4b3d-4523-b20d-b7076aefcd0e"/>
    <ds:schemaRef ds:uri="fd6c3900-e919-4e80-88d2-2dd35c259f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D40DA0-85BB-451F-A4AF-603BC0D20644}">
  <ds:schemaRefs>
    <ds:schemaRef ds:uri="7559a59a-4b3d-4523-b20d-b7076aefcd0e"/>
    <ds:schemaRef ds:uri="http://purl.org/dc/elements/1.1/"/>
    <ds:schemaRef ds:uri="http://schemas.microsoft.com/office/2006/metadata/properties"/>
    <ds:schemaRef ds:uri="fd6c3900-e919-4e80-88d2-2dd35c259fe9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1762</Words>
  <Application>Microsoft Office PowerPoint</Application>
  <PresentationFormat>Presentación en pantalla (16:9)</PresentationFormat>
  <Paragraphs>313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RecSys — Presentación Técnica Final</dc:title>
  <dc:subject>PptxGenJS Presentation</dc:subject>
  <dc:creator>PptxGenJS</dc:creator>
  <cp:lastModifiedBy>Leila Maria Abduca</cp:lastModifiedBy>
  <cp:revision>4</cp:revision>
  <dcterms:created xsi:type="dcterms:W3CDTF">2026-03-22T04:11:45Z</dcterms:created>
  <dcterms:modified xsi:type="dcterms:W3CDTF">2026-03-24T04:17:35Z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0x0101000F5BAEF3AC5EB149A9FED28A0E8BC105</vt:lpwstr>
  </property>
</Properties>
</file>